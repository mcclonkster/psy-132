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PSY-132 Topic 18: Emotion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Contemporary Teaching Center</a:t>
            </a:r>
            <a:br/>
            <a:br/>
            <a:r>
              <a:rPr/>
              <a:t>Kristen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Emotion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 18 contemporary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does the best contemporary evidence say about emotion, and how does that help us understand our own lives, other people, and the claims we hear?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topic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 matters because it shapes:</a:t>
            </a:r>
          </a:p>
          <a:p>
            <a:pPr lvl="0"/>
            <a:r>
              <a:rPr/>
              <a:t>what we notice</a:t>
            </a:r>
          </a:p>
          <a:p>
            <a:pPr lvl="0"/>
            <a:r>
              <a:rPr/>
              <a:t>what we think situations mean</a:t>
            </a:r>
          </a:p>
          <a:p>
            <a:pPr lvl="0"/>
            <a:r>
              <a:rPr/>
              <a:t>how we act</a:t>
            </a:r>
          </a:p>
          <a:p>
            <a:pPr lvl="0"/>
            <a:r>
              <a:rPr/>
              <a:t>how we relate to other people</a:t>
            </a:r>
          </a:p>
          <a:p>
            <a:pPr lvl="0"/>
            <a:r>
              <a:rPr/>
              <a:t>how we interpret ourselves and others</a:t>
            </a:r>
          </a:p>
          <a:p>
            <a:pPr lvl="0" indent="0" marL="0">
              <a:buNone/>
            </a:pPr>
            <a:r>
              <a:rPr/>
              <a:t>This topic is </a:t>
            </a:r>
            <a:r>
              <a:rPr b="1"/>
              <a:t>not</a:t>
            </a:r>
            <a:r>
              <a:rPr/>
              <a:t> centered on memorizing old theory names. It is centered on understanding emotion in a way that is useful, current, and evidence-grounded.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the end of this topic, students will be able to:</a:t>
            </a:r>
          </a:p>
          <a:p>
            <a:pPr lvl="0" indent="-342900" marL="342900">
              <a:buAutoNum type="arabicPeriod"/>
            </a:pPr>
            <a:r>
              <a:rPr b="1"/>
              <a:t>Define</a:t>
            </a:r>
            <a:r>
              <a:rPr/>
              <a:t> emotion and </a:t>
            </a:r>
            <a:r>
              <a:rPr b="1"/>
              <a:t>distinguish</a:t>
            </a:r>
            <a:r>
              <a:rPr/>
              <a:t> it from mood.</a:t>
            </a:r>
          </a:p>
          <a:p>
            <a:pPr lvl="0" indent="-342900" marL="342900">
              <a:buAutoNum type="arabicPeriod"/>
            </a:pPr>
            <a:r>
              <a:rPr b="1"/>
              <a:t>Describe</a:t>
            </a:r>
            <a:r>
              <a:rPr/>
              <a:t> the coordinated components of emotion.</a:t>
            </a:r>
          </a:p>
          <a:p>
            <a:pPr lvl="0" indent="-342900" marL="342900">
              <a:buAutoNum type="arabicPeriod"/>
            </a:pPr>
            <a:r>
              <a:rPr b="1"/>
              <a:t>Explain</a:t>
            </a:r>
            <a:r>
              <a:rPr/>
              <a:t> how major bodily and brain systems are involved in emotion and </a:t>
            </a:r>
            <a:r>
              <a:rPr b="1"/>
              <a:t>identify</a:t>
            </a:r>
            <a:r>
              <a:rPr/>
              <a:t> the limits of one-region explanations.</a:t>
            </a:r>
          </a:p>
          <a:p>
            <a:pPr lvl="0" indent="-342900" marL="342900">
              <a:buAutoNum type="arabicPeriod"/>
            </a:pPr>
            <a:r>
              <a:rPr b="1"/>
              <a:t>Explain</a:t>
            </a:r>
            <a:r>
              <a:rPr/>
              <a:t> how emotions function at personal, relational, and cultural levels.</a:t>
            </a:r>
          </a:p>
          <a:p>
            <a:pPr lvl="0" indent="-342900" marL="342900">
              <a:buAutoNum type="arabicPeriod"/>
            </a:pPr>
            <a:r>
              <a:rPr b="1"/>
              <a:t>Compare</a:t>
            </a:r>
            <a:r>
              <a:rPr/>
              <a:t> basic emotion and constructed emotion approaches by </a:t>
            </a:r>
            <a:r>
              <a:rPr b="1"/>
              <a:t>identifying</a:t>
            </a:r>
            <a:r>
              <a:rPr/>
              <a:t> what each treats as central.</a:t>
            </a:r>
          </a:p>
          <a:p>
            <a:pPr lvl="0" indent="-342900" marL="342900">
              <a:buAutoNum type="arabicPeriod"/>
            </a:pPr>
            <a:r>
              <a:rPr b="1"/>
              <a:t>Evaluate</a:t>
            </a:r>
            <a:r>
              <a:rPr/>
              <a:t> common claims about basic emotions, especially claims about universality, facial expression, and fixed emotion categories.</a:t>
            </a:r>
          </a:p>
          <a:p>
            <a:pPr lvl="0" indent="-342900" marL="342900">
              <a:buAutoNum type="arabicPeriod"/>
            </a:pPr>
            <a:r>
              <a:rPr b="1"/>
              <a:t>Describe</a:t>
            </a:r>
            <a:r>
              <a:rPr/>
              <a:t> how emotions are expressed, interpreted, and regulated in context.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 vs. mood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Emotion</a:t>
            </a:r>
          </a:p>
          <a:p>
            <a:pPr lvl="0"/>
            <a:r>
              <a:rPr/>
              <a:t>usually tied to a particular event, meaning, or situation</a:t>
            </a:r>
          </a:p>
          <a:p>
            <a:pPr lvl="0"/>
            <a:r>
              <a:rPr/>
              <a:t>tends to be shorter in duration</a:t>
            </a:r>
          </a:p>
          <a:p>
            <a:pPr lvl="0"/>
            <a:r>
              <a:rPr/>
              <a:t>often includes clearer action tendencies and expressions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Mood</a:t>
            </a:r>
          </a:p>
          <a:p>
            <a:pPr lvl="0"/>
            <a:r>
              <a:rPr/>
              <a:t>more diffuse and less tied to one specific event</a:t>
            </a:r>
          </a:p>
          <a:p>
            <a:pPr lvl="0"/>
            <a:r>
              <a:rPr/>
              <a:t>often lasts longer</a:t>
            </a:r>
          </a:p>
          <a:p>
            <a:pPr lvl="0"/>
            <a:r>
              <a:rPr/>
              <a:t>can color how later events are interpreted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line</a:t>
            </a:r>
          </a:p>
          <a:p>
            <a:pPr lvl="0" indent="0" marL="0">
              <a:buNone/>
            </a:pPr>
            <a:r>
              <a:rPr/>
              <a:t>Emotion is usually more </a:t>
            </a:r>
            <a:r>
              <a:rPr b="1"/>
              <a:t>event-focused</a:t>
            </a:r>
            <a:r>
              <a:rPr/>
              <a:t>. Mood is usually more </a:t>
            </a:r>
            <a:r>
              <a:rPr b="1"/>
              <a:t>background-like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 is a coordinated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 is best taught as a coordinated set of processes rather than a single thing.</a:t>
            </a:r>
          </a:p>
          <a:p>
            <a:pPr lvl="0" indent="0" marL="0">
              <a:buNone/>
            </a:pPr>
            <a:r>
              <a:rPr/>
              <a:t>Core components include:</a:t>
            </a:r>
          </a:p>
          <a:p>
            <a:pPr lvl="0"/>
            <a:r>
              <a:rPr b="1"/>
              <a:t>subjective experience</a:t>
            </a:r>
          </a:p>
          <a:p>
            <a:pPr lvl="0"/>
            <a:r>
              <a:rPr b="1"/>
              <a:t>physiological change</a:t>
            </a:r>
          </a:p>
          <a:p>
            <a:pPr lvl="0"/>
            <a:r>
              <a:rPr b="1"/>
              <a:t>appraisal or interpretation</a:t>
            </a:r>
          </a:p>
          <a:p>
            <a:pPr lvl="0"/>
            <a:r>
              <a:rPr b="1"/>
              <a:t>expression</a:t>
            </a:r>
          </a:p>
          <a:p>
            <a:pPr lvl="0"/>
            <a:r>
              <a:rPr b="1"/>
              <a:t>action readiness</a:t>
            </a:r>
          </a:p>
          <a:p>
            <a:pPr lvl="0"/>
            <a:r>
              <a:rPr b="1"/>
              <a:t>social meaning</a:t>
            </a:r>
          </a:p>
          <a:p>
            <a:pPr lvl="0" indent="0" marL="0">
              <a:buNone/>
            </a:pPr>
            <a:r>
              <a:rPr/>
              <a:t>No single one of these is the whole emotion by itself (Scherer &amp; Moors, 2019).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Body and brain matter, but no single part explains emotion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 should understand two things at the same time:</a:t>
            </a:r>
          </a:p>
          <a:p>
            <a:pPr lvl="0"/>
            <a:r>
              <a:rPr/>
              <a:t>emotion has a real </a:t>
            </a:r>
            <a:r>
              <a:rPr b="1"/>
              <a:t>bodily</a:t>
            </a:r>
            <a:r>
              <a:rPr/>
              <a:t> and </a:t>
            </a:r>
            <a:r>
              <a:rPr b="1"/>
              <a:t>biological</a:t>
            </a:r>
            <a:r>
              <a:rPr/>
              <a:t> basis</a:t>
            </a:r>
          </a:p>
          <a:p>
            <a:pPr lvl="0"/>
            <a:r>
              <a:rPr/>
              <a:t>no single brain area fully explains emotional experience</a:t>
            </a:r>
          </a:p>
          <a:p>
            <a:pPr lvl="0" indent="0" marL="0">
              <a:buNone/>
            </a:pPr>
            <a:r>
              <a:rPr/>
              <a:t>That means Topic 18 should avoid stale defaults such as:</a:t>
            </a:r>
          </a:p>
          <a:p>
            <a:pPr lvl="0"/>
            <a:r>
              <a:rPr/>
              <a:t>“the limbic system is the emotion center”</a:t>
            </a:r>
          </a:p>
          <a:p>
            <a:pPr lvl="0"/>
            <a:r>
              <a:rPr/>
              <a:t>“the amygdala is the fear center”</a:t>
            </a:r>
          </a:p>
          <a:p>
            <a:pPr lvl="0" indent="0" marL="0">
              <a:buNone/>
            </a:pPr>
            <a:r>
              <a:rPr/>
              <a:t>A better current default is that emotion involves </a:t>
            </a:r>
            <a:r>
              <a:rPr b="1"/>
              <a:t>distributed, process-based biology</a:t>
            </a:r>
            <a:r>
              <a:rPr/>
              <a:t> shaped by meaning and context (Barrett, 2017; Scherer &amp; Moors, 2019).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emotions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Emotions are not just private feelings.</a:t>
            </a:r>
          </a:p>
          <a:p>
            <a:pPr lvl="0" indent="0" marL="0">
              <a:buNone/>
            </a:pPr>
            <a:r>
              <a:rPr/>
              <a:t>They help people:</a:t>
            </a:r>
          </a:p>
          <a:p>
            <a:pPr lvl="0"/>
            <a:r>
              <a:rPr/>
              <a:t>notice what matters</a:t>
            </a:r>
          </a:p>
          <a:p>
            <a:pPr lvl="0"/>
            <a:r>
              <a:rPr/>
              <a:t>interpret events</a:t>
            </a:r>
          </a:p>
          <a:p>
            <a:pPr lvl="0"/>
            <a:r>
              <a:rPr/>
              <a:t>prepare for action</a:t>
            </a:r>
          </a:p>
          <a:p>
            <a:pPr lvl="0"/>
            <a:r>
              <a:rPr/>
              <a:t>communicate to others</a:t>
            </a:r>
          </a:p>
          <a:p>
            <a:pPr lvl="0"/>
            <a:r>
              <a:rPr/>
              <a:t>manage belonging, trust, fairness, status, conflict, and repair</a:t>
            </a:r>
          </a:p>
          <a:p>
            <a:pPr lvl="0" indent="0" marL="0">
              <a:buNone/>
            </a:pPr>
            <a:r>
              <a:rPr/>
              <a:t>A strong contemporary frame is that emotions have </a:t>
            </a:r>
            <a:r>
              <a:rPr b="1"/>
              <a:t>personal, relational, and cultural functions</a:t>
            </a:r>
            <a:r>
              <a:rPr/>
              <a:t> (Keltner et al., 2022).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live contemporary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emotion approaches</a:t>
            </a:r>
          </a:p>
          <a:p>
            <a:pPr lvl="0" indent="0" marL="0">
              <a:buNone/>
            </a:pPr>
            <a:r>
              <a:rPr/>
              <a:t>Treat some emotions as structured, recurring patterns with meaningful regularities.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Constructed emotion approaches</a:t>
            </a:r>
          </a:p>
          <a:p>
            <a:pPr lvl="0" indent="0" marL="0">
              <a:buNone/>
            </a:pPr>
            <a:r>
              <a:rPr/>
              <a:t>Treat emotion as emerging from prediction, interoception, categorization, and context rather than as fixed inner packages.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students should learn</a:t>
            </a:r>
          </a:p>
          <a:p>
            <a:pPr lvl="0" indent="0" marL="0">
              <a:buNone/>
            </a:pPr>
            <a:r>
              <a:rPr/>
              <a:t>These are </a:t>
            </a:r>
            <a:r>
              <a:rPr b="1"/>
              <a:t>live contemporary approaches</a:t>
            </a:r>
            <a:r>
              <a:rPr/>
              <a:t>, not dead history.</a:t>
            </a:r>
            <a:br/>
            <a:r>
              <a:rPr/>
              <a:t>They differ in what they treat as central, and comparing them helps students see that emotion science is active and contested rather than fully settled (Barrett, 2017; Keltner et al., 2022).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Evaluating claims about “basic emotions”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 should be able to evaluate claims such as:</a:t>
            </a:r>
          </a:p>
          <a:p>
            <a:pPr lvl="0"/>
            <a:r>
              <a:rPr/>
              <a:t>“there are only a few real emotions”</a:t>
            </a:r>
          </a:p>
          <a:p>
            <a:pPr lvl="0"/>
            <a:r>
              <a:rPr/>
              <a:t>“facial expressions tell you exactly what someone feels”</a:t>
            </a:r>
          </a:p>
          <a:p>
            <a:pPr lvl="0"/>
            <a:r>
              <a:rPr/>
              <a:t>“emotion categories are fixed and universal”</a:t>
            </a:r>
          </a:p>
          <a:p>
            <a:pPr lvl="0"/>
            <a:r>
              <a:rPr/>
              <a:t>“a movie model shows literally how emotion works”</a:t>
            </a:r>
          </a:p>
          <a:p>
            <a:pPr lvl="0" indent="0" marL="0">
              <a:buNone/>
            </a:pPr>
            <a:r>
              <a:rPr/>
              <a:t>Useful takeaways:</a:t>
            </a:r>
          </a:p>
          <a:p>
            <a:pPr lvl="0"/>
            <a:r>
              <a:rPr/>
              <a:t>some emotion patterns are structured</a:t>
            </a:r>
          </a:p>
          <a:p>
            <a:pPr lvl="0"/>
            <a:r>
              <a:rPr/>
              <a:t>expressions can be informative</a:t>
            </a:r>
          </a:p>
          <a:p>
            <a:pPr lvl="0"/>
            <a:r>
              <a:rPr/>
              <a:t>context changes interpretation</a:t>
            </a:r>
          </a:p>
          <a:p>
            <a:pPr lvl="0"/>
            <a:r>
              <a:rPr/>
              <a:t>a small fixed inventory should not be treated as the settled endpoint of the field (Cowen &amp; Keltner, 2017; Yeo &amp; Ong, 2025)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Expression, recognition, and regulation in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 should leave knowing:</a:t>
            </a:r>
          </a:p>
          <a:p>
            <a:pPr lvl="0"/>
            <a:r>
              <a:rPr/>
              <a:t>expressions are </a:t>
            </a:r>
            <a:r>
              <a:rPr b="1"/>
              <a:t>clues, not proof</a:t>
            </a:r>
          </a:p>
          <a:p>
            <a:pPr lvl="0"/>
            <a:r>
              <a:rPr/>
              <a:t>faces matter, but so do voice, posture, behavior, and situation</a:t>
            </a:r>
          </a:p>
          <a:p>
            <a:pPr lvl="0"/>
            <a:r>
              <a:rPr/>
              <a:t>recognition depends on </a:t>
            </a:r>
            <a:r>
              <a:rPr b="1"/>
              <a:t>context</a:t>
            </a:r>
          </a:p>
          <a:p>
            <a:pPr lvl="0"/>
            <a:r>
              <a:rPr/>
              <a:t>regulation is not “suppress every feeling”; it is learning how to interpret, respond, and act more effectively</a:t>
            </a:r>
          </a:p>
          <a:p>
            <a:pPr lvl="0" indent="0" marL="0">
              <a:buNone/>
            </a:pPr>
            <a:r>
              <a:rPr/>
              <a:t>Recent evidence strongly supports appraisal as central to emotion, and recent work on emotion perception shows that context matters greatly when interpreting expression (Steward et al., 2024; Yeo &amp; Ong, 2025).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</a:t>
            </a:r>
            <a:r>
              <a:rPr i="1"/>
              <a:t>Inside Out</a:t>
            </a:r>
            <a:r>
              <a:rPr/>
              <a:t> carefully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Inside Out</a:t>
            </a:r>
            <a:r>
              <a:rPr/>
              <a:t> may be used as:</a:t>
            </a:r>
          </a:p>
          <a:p>
            <a:pPr lvl="0"/>
            <a:r>
              <a:rPr/>
              <a:t>an entry point</a:t>
            </a:r>
          </a:p>
          <a:p>
            <a:pPr lvl="0"/>
            <a:r>
              <a:rPr/>
              <a:t>a discussion prompt</a:t>
            </a:r>
          </a:p>
          <a:p>
            <a:pPr lvl="0"/>
            <a:r>
              <a:rPr/>
              <a:t>a simplified illustration of emotional patterns and functions</a:t>
            </a:r>
          </a:p>
          <a:p>
            <a:pPr lvl="0" indent="0" marL="0">
              <a:buNone/>
            </a:pPr>
            <a:r>
              <a:rPr/>
              <a:t>It should </a:t>
            </a:r>
            <a:r>
              <a:rPr b="1"/>
              <a:t>not</a:t>
            </a:r>
            <a:r>
              <a:rPr/>
              <a:t> be used as:</a:t>
            </a:r>
          </a:p>
          <a:p>
            <a:pPr lvl="0"/>
            <a:r>
              <a:rPr/>
              <a:t>the unit’s main theory</a:t>
            </a:r>
          </a:p>
          <a:p>
            <a:pPr lvl="0"/>
            <a:r>
              <a:rPr/>
              <a:t>a literal map of the mind</a:t>
            </a:r>
          </a:p>
          <a:p>
            <a:pPr lvl="0"/>
            <a:r>
              <a:rPr/>
              <a:t>proof that emotions are fixed characters</a:t>
            </a:r>
          </a:p>
          <a:p>
            <a:pPr lvl="0"/>
            <a:r>
              <a:rPr/>
              <a:t>proof that current emotion science is neat, simple, or settled</a:t>
            </a:r>
          </a:p>
          <a:p>
            <a:pPr lvl="0" indent="0" marL="0">
              <a:buNone/>
            </a:pPr>
            <a:r>
              <a:rPr/>
              <a:t>The film is useful for thinking. It is not the science itself.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students should leave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the end of Topic 18, students should understand that:</a:t>
            </a:r>
          </a:p>
          <a:p>
            <a:pPr lvl="0"/>
            <a:r>
              <a:rPr/>
              <a:t>emotions are not random</a:t>
            </a:r>
          </a:p>
          <a:p>
            <a:pPr lvl="0"/>
            <a:r>
              <a:rPr/>
              <a:t>emotions are not a single thing</a:t>
            </a:r>
          </a:p>
          <a:p>
            <a:pPr lvl="0"/>
            <a:r>
              <a:rPr/>
              <a:t>body signals matter, but they do not interpret themselves</a:t>
            </a:r>
          </a:p>
          <a:p>
            <a:pPr lvl="0"/>
            <a:r>
              <a:rPr/>
              <a:t>meaning and context shape emotion</a:t>
            </a:r>
          </a:p>
          <a:p>
            <a:pPr lvl="0"/>
            <a:r>
              <a:rPr/>
              <a:t>culture shapes emotion too</a:t>
            </a:r>
          </a:p>
          <a:p>
            <a:pPr lvl="0"/>
            <a:r>
              <a:rPr/>
              <a:t>other people’s emotions cannot be read with certainty from a face alone</a:t>
            </a:r>
          </a:p>
          <a:p>
            <a:pPr lvl="0"/>
            <a:r>
              <a:rPr/>
              <a:t>public claims about emotion should be judged carefully</a:t>
            </a:r>
          </a:p>
          <a:p>
            <a:pPr lvl="0" indent="0" marL="0">
              <a:buNone/>
            </a:pPr>
            <a:r>
              <a:rPr/>
              <a:t>That is the center of the unit.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Barrett, L. F. (2017). The theory of constructed emotion: An active inference account of interoception and categorization. </a:t>
            </a:r>
            <a:r>
              <a:rPr i="1"/>
              <a:t>Social Cognitive and Affective Neuroscience, 12</a:t>
            </a:r>
            <a:r>
              <a:rPr/>
              <a:t>(1), 1–23. https://doi.org/10.1093/scan/nsw154</a:t>
            </a:r>
          </a:p>
          <a:p>
            <a:pPr lvl="0" indent="0" marL="0">
              <a:buNone/>
            </a:pPr>
            <a:r>
              <a:rPr/>
              <a:t>Cowen, A. S., &amp; Keltner, D. (2017). Self-report captures 27 distinct categories of emotion bridged by continuous gradients. </a:t>
            </a:r>
            <a:r>
              <a:rPr i="1"/>
              <a:t>Proceedings of the National Academy of Sciences, 114</a:t>
            </a:r>
            <a:r>
              <a:rPr/>
              <a:t>(38), E7900–E7909. https://doi.org/10.1073/pnas.1702247114</a:t>
            </a:r>
          </a:p>
          <a:p>
            <a:pPr lvl="0" indent="0" marL="0">
              <a:buNone/>
            </a:pPr>
            <a:r>
              <a:rPr/>
              <a:t>Keltner, D., Sauter, D., Tracy, J., Cowen, A., Oveis, C., Gordon, A., … &amp; Cordaro, D. (2022). What basic emotion theory really says for the twenty-first century study of emotion. </a:t>
            </a:r>
            <a:r>
              <a:rPr i="1"/>
              <a:t>Journal of Nonverbal Behavior, 46</a:t>
            </a:r>
            <a:r>
              <a:rPr/>
              <a:t>, 359–368. https://doi.org/10.1007/s10919-022-00408-0</a:t>
            </a:r>
          </a:p>
          <a:p>
            <a:pPr lvl="0" indent="0" marL="0">
              <a:buNone/>
            </a:pPr>
            <a:r>
              <a:rPr/>
              <a:t>Scherer, K. R., &amp; Moors, A. (2019). The emotion process: Event appraisal and component differentiation. </a:t>
            </a:r>
            <a:r>
              <a:rPr i="1"/>
              <a:t>Annual Review of Psychology, 70</a:t>
            </a:r>
            <a:r>
              <a:rPr/>
              <a:t>, 719–745. https://doi.org/10.1146/annurev-psych-122216-011854</a:t>
            </a:r>
          </a:p>
          <a:p>
            <a:pPr lvl="0" indent="0" marL="0">
              <a:buNone/>
            </a:pPr>
            <a:r>
              <a:rPr/>
              <a:t>Steward, T., Saucier, D., Huang, Y., &amp; Efanov, D. (2024). Appraisal theories of emotion: A meta-analysis of the relationships between appraisal and emotion. </a:t>
            </a:r>
            <a:r>
              <a:rPr i="1"/>
              <a:t>Psychological Bulletin.</a:t>
            </a:r>
            <a:r>
              <a:rPr/>
              <a:t> Advance online publication. https://doi.org/10.1037/bul0000452</a:t>
            </a:r>
          </a:p>
          <a:p>
            <a:pPr lvl="0" indent="0" marL="0">
              <a:buNone/>
            </a:pPr>
            <a:r>
              <a:rPr/>
              <a:t>Yeo, J., &amp; Ong, D. C. (2025). The face-context system in emotion perception: A meta-analysis. </a:t>
            </a:r>
            <a:r>
              <a:rPr i="1"/>
              <a:t>Psychological Bulletin.</a:t>
            </a:r>
            <a:r>
              <a:rPr/>
              <a:t> Advance online publication. https://doi.org/10.1037/bul0000472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PSY-132 Topic 18: Emotion</dc:title>
  <dc:creator>Kristen</dc:creator>
  <cp:keywords/>
  <dcterms:created xsi:type="dcterms:W3CDTF">2026-03-31T12:21:18Z</dcterms:created>
  <dcterms:modified xsi:type="dcterms:W3CDTF">2026-03-31T12:21:18Z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2026-03-31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igin">
    <vt:lpwstr>chat</vt:lpwstr>
  </property>
  <property fmtid="{D5CDD505-2E9C-101B-9397-08002B2CF9AE}" pid="11" name="subtitle">
    <vt:lpwstr>Contemporary Teaching Center</vt:lpwstr>
  </property>
  <property fmtid="{D5CDD505-2E9C-101B-9397-08002B2CF9AE}" pid="12" name="toc-title">
    <vt:lpwstr>Table of contents</vt:lpwstr>
  </property>
</Properties>
</file>