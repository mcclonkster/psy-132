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4"/>
  </p:notesMasterIdLst>
  <p:sldIdLst>
    <p:sldId id="317" r:id="rId2"/>
    <p:sldId id="318" r:id="rId3"/>
    <p:sldId id="319" r:id="rId4"/>
    <p:sldId id="413" r:id="rId5"/>
    <p:sldId id="414" r:id="rId6"/>
    <p:sldId id="415" r:id="rId7"/>
    <p:sldId id="416" r:id="rId8"/>
    <p:sldId id="417" r:id="rId9"/>
    <p:sldId id="418" r:id="rId10"/>
    <p:sldId id="419" r:id="rId11"/>
    <p:sldId id="420" r:id="rId12"/>
    <p:sldId id="421" r:id="rId13"/>
    <p:sldId id="422" r:id="rId14"/>
    <p:sldId id="423" r:id="rId15"/>
    <p:sldId id="424" r:id="rId16"/>
    <p:sldId id="425" r:id="rId17"/>
    <p:sldId id="426" r:id="rId18"/>
    <p:sldId id="427" r:id="rId19"/>
    <p:sldId id="428" r:id="rId20"/>
    <p:sldId id="429"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444" r:id="rId36"/>
    <p:sldId id="445" r:id="rId37"/>
    <p:sldId id="446" r:id="rId38"/>
    <p:sldId id="447" r:id="rId39"/>
    <p:sldId id="256" r:id="rId40"/>
    <p:sldId id="257" r:id="rId41"/>
    <p:sldId id="258" r:id="rId42"/>
    <p:sldId id="259" r:id="rId43"/>
    <p:sldId id="260" r:id="rId44"/>
    <p:sldId id="261" r:id="rId45"/>
    <p:sldId id="262" r:id="rId46"/>
    <p:sldId id="263" r:id="rId47"/>
    <p:sldId id="264" r:id="rId48"/>
    <p:sldId id="265" r:id="rId49"/>
    <p:sldId id="266" r:id="rId50"/>
    <p:sldId id="267" r:id="rId51"/>
    <p:sldId id="268" r:id="rId52"/>
    <p:sldId id="269" r:id="rId53"/>
    <p:sldId id="270" r:id="rId54"/>
    <p:sldId id="271" r:id="rId55"/>
    <p:sldId id="272" r:id="rId56"/>
    <p:sldId id="273" r:id="rId57"/>
    <p:sldId id="274" r:id="rId58"/>
    <p:sldId id="275" r:id="rId59"/>
    <p:sldId id="276" r:id="rId60"/>
    <p:sldId id="277" r:id="rId61"/>
    <p:sldId id="278" r:id="rId62"/>
    <p:sldId id="279" r:id="rId63"/>
    <p:sldId id="280" r:id="rId64"/>
    <p:sldId id="281" r:id="rId65"/>
    <p:sldId id="282" r:id="rId66"/>
    <p:sldId id="283" r:id="rId67"/>
    <p:sldId id="284" r:id="rId68"/>
    <p:sldId id="285" r:id="rId69"/>
    <p:sldId id="286" r:id="rId70"/>
    <p:sldId id="287" r:id="rId71"/>
    <p:sldId id="288" r:id="rId72"/>
    <p:sldId id="289" r:id="rId73"/>
    <p:sldId id="290" r:id="rId74"/>
    <p:sldId id="291" r:id="rId75"/>
    <p:sldId id="292" r:id="rId76"/>
    <p:sldId id="293" r:id="rId77"/>
    <p:sldId id="294" r:id="rId78"/>
    <p:sldId id="295" r:id="rId79"/>
    <p:sldId id="296" r:id="rId80"/>
    <p:sldId id="297" r:id="rId81"/>
    <p:sldId id="298" r:id="rId82"/>
    <p:sldId id="299" r:id="rId83"/>
    <p:sldId id="300" r:id="rId84"/>
    <p:sldId id="301" r:id="rId85"/>
    <p:sldId id="302" r:id="rId86"/>
    <p:sldId id="303" r:id="rId87"/>
    <p:sldId id="304" r:id="rId88"/>
    <p:sldId id="305" r:id="rId89"/>
    <p:sldId id="306" r:id="rId90"/>
    <p:sldId id="307" r:id="rId91"/>
    <p:sldId id="308" r:id="rId92"/>
    <p:sldId id="309" r:id="rId93"/>
    <p:sldId id="310" r:id="rId94"/>
    <p:sldId id="311" r:id="rId95"/>
    <p:sldId id="312" r:id="rId96"/>
    <p:sldId id="313" r:id="rId97"/>
    <p:sldId id="314" r:id="rId98"/>
    <p:sldId id="315" r:id="rId99"/>
    <p:sldId id="316" r:id="rId100"/>
    <p:sldId id="320" r:id="rId101"/>
    <p:sldId id="321" r:id="rId102"/>
    <p:sldId id="322" r:id="rId103"/>
    <p:sldId id="323" r:id="rId104"/>
    <p:sldId id="324" r:id="rId105"/>
    <p:sldId id="325" r:id="rId106"/>
    <p:sldId id="326" r:id="rId107"/>
    <p:sldId id="327" r:id="rId108"/>
    <p:sldId id="328" r:id="rId109"/>
    <p:sldId id="329" r:id="rId110"/>
    <p:sldId id="330" r:id="rId111"/>
    <p:sldId id="331" r:id="rId112"/>
    <p:sldId id="332" r:id="rId113"/>
    <p:sldId id="333" r:id="rId114"/>
    <p:sldId id="334" r:id="rId115"/>
    <p:sldId id="335" r:id="rId116"/>
    <p:sldId id="336" r:id="rId117"/>
    <p:sldId id="337" r:id="rId118"/>
    <p:sldId id="338" r:id="rId119"/>
    <p:sldId id="339" r:id="rId120"/>
    <p:sldId id="340" r:id="rId121"/>
    <p:sldId id="341" r:id="rId122"/>
    <p:sldId id="342" r:id="rId123"/>
    <p:sldId id="343" r:id="rId124"/>
    <p:sldId id="344" r:id="rId125"/>
    <p:sldId id="345" r:id="rId126"/>
    <p:sldId id="346" r:id="rId127"/>
    <p:sldId id="347" r:id="rId128"/>
    <p:sldId id="348" r:id="rId129"/>
    <p:sldId id="349" r:id="rId130"/>
    <p:sldId id="350" r:id="rId131"/>
    <p:sldId id="351" r:id="rId132"/>
    <p:sldId id="352" r:id="rId133"/>
    <p:sldId id="353" r:id="rId134"/>
    <p:sldId id="354" r:id="rId135"/>
    <p:sldId id="355" r:id="rId136"/>
    <p:sldId id="356" r:id="rId137"/>
    <p:sldId id="357" r:id="rId138"/>
    <p:sldId id="358" r:id="rId139"/>
    <p:sldId id="359" r:id="rId140"/>
    <p:sldId id="360" r:id="rId141"/>
    <p:sldId id="361" r:id="rId142"/>
    <p:sldId id="362" r:id="rId143"/>
    <p:sldId id="363" r:id="rId144"/>
    <p:sldId id="364" r:id="rId145"/>
    <p:sldId id="365" r:id="rId146"/>
    <p:sldId id="366" r:id="rId147"/>
    <p:sldId id="367" r:id="rId148"/>
    <p:sldId id="368" r:id="rId149"/>
    <p:sldId id="369" r:id="rId150"/>
    <p:sldId id="370" r:id="rId151"/>
    <p:sldId id="371" r:id="rId152"/>
    <p:sldId id="372" r:id="rId153"/>
    <p:sldId id="373" r:id="rId154"/>
    <p:sldId id="374" r:id="rId155"/>
    <p:sldId id="375" r:id="rId156"/>
    <p:sldId id="376" r:id="rId157"/>
    <p:sldId id="377" r:id="rId158"/>
    <p:sldId id="378" r:id="rId159"/>
    <p:sldId id="379" r:id="rId160"/>
    <p:sldId id="380" r:id="rId161"/>
    <p:sldId id="381" r:id="rId162"/>
    <p:sldId id="382" r:id="rId163"/>
    <p:sldId id="383" r:id="rId164"/>
    <p:sldId id="384" r:id="rId165"/>
    <p:sldId id="385" r:id="rId166"/>
    <p:sldId id="386" r:id="rId167"/>
    <p:sldId id="387" r:id="rId168"/>
    <p:sldId id="388" r:id="rId169"/>
    <p:sldId id="389" r:id="rId170"/>
    <p:sldId id="390" r:id="rId171"/>
    <p:sldId id="391" r:id="rId172"/>
    <p:sldId id="392" r:id="rId173"/>
    <p:sldId id="393" r:id="rId174"/>
    <p:sldId id="394" r:id="rId175"/>
    <p:sldId id="395" r:id="rId176"/>
    <p:sldId id="396" r:id="rId177"/>
    <p:sldId id="397" r:id="rId178"/>
    <p:sldId id="398" r:id="rId179"/>
    <p:sldId id="399" r:id="rId180"/>
    <p:sldId id="400" r:id="rId181"/>
    <p:sldId id="401" r:id="rId182"/>
    <p:sldId id="402" r:id="rId183"/>
    <p:sldId id="403" r:id="rId184"/>
    <p:sldId id="404" r:id="rId185"/>
    <p:sldId id="405" r:id="rId186"/>
    <p:sldId id="406" r:id="rId187"/>
    <p:sldId id="407" r:id="rId188"/>
    <p:sldId id="408" r:id="rId189"/>
    <p:sldId id="409" r:id="rId190"/>
    <p:sldId id="410" r:id="rId191"/>
    <p:sldId id="411" r:id="rId192"/>
    <p:sldId id="412" r:id="rId19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autoAdjust="0"/>
    <p:restoredTop sz="94694" autoAdjust="0"/>
  </p:normalViewPr>
  <p:slideViewPr>
    <p:cSldViewPr snapToGrid="0" snapToObjects="1">
      <p:cViewPr varScale="1">
        <p:scale>
          <a:sx n="156" d="100"/>
          <a:sy n="156" d="100"/>
        </p:scale>
        <p:origin x="504" y="168"/>
      </p:cViewPr>
      <p:guideLst>
        <p:guide orient="horz" pos="1620"/>
        <p:guide pos="2880"/>
      </p:guideLst>
    </p:cSldViewPr>
  </p:slideViewPr>
  <p:outlineViewPr>
    <p:cViewPr>
      <p:scale>
        <a:sx n="33" d="100"/>
        <a:sy n="33" d="100"/>
      </p:scale>
      <p:origin x="0" y="-11988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presProps" Target="presProps.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a:t>
            </a:fld>
            <a:endParaRPr lang="en-US"/>
          </a:p>
        </p:txBody>
      </p:sp>
    </p:spTree>
    <p:extLst>
      <p:ext uri="{BB962C8B-B14F-4D97-AF65-F5344CB8AC3E}">
        <p14:creationId xmlns:p14="http://schemas.microsoft.com/office/powerpoint/2010/main" val="975724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2</a:t>
            </a:fld>
            <a:endParaRPr lang="en-US"/>
          </a:p>
        </p:txBody>
      </p:sp>
    </p:spTree>
    <p:extLst>
      <p:ext uri="{BB962C8B-B14F-4D97-AF65-F5344CB8AC3E}">
        <p14:creationId xmlns:p14="http://schemas.microsoft.com/office/powerpoint/2010/main" val="92068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3</a:t>
            </a:fld>
            <a:endParaRPr lang="en-US"/>
          </a:p>
        </p:txBody>
      </p:sp>
    </p:spTree>
    <p:extLst>
      <p:ext uri="{BB962C8B-B14F-4D97-AF65-F5344CB8AC3E}">
        <p14:creationId xmlns:p14="http://schemas.microsoft.com/office/powerpoint/2010/main" val="2339419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1: Opening: title, value, and targets.</a:t>
            </a:r>
          </a:p>
          <a:p>
            <a:pPr marL="0" lvl="0" indent="0">
              <a:buNone/>
            </a:pPr>
            <a:endParaRPr/>
          </a:p>
          <a:p>
            <a:pPr marL="0" lvl="0" indent="0">
              <a:buNone/>
            </a:pPr>
            <a:r>
              <a:t>Open with the value statement first. Then read the learning targets briefly. Do not expand into lecture yet.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2: Roadmap and context.</a:t>
            </a:r>
          </a:p>
          <a:p>
            <a:pPr marL="0" lvl="0" indent="0">
              <a:buNone/>
            </a:pPr>
            <a:endParaRPr/>
          </a:p>
          <a:p>
            <a:pPr marL="0" lvl="0" indent="0">
              <a:buNone/>
            </a:pPr>
            <a:r>
              <a:t>Keep this short. Students should know the shape of the class before the concept build starts.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preserves the original scope slide, but now it sits inside the roadmap section.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one-to-one claims like “stress causes disease.” This is the framing slide for the lesson.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3: Retrieval or warm-up.</a:t>
            </a:r>
          </a:p>
          <a:p>
            <a:pPr marL="0" lvl="0" indent="0">
              <a:buNone/>
            </a:pPr>
            <a:endParaRPr/>
          </a:p>
          <a:p>
            <a:pPr marL="0" lvl="0" indent="0">
              <a:buNone/>
            </a:pPr>
            <a:r>
              <a:t>Give brief individual think time first. Then let students compare with a partner. Surface ideas like appraisal, control, support, coping, and context.</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4: Concept build begins here.</a:t>
            </a:r>
          </a:p>
          <a:p>
            <a:pPr marL="0" lvl="0" indent="0">
              <a:buNone/>
            </a:pPr>
            <a:endParaRPr/>
          </a:p>
          <a:p>
            <a:pPr marL="0" lvl="0" indent="0">
              <a:buNone/>
            </a:pPr>
            <a:r>
              <a:t>This slide helps students shift into the biopsychosocial logic of the lesson without overloading terminology.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central organizing model. Say the sequence out loud more than once.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directly answers the warm-up.</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the language plain. Students should hear appraisal as evaluation of meaning, control, and resources.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 not imply that all stress is bad. Keep the contrast simple and functional.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creates the bridge into physiology. It tells students why these slides are 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this concise. Do not drift into a long biology lecture.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keeps students from overlearning a simplistic biomarker story.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should sound careful and concrete.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do not imply stress automatically causes a specific disease.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one of the central claims of the lesson.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concrete examples when teaching this slide.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emotion-focused coping is not avoidance by default.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one of the most transferable ideas in the lesson.</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5: Check for understanding.</a:t>
            </a:r>
          </a:p>
          <a:p>
            <a:pPr marL="0" lvl="0" indent="0">
              <a:buNone/>
            </a:pPr>
            <a:endParaRPr/>
          </a:p>
          <a:p>
            <a:pPr marL="0" lvl="0" indent="0">
              <a:buNone/>
            </a:pPr>
            <a:r>
              <a:t>Have students explain why, not just label the answer.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6: Student processing activity.</a:t>
            </a:r>
          </a:p>
          <a:p>
            <a:pPr marL="0" lvl="0" indent="0">
              <a:buNone/>
            </a:pPr>
            <a:endParaRPr/>
          </a:p>
          <a:p>
            <a:pPr marL="0" lvl="0" indent="0">
              <a:buNone/>
            </a:pPr>
            <a:r>
              <a:t>Students should work in pairs or small groups. The task is to trace the chain, not just list stress symptoms.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Push students to connect the pieces rather than treating them as separate definitions.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7: Debrief and feedback.</a:t>
            </a:r>
          </a:p>
          <a:p>
            <a:pPr marL="0" lvl="0" indent="0">
              <a:buNone/>
            </a:pPr>
            <a:endParaRPr/>
          </a:p>
          <a:p>
            <a:pPr marL="0" lvl="0" indent="0">
              <a:buNone/>
            </a:pPr>
            <a:r>
              <a:t>Use this slide to respond to student thinking after the activity.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this as the correction and consolidation slide after discussion.</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8: Synthesis or application begins here.</a:t>
            </a:r>
          </a:p>
          <a:p>
            <a:pPr marL="0" lvl="0" indent="0">
              <a:buNone/>
            </a:pPr>
            <a:endParaRPr/>
          </a:p>
          <a:p>
            <a:pPr marL="0" lvl="0" indent="0">
              <a:buNone/>
            </a:pPr>
            <a:r>
              <a:t>Guardrail: avoid treating support as automatic or universal.</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 this back to variable outcomes from the warm-up.</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this close to student life.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now sits inside the larger logic of behavior over time.</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“health is only personal responsibility” framing.</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brief. This is a corrective, not a centerpiece.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reinforces the earlier cortisol and allostatic load cautions.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main synthesis slide. Have students say which point feels most useful or surprising.</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9: Closure.</a:t>
            </a:r>
          </a:p>
          <a:p>
            <a:pPr marL="0" lvl="0" indent="0">
              <a:buNone/>
            </a:pPr>
            <a:endParaRPr/>
          </a:p>
          <a:p>
            <a:pPr marL="0" lvl="0" indent="0">
              <a:buNone/>
            </a:pPr>
            <a:r>
              <a:t>Keep this clean and forward-looking.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10: Exit ticket.</a:t>
            </a:r>
          </a:p>
          <a:p>
            <a:pPr marL="0" lvl="0" indent="0">
              <a:buNone/>
            </a:pPr>
            <a:endParaRPr/>
          </a:p>
          <a:p>
            <a:pPr marL="0" lvl="0" indent="0">
              <a:buNone/>
            </a:pPr>
            <a:r>
              <a:t>This aligns directly to the lesson targets. Students should answer individually.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39</a:t>
            </a:fld>
            <a:endParaRPr lang="en-US"/>
          </a:p>
        </p:txBody>
      </p:sp>
    </p:spTree>
    <p:extLst>
      <p:ext uri="{BB962C8B-B14F-4D97-AF65-F5344CB8AC3E}">
        <p14:creationId xmlns:p14="http://schemas.microsoft.com/office/powerpoint/2010/main" val="1668254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Stress process → physiological activation → health outcomes, wrapped in environmental context.</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claims that “stress automatically causes a specific disease”. Instead, frame stress as a process that can suppress our biological shields over time.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student facing graduation. Appraising it as a loss of security (threat) versus an opportunity for independence (challenge) leads to vastly different stress responses.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The optimal performance curve. Help students see that pre-game jitters or pre-test focus is eustress. The goal is not zero stress, but preventing eustress from sliding into exhausting distress.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Two-lane pathway diagram. Explain that while running from a bear requires this energy, our bodies react the exact same way to a looming college deadline, flooding our systems with hormones.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graph showing the three stages rising and ultimately crashing into exhaustion. Use this to show students why pulling all-nighters for weeks eventually leads to a physical crash.</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Stress process → behavior and physiology → immune-related outcomes. Remind students: stress doesn’t just feel bad in our heads; it literally breaks down our biological shields against illness.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Emphasize that it is not hard work that damages the heart, but the chronic hostility, cynicism, and negative emotions.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fork in the road based on control. Example: Seeking tutoring for a failing grade (problem-focused) versus finding a positive distraction after the death of a loved one (emotion-focused).</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network of interconnected people acting as a shield. End on a positive psychology note: We can physically protect our brains and bodies by building strong relationships and believing in our own capacity to handle challenges.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50</a:t>
            </a:fld>
            <a:endParaRPr lang="en-US"/>
          </a:p>
        </p:txBody>
      </p:sp>
    </p:spTree>
    <p:extLst>
      <p:ext uri="{BB962C8B-B14F-4D97-AF65-F5344CB8AC3E}">
        <p14:creationId xmlns:p14="http://schemas.microsoft.com/office/powerpoint/2010/main" val="19365244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Instructor prompt: Welcome the juniors and instantly hook their curiosity. Ask them about their morning—did they hit a traffic jam or worry about a test? Validate their lived experiences with stress, but establish the college-level rigor by shifting to a scientific perspective. Visual cue: A short clip or image from Crash Course Psychology showing that emotions and stress physically impact our health.</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letting students define stress simply as “feeling overwhelmed.” Ensure they grasp the rigor of the definition: environmental events trigger stress reactions based largely on how those events are interpreted and the meanings assigned to them. Emphasize that treating stress as a process empowers them, showing they are active participants rather than passive victims.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high school student looking at a graduation cap. Instructor prompt: Use the graduation example to connect to their lives. Explain that if they view graduation as a loss of financial support, it is a threat, but if they view it as an opportunity for growth, it is a challenge. Teach for lifelong learning: A threat feels far less catastrophic if a person believes they have the resources and ability to do something about it.</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The optimal performance curve showing stress levels on the x-axis and performance on the y-axis. Instructor prompt: Ask the juniors to raise their hands if they think all stress is bad. Challenge their assumptions by introducing endocrinologist Hans Selye’s concept of eustress. Point to the peak of the curve and explain that the goal is not to eliminate stress entirely, but to prevent eustress from sliding into debilitating distress.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Instructor prompt: Ask students to physically tense their muscles for a moment to feel that initial jolt. Explain that this physical reaction is an ancient survival mechanism that we trigger constantly in modern life. Our goal today is to understand the exact biological pathways of this response, proving that psychological stress is a very real physical event.</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Remind students that this response is not inherently “bad”—it is designed to keep us alive. The biological danger arises because we are activating a physiological system evolved for acute physical emergencies, but we are keeping it turned on for months at a time as we worry about grades or relationships.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graph showing Selye’s three stages rising and ultimately crashing into exhaustion. Instructor prompt: Connect this directly to their academic lives. Ask them if they have ever pushed through finals week (stage of resistance) only to get immediately sick the first day of winter break (stage of exhaustion). Explain that this is the biological wear and tear of chronic stress.</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Diagram of the HPA axis (Brain to Adrenal Glands). Instructor prompt: Emphasize the profound reality of psychoneuroimmunology. Stress is not so much the sword that kills the knight; rather, it’s the sword that breaks the knight’s shield, and the immune system is that shield. By learning to manage stress now, they are literally protecting their cellular biology for a lifetime.</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59</a:t>
            </a:fld>
            <a:endParaRPr lang="en-US"/>
          </a:p>
        </p:txBody>
      </p:sp>
    </p:spTree>
    <p:extLst>
      <p:ext uri="{BB962C8B-B14F-4D97-AF65-F5344CB8AC3E}">
        <p14:creationId xmlns:p14="http://schemas.microsoft.com/office/powerpoint/2010/main" val="400364272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Instructor prompt: Welcome the juniors back. Ask them to shout out a few things that stressed them out this week. Write them on the board and categorize them as either “chronic” or “acute”. Remind them that in our last lesson, we learned </a:t>
            </a:r>
            <a:r>
              <a:rPr i="1"/>
              <a:t>how</a:t>
            </a:r>
            <a:r>
              <a:t> the body responds to stress. Today, we will scientifically categorize </a:t>
            </a:r>
            <a:r>
              <a:rPr i="1"/>
              <a:t>what</a:t>
            </a:r>
            <a:r>
              <a:t> triggers that response, and challenge some assumptions about what is actually most dangerous to our health.</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Show a brief snippet of the SRRS table, highlighting how positive events still carry high “life change units”. Instructor prompt: Ask the students why getting into their dream college might physically tax their bodies. Use this to reinforce that eustress still requires biological resources. Guardrail: Remind students of the rigor of the course by critiquing the SRRS. Point out that its major flaw is failing to account for </a:t>
            </a:r>
            <a:r>
              <a:rPr i="1"/>
              <a:t>cognitive appraisal</a:t>
            </a:r>
            <a:r>
              <a:t>—getting fired might be devastating for one person, but a welcome relief for another.</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split screen showing a massive natural disaster on one side, and a student stuck in traffic with a dead cell phone on the other. Instructor prompt: This claim should blow their minds. Ask them to reflect on their own “cyber hassles.” Explain that getting into a fight in a comment section or stressing over a post’s likes can literally suppress their lymphocytes, making them more likely to catch a cold before finals.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Instructor prompt: High school juniors juggling college credits often experience early forms of burnout. Ask them to identify areas of their academic lives where they feel they have high demands but zero control. By giving them the clinical vocabulary (exhaustion, depersonalization, diminished accomplishment), we empower them to recognize the warning signs of burnout in their own lives before they hit the “stage of exhaustion”.</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Visual cue: A graphic linking uncontrollable stressors back to Hans Selye’s General Adaptation Syndrome (Alarm -&gt; Resistance -&gt; Exhaustion). Instructor prompt: Teach them that systemic issues like racism or discrimination are not just social issues; they are biological stressors. When marginalized groups experience repeated discrimination, their bodies develop heightened reactivity and stay stuck in the “stage of resistance,” which explains the higher rates of cardiovascular disease and depression. We are teaching them to see society through a rigorous biological and psychological lens.</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65</a:t>
            </a:fld>
            <a:endParaRPr lang="en-US"/>
          </a:p>
        </p:txBody>
      </p:sp>
    </p:spTree>
    <p:extLst>
      <p:ext uri="{BB962C8B-B14F-4D97-AF65-F5344CB8AC3E}">
        <p14:creationId xmlns:p14="http://schemas.microsoft.com/office/powerpoint/2010/main" val="33049421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1: Opening: title, value, and targets.</a:t>
            </a:r>
          </a:p>
          <a:p>
            <a:pPr marL="0" lvl="0" indent="0">
              <a:buNone/>
            </a:pPr>
            <a:endParaRPr/>
          </a:p>
          <a:p>
            <a:pPr marL="0" lvl="0" indent="0">
              <a:buNone/>
            </a:pPr>
            <a:r>
              <a:t>Open with the value statement first. Then read the learning targets briefly. Do not expand into lecture yet.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2: Roadmap and context.</a:t>
            </a:r>
          </a:p>
          <a:p>
            <a:pPr marL="0" lvl="0" indent="0">
              <a:buNone/>
            </a:pPr>
            <a:endParaRPr/>
          </a:p>
          <a:p>
            <a:pPr marL="0" lvl="0" indent="0">
              <a:buNone/>
            </a:pPr>
            <a:r>
              <a:t>Keep this short. Students should know the shape of the class before the concept build starts.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preserves the original scope slide, but now it sits inside the roadmap section.</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one-to-one claims like “stress causes disease.” This is the framing slide for the lesson.</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3: Retrieval or warm-up.</a:t>
            </a:r>
          </a:p>
          <a:p>
            <a:pPr marL="0" lvl="0" indent="0">
              <a:buNone/>
            </a:pPr>
            <a:endParaRPr/>
          </a:p>
          <a:p>
            <a:pPr marL="0" lvl="0" indent="0">
              <a:buNone/>
            </a:pPr>
            <a:r>
              <a:t>Give brief individual think time first. Then let students compare with a partner. Surface ideas like appraisal, control, support, coping, and context.</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4: Concept build begins here.</a:t>
            </a:r>
          </a:p>
          <a:p>
            <a:pPr marL="0" lvl="0" indent="0">
              <a:buNone/>
            </a:pPr>
            <a:endParaRPr/>
          </a:p>
          <a:p>
            <a:pPr marL="0" lvl="0" indent="0">
              <a:buNone/>
            </a:pPr>
            <a:r>
              <a:t>This slide helps students shift into the biopsychosocial logic of the lesson without overloading terminology.</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central organizing model. Say the sequence out loud more than once.</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directly answers the warm-up.</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the language plain. Students should hear appraisal as evaluation of meaning, control, and resources.</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 not imply that all stress is bad. Keep the contrast simple and functional.</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creates the bridge into physiology. It tells students why these slides are here.</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this concise. Do not drift into a long biology lecture.</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keeps students from overlearning a simplistic biomarker story.</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should sound careful and concrete.</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do not imply stress automatically causes a specific disease.</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one of the central claims of the lesson.</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concrete examples when teaching this slide.</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emotion-focused coping is not avoidance by default.</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one of the most transferable ideas in the lesson.</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5: Check for understanding.</a:t>
            </a:r>
          </a:p>
          <a:p>
            <a:pPr marL="0" lvl="0" indent="0">
              <a:buNone/>
            </a:pPr>
            <a:endParaRPr/>
          </a:p>
          <a:p>
            <a:pPr marL="0" lvl="0" indent="0">
              <a:buNone/>
            </a:pPr>
            <a:r>
              <a:t>Have students explain why, not just label the answer.</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6: Student processing activity.</a:t>
            </a:r>
          </a:p>
          <a:p>
            <a:pPr marL="0" lvl="0" indent="0">
              <a:buNone/>
            </a:pPr>
            <a:endParaRPr/>
          </a:p>
          <a:p>
            <a:pPr marL="0" lvl="0" indent="0">
              <a:buNone/>
            </a:pPr>
            <a:r>
              <a:t>Students should work in pairs or small groups. The task is to trace the chain, not just list stress symptoms.</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Push students to connect the pieces rather than treating them as separate definitions.</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7: Debrief and feedback.</a:t>
            </a:r>
          </a:p>
          <a:p>
            <a:pPr marL="0" lvl="0" indent="0">
              <a:buNone/>
            </a:pPr>
            <a:endParaRPr/>
          </a:p>
          <a:p>
            <a:pPr marL="0" lvl="0" indent="0">
              <a:buNone/>
            </a:pPr>
            <a:r>
              <a:t>Use this slide to respond to student thinking after the activity.</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Use this as the correction and consolidation slide after discussion.</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8: Synthesis or application begins here.</a:t>
            </a:r>
          </a:p>
          <a:p>
            <a:pPr marL="0" lvl="0" indent="0">
              <a:buNone/>
            </a:pPr>
            <a:endParaRPr/>
          </a:p>
          <a:p>
            <a:pPr marL="0" lvl="0" indent="0">
              <a:buNone/>
            </a:pPr>
            <a:r>
              <a:t>Guardrail: avoid treating support as automatic or universal.</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Tie this back to variable outcomes from the warm-up.</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this close to student life.</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slide now sits inside the larger logic of behavior over time.</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Guardrail: avoid “health is only personal responsibility” framing.</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Keep brief. This is a corrective, not a centerpiece.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reinforces the earlier cortisol and allostatic load cautions.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main synthesis slide. Have students say which point feels most useful or surprising.</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9: Closure.</a:t>
            </a:r>
          </a:p>
          <a:p>
            <a:pPr marL="0" lvl="0" indent="0">
              <a:buNone/>
            </a:pPr>
            <a:endParaRPr/>
          </a:p>
          <a:p>
            <a:pPr marL="0" lvl="0" indent="0">
              <a:buNone/>
            </a:pPr>
            <a:r>
              <a:t>Keep this clean and forward-looking.</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Section 10: Exit ticket.</a:t>
            </a:r>
          </a:p>
          <a:p>
            <a:pPr marL="0" lvl="0" indent="0">
              <a:buNone/>
            </a:pPr>
            <a:endParaRPr/>
          </a:p>
          <a:p>
            <a:pPr marL="0" lvl="0" indent="0">
              <a:buNone/>
            </a:pPr>
            <a:r>
              <a:t>This aligns directly to the lesson targets. Students should answer individually.</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Instructor note: Deck auto-generated from A2 chapter13_clean.mjs.</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Health and illness reflect interacting biological, psychological, and social influences; understanding each level (and their interplay) improves prediction, prevention, and treatment.</a:t>
            </a:r>
          </a:p>
          <a:p>
            <a:r>
              <a:t>Anchors (printed pages): [412, 413, 414]</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Introduce the model as three lenses on the same person. Give one crisp example for each level and then stress interaction—no single level explains health on its own.</a:t>
            </a:r>
          </a:p>
          <a:p>
            <a:br/>
            <a:r>
              <a:t>Presenter Notes:</a:t>
            </a:r>
            <a:br/>
            <a:r>
              <a:t>If time permits, ask learners to classify a recent health example into bio/psycho/social elements, then discuss how they interact.</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Outline how genetics and bodily systems contribute to disease risk, protection, and recovery.</a:t>
            </a:r>
          </a:p>
          <a:p>
            <a:r>
              <a:t>Anchors (printed pages): [413]</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Summarize key systems—cardiovascular, endocrine, immune—and tie them to risk and recovery. Note that inherited differences can shift baselines.</a:t>
            </a:r>
          </a:p>
          <a:p>
            <a:br/>
            <a:r>
              <a:t>Presenter Notes:</a:t>
            </a:r>
            <a:br/>
            <a:r>
              <a:t>Use a simple example: stress hormones and immune function during recovery.</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Explain how cognitions, emotions, and coping styles alter health behaviors and physiological stress responses.</a:t>
            </a:r>
          </a:p>
          <a:p>
            <a:r>
              <a:t>Anchors (printed pages): [413]</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Connect mind to behavior and physiology. Show how appraisals shape habits, and how stress responses shape the body's readiness to heal.</a:t>
            </a:r>
          </a:p>
          <a:p>
            <a:br/>
            <a:r>
              <a:t>Presenter Notes:</a:t>
            </a:r>
            <a:br/>
            <a:r>
              <a:t>Prompt: have learners name one coping strategy that helps them adhere to a healthy habit.</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Summarize how relationships, culture, and socioeconomic conditions shape risk and resilience.</a:t>
            </a:r>
          </a:p>
          <a:p>
            <a:r>
              <a:t>Anchors (printed pages): [414]</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Show 'who' and 'what' in the social layer—people and norms—and how they alter both behavior and stress exposure.</a:t>
            </a:r>
          </a:p>
          <a:p>
            <a:br/>
            <a:r>
              <a:t>Presenter Notes:</a:t>
            </a:r>
            <a:br/>
            <a:r>
              <a:t>If time, ask for examples of cultural norms that influence sleep or diet.</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Recognize common protective and risky behaviors and why behavior change matters for prevention and recovery.</a:t>
            </a:r>
          </a:p>
          <a:p>
            <a:r>
              <a:t>Anchors (printed pages): [416]</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Emphasize that the most powerful levers are daily habits. Show how small, repeatable changes accumulate and how environment design helps.</a:t>
            </a:r>
          </a:p>
          <a:p>
            <a:br/>
            <a:r>
              <a:t>Presenter Notes:</a:t>
            </a:r>
            <a:br/>
            <a:r>
              <a:t>Ask learners to identify one small change they can implement this week in diet, activity, or sleep.</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Describe major categories of stressors (e.g., daily hassles/overload, major life events, and catastrophic or extreme demands) and explain that appraisal (predictability/control) shapes the experience of stress.</a:t>
            </a:r>
          </a:p>
          <a:p>
            <a:r>
              <a:t>Anchors (printed pages): [419]</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Frame stressors by size and timescale: small-but-frequent hassles, big life changes, and rare extremes. Then add how appraisal—especially predictability and control—colors the experience.</a:t>
            </a:r>
          </a:p>
          <a:p>
            <a:br/>
            <a:r>
              <a:t>Presenter Notes:</a:t>
            </a:r>
            <a:br/>
            <a:r>
              <a:t>Prompt learners to classify one recent stressor as a hassle vs. a life event; ask what made it feel more or less controllable.</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Explain core stress responses, including immediate arousal and attentional demands, appraisals that guide coping, and common behavioral/emotional strategies (problem-focused and emotion-focused) people use to manage demands.</a:t>
            </a:r>
          </a:p>
          <a:p>
            <a:r>
              <a:t>Anchors (printed pages): [421]</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Walk the sequence: arousal and attention, then appraisals, then coping. Clarify when problem-focused vs. emotion-focused strategies fit.</a:t>
            </a:r>
          </a:p>
          <a:p>
            <a:br/>
            <a:r>
              <a:t>Presenter Notes:</a:t>
            </a:r>
            <a:br/>
            <a:r>
              <a:t>Use one scenario and show both coping routes; note that people often combine them.</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Identify health and performance outcomes linked to sustained stress, including physiological strain, impaired persistence and attention, and increased illness risk when stressors are chronic.</a:t>
            </a:r>
          </a:p>
          <a:p>
            <a:r>
              <a:t>Anchors (printed pages): [423]</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Map the consequences along two tracks: the body (strain/illness risk) and behavior (attention/persistence). Close with the lever: reduce demands and bolster coping/support.</a:t>
            </a:r>
          </a:p>
          <a:p>
            <a:br/>
            <a:r>
              <a:t>Presenter Notes:</a:t>
            </a:r>
            <a:br/>
            <a:r>
              <a:t>Invite learners to note one change that could reduce ongoing demand or add support this week.</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Prolonged stress can be associated with illness and psychosomatic disorders (in which psychological factors contribute to genuine bodily damage), learned helplessness, and burnout.</a:t>
            </a:r>
          </a:p>
          <a:p>
            <a:r>
              <a:t>Anchors (printed pages): [419]</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Frame three downstream effects of long-lasting stress: bodily illness including psychosomatic conditions, a motivational collapse known as learned helplessness, and workplace burnout characterized by exhaustion and detachment.</a:t>
            </a:r>
          </a:p>
          <a:p>
            <a:br/>
            <a:r>
              <a:t>Presenter Notes:</a:t>
            </a:r>
            <a:br/>
            <a:r>
              <a:t>Use brief vignettes to differentiate the three outcomes; emphasize that they are preventable when demands are reduced and coping/supports increase.</a:t>
            </a:r>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People recognize illness by noticing bodily changes, interpreting symptoms, and deciding whether those changes require care; this recognition is shaped by knowledge, expectations, and social context.</a:t>
            </a:r>
          </a:p>
          <a:p>
            <a:r>
              <a:t>Anchors (printed pages): [426]</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Recognition is a two-step process: first, you notice that something feels 'off'; second, you interpret what that change means and whether it needs attention. Expectations, past episodes, and what people around you say can nudge those judgments in either direction.</a:t>
            </a:r>
          </a:p>
          <a:p>
            <a:br/>
            <a:r>
              <a:t>Presenter Notes:</a:t>
            </a:r>
            <a:br/>
            <a:r>
              <a:t>Invite learners to share a recent minor symptom and describe how they decided whether to act. Emphasize how social suggestions can normalize or escalate concerns.</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Seeking treatment involves deciding to get professional help and navigating practical and interpersonal barriers; decisions are shaped by symptom interpretations, resources, and communication with providers.</a:t>
            </a:r>
          </a:p>
          <a:p>
            <a:r>
              <a:t>Anchors (printed pages): [427]</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Help-seeking hinges on two things: judgment that care is needed and the ability to get to care. Logistics and concerns about stigma are common blockers. Once in care, communication quality matters for what happens next.</a:t>
            </a:r>
          </a:p>
          <a:p>
            <a:br/>
            <a:r>
              <a:t>Presenter Notes:</a:t>
            </a:r>
            <a:br/>
            <a:r>
              <a:t>Discuss one concrete barrier (e.g., transportation) and a system-level fix (e.g., vouchers). Model a brief, clear question a patient might ask to improve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Treatment adherence is the degree to which people follow agreed health recommendations; adherence is influenced by understanding, motivation, regimen complexity, side effects, support, and reminders.</a:t>
            </a:r>
          </a:p>
          <a:p>
            <a:r>
              <a:t>Anchors (printed pages): [428]</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Adherence is easier when the plan makes sense, feels worthwhile, and is simple to carry out day to day. Reduce friction and add supports.</a:t>
            </a:r>
          </a:p>
          <a:p>
            <a:br/>
            <a:r>
              <a:t>Presenter Notes:</a:t>
            </a:r>
            <a:br/>
            <a:r>
              <a:t>Show a before/after example of simplifying a dosing schedule. Demonstrate a brief teach-back to confirm understanding.</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The term complementary and alternative medicine (CAM) refers to treatment approaches that tend to be more holistic in their approach and are often rooted in long-standing cultural traditions (e.g., traditional Chinese medicine; Ayurvedic medicine). They include homeopathy and dietary supplements, acupuncture, chiropractic services, massage, biofeedback, and yoga. The one main concern with these forms of treatment stems from a lack of good research evaluating their effectiveness.</a:t>
            </a:r>
          </a:p>
          <a:p>
            <a:r>
              <a:t>Anchors (printed pages): [426]</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Define CAM broadly and list familiar examples. Then emphasize the central caution: evidence quality varies, and many modalities have limited rigorous research, so claims must be evaluated carefully.</a:t>
            </a:r>
          </a:p>
          <a:p>
            <a:br/>
            <a:r>
              <a:t>Presenter Notes:</a:t>
            </a:r>
            <a:br/>
            <a:r>
              <a:t>Invite learners to practice evidence checking: ask, 'What is the best available study for this CAM practice?'</a:t>
            </a:r>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Treatment noncompliance results when people ignore, misunderstand, forget, or carry out treatments incorrectly. Four factors that contribute to noncompliance include cognitive factors, memory, the relationship between care providers and recipients, and emotions (particularly anxiety and depression). Minimizing noncompliance requires that healthcare providers use good communication and interpersonal skills to build a trusting relationship with patients and clients. Doing so will increase the likelihood that they are able to ensure that patients understand the treatment, promote a willingness to abide by it, and will improve the ability to properly assess clients' ability to follow through with it.</a:t>
            </a:r>
          </a:p>
          <a:p>
            <a:r>
              <a:t>Anchors (printed pages): [426]</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Define how noncompliance shows up, then map each form to contributors like cognition, memory, relationship quality, and emotions. End with the practical lever—relationship-centered communication with teach-back and realistic planning.</a:t>
            </a:r>
          </a:p>
          <a:p>
            <a:br/>
            <a:r>
              <a:t>Presenter Notes:</a:t>
            </a:r>
            <a:br/>
            <a:r>
              <a:t>Demonstrate a brief teach-back: 'Just to be sure I explained it well, how will you take this medication tomorrow?'</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Explain how problem-focused coping changes the stressor or its demands, while emotion-focused coping manages the distress it produces, and note when each approach is most effective.</a:t>
            </a:r>
          </a:p>
          <a:p>
            <a:r>
              <a:t>Anchors (printed pages): [430, 431, 432]</a:t>
            </a:r>
          </a:p>
        </p:txBody>
      </p:sp>
      <p:sp>
        <p:nvSpPr>
          <p:cNvPr id="4" name="Slide Number Placeholder 3"/>
          <p:cNvSpPr>
            <a:spLocks noGrp="1"/>
          </p:cNvSpPr>
          <p:nvPr>
            <p:ph type="sldNum" sz="quarter" idx="5"/>
          </p:nvPr>
        </p:nvSpPr>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Today we'll separate coping into two families. First, when something can be changed, we use problem-focused coping: clarify the issue, make a plan, and take steps. Second, when the situation can't be changed right now—or while we gear up to act—we use emotion-focused coping to steady ourselves with strategies like slow breathing, reframing, or asking for support. As we work examples, I'll ask you to decide: is this a 'change the situation' moment, or a 'steady myself first' moment?</a:t>
            </a:r>
          </a:p>
          <a:p>
            <a:br/>
            <a:r>
              <a:t>Presenter Notes:</a:t>
            </a:r>
            <a:br/>
            <a:r>
              <a:t>Cue: Write two columns on the board (Problem-focused / Emotion-focused). Demo: Give a 30-second scenario; ask learners which column and why. Tip: Reinforce the 'fit rule'—match strategy to controllability; encourage combining both as needed.</a:t>
            </a:r>
          </a:p>
        </p:txBody>
      </p:sp>
      <p:sp>
        <p:nvSpPr>
          <p:cNvPr id="4" name="Slide Number Placeholder 3"/>
          <p:cNvSpPr>
            <a:spLocks noGrp="1"/>
          </p:cNvSpPr>
          <p:nvPr>
            <p:ph type="sldNum" sz="quarter" idx="5"/>
          </p:nvPr>
        </p:nvSpPr>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Identify ways to reduce bodily arousal under stress (e.g., relaxation training, breathing, meditation, and exercise) and explain how lowering arousal supports health and performance.</a:t>
            </a:r>
          </a:p>
          <a:p>
            <a:r>
              <a:t>Anchors (printed pages): [431, 432]</a:t>
            </a:r>
          </a:p>
        </p:txBody>
      </p:sp>
      <p:sp>
        <p:nvSpPr>
          <p:cNvPr id="4" name="Slide Number Placeholder 3"/>
          <p:cNvSpPr>
            <a:spLocks noGrp="1"/>
          </p:cNvSpPr>
          <p:nvPr>
            <p:ph type="sldNum" sz="quarter" idx="5"/>
          </p:nvPr>
        </p:nvSpPr>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Let's start with body-first tools. I'll guide one slow inhale for four counts and an exhale for six. Feel the drop in tension? That's the point—relaxation and breathing create space to think. Meditation does the same for attention. Over the week, regular activity—like a brisk walk—improves sleep and mood so the next stressor lands softer.</a:t>
            </a:r>
          </a:p>
          <a:p>
            <a:br/>
            <a:r>
              <a:t>Presenter Notes:</a:t>
            </a:r>
            <a:br/>
            <a:r>
              <a:t>Cue: Lead a 20-30-second breathing demo (4-in, 6-out). Note aloud the calmer tone and relate it to improved focus. Tip: Invite learners to plan one brief activity session this week.</a:t>
            </a:r>
          </a:p>
        </p:txBody>
      </p:sp>
      <p:sp>
        <p:nvSpPr>
          <p:cNvPr id="4" name="Slide Number Placeholder 3"/>
          <p:cNvSpPr>
            <a:spLocks noGrp="1"/>
          </p:cNvSpPr>
          <p:nvPr>
            <p:ph type="sldNum" sz="quarter" idx="5"/>
          </p:nvPr>
        </p:nvSpPr>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Outline cognitive tactics (e.g., appraisal, reframing, optimism) and behavioral tactics (e.g., time management, breaking tasks into steps, skill building) that reduce stress by improving fit between demands and resources.</a:t>
            </a:r>
          </a:p>
          <a:p>
            <a:r>
              <a:t>Anchors (printed pages): [430, 431, 432]</a:t>
            </a:r>
          </a:p>
        </p:txBody>
      </p:sp>
      <p:sp>
        <p:nvSpPr>
          <p:cNvPr id="4" name="Slide Number Placeholder 3"/>
          <p:cNvSpPr>
            <a:spLocks noGrp="1"/>
          </p:cNvSpPr>
          <p:nvPr>
            <p:ph type="sldNum" sz="quarter" idx="5"/>
          </p:nvPr>
        </p:nvSpPr>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Let's pair thinking with doing. First, the headwork: notice 'all-or-nothing' thoughts and replace them with accurate, specific statements. Second, the homework: pick the first small step, put it on the calendar, and ask for quick feedback. As control rises, stress drops.</a:t>
            </a:r>
          </a:p>
          <a:p>
            <a:br/>
            <a:r>
              <a:t>Presenter Notes:</a:t>
            </a:r>
            <a:br/>
            <a:r>
              <a:t>Cue: Show a quick reframe on the slide. Activity: Have learners write one 'first small step' and when/where they'll do it. Tip: Tie the step to a realistic time window.</a:t>
            </a:r>
          </a:p>
        </p:txBody>
      </p:sp>
      <p:sp>
        <p:nvSpPr>
          <p:cNvPr id="4" name="Slide Number Placeholder 3"/>
          <p:cNvSpPr>
            <a:spLocks noGrp="1"/>
          </p:cNvSpPr>
          <p:nvPr>
            <p:ph type="sldNum" sz="quarter" idx="5"/>
          </p:nvPr>
        </p:nvSpPr>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Show how support seeking, assertive communication, and concrete coping plans (what/when/where) improve adaptation and reduce chronic strain.</a:t>
            </a:r>
          </a:p>
          <a:p>
            <a:r>
              <a:t>Anchors (printed pages): [431, 432]</a:t>
            </a:r>
          </a:p>
        </p:txBody>
      </p:sp>
      <p:sp>
        <p:nvSpPr>
          <p:cNvPr id="4" name="Slide Number Placeholder 3"/>
          <p:cNvSpPr>
            <a:spLocks noGrp="1"/>
          </p:cNvSpPr>
          <p:nvPr>
            <p:ph type="sldNum" sz="quarter" idx="5"/>
          </p:nvPr>
        </p:nvSpPr>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Let's make this real. Think of one task you're dreading. Who could help with one piece? What exactly will you ask for? Now set a tiny plan: what you'll do, when you'll start, and where you'll do it. Say it out loud to lock it in.</a:t>
            </a:r>
          </a:p>
          <a:p>
            <a:br/>
            <a:r>
              <a:t>Presenter Notes:</a:t>
            </a:r>
            <a:br/>
            <a:r>
              <a:t>Cue: 60-second micro-exercise—learners write one request and a three-point plan (what/when/where). Tip: Model an assertive, polite request; remind them to confirm 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Describe how the "De-Stress!" approach offers brief, practical actions to lower tension quickly so you can think clearly and choose next steps.</a:t>
            </a:r>
          </a:p>
          <a:p>
            <a:r>
              <a:t>Anchors (printed pages): [435]</a:t>
            </a:r>
          </a:p>
        </p:txBody>
      </p:sp>
      <p:sp>
        <p:nvSpPr>
          <p:cNvPr id="4" name="Slide Number Placeholder 3"/>
          <p:cNvSpPr>
            <a:spLocks noGrp="1"/>
          </p:cNvSpPr>
          <p:nvPr>
            <p:ph type="sldNum" sz="quarter" idx="5"/>
          </p:nvPr>
        </p:nvSpPr>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When stress spikes, we don't need a perfect solution—we need a quick reset. De-Stress! steps are tiny actions you can do in under a minute to lower the volume on tension. Once you're a notch calmer, your brain comes back online, and you can decide the next right move. We'll practice one now and then apply it whenever stress flares.</a:t>
            </a:r>
          </a:p>
          <a:p>
            <a:br/>
            <a:r>
              <a:t>Presenter Notes:</a:t>
            </a:r>
            <a:br/>
            <a:r>
              <a:t>Cue: Set a 30-45s timer and model one quick reset (e.g., 4-6 breathing). Prompt: Ask, "What's one 60-second step you can use between classes or calls today?" Reinforce repetition across the day to prevent escalation.</a:t>
            </a:r>
          </a:p>
        </p:txBody>
      </p:sp>
      <p:sp>
        <p:nvSpPr>
          <p:cNvPr id="4" name="Slide Number Placeholder 3"/>
          <p:cNvSpPr>
            <a:spLocks noGrp="1"/>
          </p:cNvSpPr>
          <p:nvPr>
            <p:ph type="sldNum" sz="quarter" idx="5"/>
          </p:nvPr>
        </p:nvSpPr>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Explain how practical actions that reduce physical arousal support clearer thinking and better recovery.</a:t>
            </a:r>
          </a:p>
          <a:p>
            <a:r>
              <a:t>Anchors (printed pages): [435]</a:t>
            </a:r>
          </a:p>
        </p:txBody>
      </p:sp>
      <p:sp>
        <p:nvSpPr>
          <p:cNvPr id="4" name="Slide Number Placeholder 3"/>
          <p:cNvSpPr>
            <a:spLocks noGrp="1"/>
          </p:cNvSpPr>
          <p:nvPr>
            <p:ph type="sldNum" sz="quarter" idx="5"/>
          </p:nvPr>
        </p:nvSpPr>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Before we think our way out, we'll breathe our way down. One slow inhale… and a longer exhale. Feel that shift? When the body settles, the mind can focus. We'll use a 30-second body-reset first, then decide the next step.</a:t>
            </a:r>
          </a:p>
          <a:p>
            <a:br/>
            <a:r>
              <a:t>Presenter Notes:</a:t>
            </a:r>
            <a:br/>
            <a:r>
              <a:t>Cue: Lead a 20-30s 4-in/6-out breathing drill. Note the change in tone/pace. Transition: "Now, with calmer attention, let's choose one next action."</a:t>
            </a:r>
          </a:p>
        </p:txBody>
      </p:sp>
      <p:sp>
        <p:nvSpPr>
          <p:cNvPr id="4" name="Slide Number Placeholder 3"/>
          <p:cNvSpPr>
            <a:spLocks noGrp="1"/>
          </p:cNvSpPr>
          <p:nvPr>
            <p:ph type="sldNum" sz="quarter" idx="5"/>
          </p:nvPr>
        </p:nvSpPr>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Show how changing unhelpful habits and making small, concrete adjustments reduces overload and improves follow-through.</a:t>
            </a:r>
          </a:p>
          <a:p>
            <a:r>
              <a:t>Anchors (printed pages): [436]</a:t>
            </a:r>
          </a:p>
        </p:txBody>
      </p:sp>
      <p:sp>
        <p:nvSpPr>
          <p:cNvPr id="4" name="Slide Number Placeholder 3"/>
          <p:cNvSpPr>
            <a:spLocks noGrp="1"/>
          </p:cNvSpPr>
          <p:nvPr>
            <p:ph type="sldNum" sz="quarter" idx="5"/>
          </p:nvPr>
        </p:nvSpPr>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We'll change stress by changing what we do. Pick one tiny adjustment that makes the next step easier—shorten the task, set a 15-minute window, or prep materials the night before. Small and repeatable beats big and brittle.</a:t>
            </a:r>
          </a:p>
          <a:p>
            <a:br/>
            <a:r>
              <a:t>Presenter Notes:</a:t>
            </a:r>
            <a:br/>
            <a:r>
              <a:t>Cue: 60-second micro-plan—learners write one small change + when/where they'll test it. Debrief: Ask two volunteers to share; reinforce specificity and repeatability.</a:t>
            </a:r>
          </a:p>
        </p:txBody>
      </p:sp>
      <p:sp>
        <p:nvSpPr>
          <p:cNvPr id="4" name="Slide Number Placeholder 3"/>
          <p:cNvSpPr>
            <a:spLocks noGrp="1"/>
          </p:cNvSpPr>
          <p:nvPr>
            <p:ph type="sldNum" sz="quarter" idx="5"/>
          </p:nvPr>
        </p:nvSpPr>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 Description: Explain how noticing and adjusting unhelpful thoughts can lower distress and restore perspective during stress.</a:t>
            </a:r>
          </a:p>
          <a:p>
            <a:r>
              <a:t>Anchors (printed pages): [436]</a:t>
            </a:r>
          </a:p>
        </p:txBody>
      </p:sp>
      <p:sp>
        <p:nvSpPr>
          <p:cNvPr id="4" name="Slide Number Placeholder 3"/>
          <p:cNvSpPr>
            <a:spLocks noGrp="1"/>
          </p:cNvSpPr>
          <p:nvPr>
            <p:ph type="sldNum" sz="quarter" idx="5"/>
          </p:nvPr>
        </p:nvSpPr>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br/>
            <a:r>
              <a:t>Write one thought that spikes your stress: 'I'll never finish.' Now swap it: 'I can do the first part in 15 minutes.' Say the new line out loud. Feel the shift? We're not pretending it's easy—we're choosing a truer thought that helps us act.</a:t>
            </a:r>
          </a:p>
          <a:p>
            <a:br/>
            <a:r>
              <a:t>Presenter Notes:</a:t>
            </a:r>
            <a:br/>
            <a:r>
              <a:t>Cue: 60-second jot—one upsetting thought + one accurate alternative tied to a next step. Coach: If alternatives sound vague, prompt for a specific, workable version.</a:t>
            </a:r>
          </a:p>
        </p:txBody>
      </p:sp>
      <p:sp>
        <p:nvSpPr>
          <p:cNvPr id="4" name="Slide Number Placeholder 3"/>
          <p:cNvSpPr>
            <a:spLocks noGrp="1"/>
          </p:cNvSpPr>
          <p:nvPr>
            <p:ph type="sldNum" sz="quarter" idx="5"/>
          </p:nvPr>
        </p:nvSpPr>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the takeaway with a quick check-for-understanding (1 question).</a:t>
            </a:r>
          </a:p>
        </p:txBody>
      </p:sp>
      <p:sp>
        <p:nvSpPr>
          <p:cNvPr id="4" name="Slide Number Placeholder 3"/>
          <p:cNvSpPr>
            <a:spLocks noGrp="1"/>
          </p:cNvSpPr>
          <p:nvPr>
            <p:ph type="sldNum" sz="quarter" idx="5"/>
          </p:nvPr>
        </p:nvSpPr>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167</a:t>
            </a:fld>
            <a:endParaRPr lang="en-US"/>
          </a:p>
        </p:txBody>
      </p:sp>
    </p:spTree>
    <p:extLst>
      <p:ext uri="{BB962C8B-B14F-4D97-AF65-F5344CB8AC3E}">
        <p14:creationId xmlns:p14="http://schemas.microsoft.com/office/powerpoint/2010/main" val="507858576"/>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168</a:t>
            </a:fld>
            <a:endParaRPr lang="en-US"/>
          </a:p>
        </p:txBody>
      </p:sp>
    </p:spTree>
    <p:extLst>
      <p:ext uri="{BB962C8B-B14F-4D97-AF65-F5344CB8AC3E}">
        <p14:creationId xmlns:p14="http://schemas.microsoft.com/office/powerpoint/2010/main" val="151395774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169</a:t>
            </a:fld>
            <a:endParaRPr lang="en-US"/>
          </a:p>
        </p:txBody>
      </p:sp>
    </p:spTree>
    <p:extLst>
      <p:ext uri="{BB962C8B-B14F-4D97-AF65-F5344CB8AC3E}">
        <p14:creationId xmlns:p14="http://schemas.microsoft.com/office/powerpoint/2010/main" val="1252253817"/>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13.1</a:t>
            </a:r>
          </a:p>
          <a:p>
            <a:r>
              <a:t>Subsection: Biopsychosocial and Behavioral Contributions to Health</a:t>
            </a:r>
          </a:p>
          <a:p>
            <a:r>
              <a:t>LO code: 13.1.1</a:t>
            </a:r>
          </a:p>
          <a:p>
            <a:r>
              <a:t>LO title: Distinguish between the medical and biopsychosocial models in terms of their conceptions of health</a:t>
            </a:r>
          </a:p>
          <a:p>
            <a:r>
              <a:t>Planned time (min): —</a:t>
            </a:r>
          </a:p>
          <a:p>
            <a:endParaRPr/>
          </a:p>
          <a:p>
            <a:r>
              <a:t>Script to read:</a:t>
            </a:r>
          </a:p>
          <a:p>
            <a:r>
              <a:t>- Hook: When have you seen two patients with the same diagnosis need very different plans?</a:t>
            </a:r>
          </a:p>
          <a:p>
            <a:r>
              <a:t>- Core explanation (2–3 sentences): The medical model privileges physical causes and treatments. The biopsychosocial model argues that health emerges from interacting biological, psychological, and social processes. The contrast explains why the same illness may require different approaches depending on context.</a:t>
            </a:r>
          </a:p>
          <a:p>
            <a:r>
              <a:t>- Example or vignette (1 sentence): Two people with the same injury recover differently because one has strong social support and better stress regulation.</a:t>
            </a:r>
          </a:p>
          <a:p>
            <a:r>
              <a:t>- Transfer cue (1 sentence): When you frame a case, ask what biological, psychological, and social factors are at play.</a:t>
            </a:r>
          </a:p>
          <a:p>
            <a:endParaRPr/>
          </a:p>
          <a:p>
            <a:r>
              <a:t>Check for understanding:</a:t>
            </a:r>
          </a:p>
          <a:p>
            <a:r>
              <a:t>- Question: Name one assumption of the medical model and one of the biopsychosocial model.</a:t>
            </a:r>
          </a:p>
          <a:p>
            <a:r>
              <a:t>- Expected answer: Medical—body-as-machine, physical treatment; Biopsychosocial—health as a function of biological, psychological, and social factors.</a:t>
            </a:r>
          </a:p>
          <a:p>
            <a:r>
              <a:t>- Rationale: Tests ability to contrast core assumptions.</a:t>
            </a:r>
          </a:p>
          <a:p>
            <a:endParaRPr/>
          </a:p>
          <a:p>
            <a:r>
              <a:t>Reminders:</a:t>
            </a:r>
          </a:p>
          <a:p>
            <a:r>
              <a:t>- Pitfall: Treating models as mutually exclusive in practice</a:t>
            </a:r>
          </a:p>
          <a:p>
            <a:r>
              <a:t>- Tip: Use the models to guide assessment breadth</a:t>
            </a:r>
          </a:p>
          <a:p>
            <a:endParaRPr/>
          </a:p>
          <a:p>
            <a:r>
              <a:t>Transitions:</a:t>
            </a:r>
          </a:p>
          <a:p>
            <a:r>
              <a:t>- Coming from: Chapter context</a:t>
            </a:r>
          </a:p>
          <a:p>
            <a:r>
              <a:t>- Next: Biological, psychological, and social factors that influence health</a:t>
            </a:r>
          </a:p>
          <a:p>
            <a:endParaRPr/>
          </a:p>
          <a:p>
            <a:r>
              <a:t>Visuals:</a:t>
            </a:r>
          </a:p>
          <a:p>
            <a:r>
              <a:t>- Alt text: Two-column comparison of medical vs biopsychosocial assumptions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13.1</a:t>
            </a:r>
          </a:p>
          <a:p>
            <a:r>
              <a:t>Subsection: Biopsychosocial and Behavioral Contributions to Health</a:t>
            </a:r>
          </a:p>
          <a:p>
            <a:r>
              <a:t>LO code: 13.1.2</a:t>
            </a:r>
          </a:p>
          <a:p>
            <a:r>
              <a:t>LO title: Explain the biological, psychological, and social factors that influence health</a:t>
            </a:r>
          </a:p>
          <a:p>
            <a:r>
              <a:t>Planned time (min): —</a:t>
            </a:r>
          </a:p>
          <a:p>
            <a:endParaRPr/>
          </a:p>
          <a:p>
            <a:r>
              <a:t>Script to read:</a:t>
            </a:r>
          </a:p>
          <a:p>
            <a:r>
              <a:t>- Hook: Which domain—bio, psych, or social—most often gets under-assessed?</a:t>
            </a:r>
          </a:p>
          <a:p>
            <a:r>
              <a:t>- Core explanation (2–3 sentences): Health reflects multiple systems and processes. The chapter highlights genetic and epigenetic effects, bodily systems, cognitive and emotional processes, and personality traits (Type A, hardiness), plus social network dynamics and poverty.</a:t>
            </a:r>
          </a:p>
          <a:p>
            <a:r>
              <a:t>- Example or vignette (1 sentence): Blood pressure improves after sleep and stress counseling even before medication changes.</a:t>
            </a:r>
          </a:p>
          <a:p>
            <a:r>
              <a:t>- Transfer cue (1 sentence): Tag one factor from each domain for any case you analyze.</a:t>
            </a:r>
          </a:p>
          <a:p>
            <a:endParaRPr/>
          </a:p>
          <a:p>
            <a:r>
              <a:t>Check for understanding:</a:t>
            </a:r>
          </a:p>
          <a:p>
            <a:r>
              <a:t>- Question: Give one example each of a biological, psychological, and social influence.</a:t>
            </a:r>
          </a:p>
          <a:p>
            <a:r>
              <a:t>- Expected answer: Biological—endocrine function; Psychological—emotion regulation; Social—network support or poverty.</a:t>
            </a:r>
          </a:p>
          <a:p>
            <a:r>
              <a:t>- Rationale: Ensures tri-domain thinking.</a:t>
            </a:r>
          </a:p>
          <a:p>
            <a:endParaRPr/>
          </a:p>
          <a:p>
            <a:r>
              <a:t>Reminders:</a:t>
            </a:r>
          </a:p>
          <a:p>
            <a:r>
              <a:t>- Pitfall: Listing domains without naming concrete factors</a:t>
            </a:r>
          </a:p>
          <a:p>
            <a:r>
              <a:t>- Tip: Always specify a system or process, not just “bio/psych/social”</a:t>
            </a:r>
          </a:p>
          <a:p>
            <a:endParaRPr/>
          </a:p>
          <a:p>
            <a:r>
              <a:t>Transitions:</a:t>
            </a:r>
          </a:p>
          <a:p>
            <a:r>
              <a:t>- Coming from: Model contrast</a:t>
            </a:r>
          </a:p>
          <a:p>
            <a:r>
              <a:t>- Next: Behavioral risk factors</a:t>
            </a:r>
          </a:p>
          <a:p>
            <a:endParaRPr/>
          </a:p>
          <a:p>
            <a:r>
              <a:t>Visuals:</a:t>
            </a:r>
          </a:p>
          <a:p>
            <a:r>
              <a:t>- Alt text: Three concentric rings labeled biological, psychological, social with example labels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13.1</a:t>
            </a:r>
          </a:p>
          <a:p>
            <a:r>
              <a:t>Subsection: Biopsychosocial and Behavioral Contributions to Health</a:t>
            </a:r>
          </a:p>
          <a:p>
            <a:r>
              <a:t>LO code: 13.1.3</a:t>
            </a:r>
          </a:p>
          <a:p>
            <a:r>
              <a:t>LO title: Outline the main behavioral risk factors that contribute to poor health</a:t>
            </a:r>
          </a:p>
          <a:p>
            <a:r>
              <a:t>Planned time (min): —</a:t>
            </a:r>
          </a:p>
          <a:p>
            <a:endParaRPr/>
          </a:p>
          <a:p>
            <a:r>
              <a:t>Script to read:</a:t>
            </a:r>
          </a:p>
          <a:p>
            <a:r>
              <a:t>- Hook: Which risk on this list is most common on your campus?</a:t>
            </a:r>
          </a:p>
          <a:p>
            <a:r>
              <a:t>- Core explanation (2–3 sentences): The chapter names six behaviors that drive preventable health problems across populations. Each risk has short- and long-term consequences and often co-occurs with others.</a:t>
            </a:r>
          </a:p>
          <a:p>
            <a:r>
              <a:t>- Example or vignette (1 sentence): A student cuts late-night alcohol use and reports better mood and grades.</a:t>
            </a:r>
          </a:p>
          <a:p>
            <a:r>
              <a:t>- Transfer cue (1 sentence): Choose one small change to trial for two weeks.</a:t>
            </a:r>
          </a:p>
          <a:p>
            <a:endParaRPr/>
          </a:p>
          <a:p>
            <a:r>
              <a:t>Check for understanding:</a:t>
            </a:r>
          </a:p>
          <a:p>
            <a:r>
              <a:t>- Question: Name three behavioral risk factors from the chapter.</a:t>
            </a:r>
          </a:p>
          <a:p>
            <a:r>
              <a:t>- Expected answer: Any three of smoking, alcohol abuse, drug abuse, poor diet, insufficient exercise, risky sex.</a:t>
            </a:r>
          </a:p>
          <a:p>
            <a:r>
              <a:t>- Rationale: Checks recall of the specified category list.</a:t>
            </a:r>
          </a:p>
          <a:p>
            <a:endParaRPr/>
          </a:p>
          <a:p>
            <a:r>
              <a:t>Reminders:</a:t>
            </a:r>
          </a:p>
          <a:p>
            <a:r>
              <a:t>- Pitfall: Treating the list as all-or-nothing</a:t>
            </a:r>
          </a:p>
          <a:p>
            <a:r>
              <a:t>- Tip: Emphasize incremental changes with measurable targets</a:t>
            </a:r>
          </a:p>
          <a:p>
            <a:endParaRPr/>
          </a:p>
          <a:p>
            <a:r>
              <a:t>Transitions:</a:t>
            </a:r>
          </a:p>
          <a:p>
            <a:r>
              <a:t>- Coming from: Tri-domain influences</a:t>
            </a:r>
          </a:p>
          <a:p>
            <a:r>
              <a:t>- Next: Strategies to minimize behavioral risk</a:t>
            </a:r>
          </a:p>
          <a:p>
            <a:endParaRPr/>
          </a:p>
          <a:p>
            <a:r>
              <a:t>Visuals:</a:t>
            </a:r>
          </a:p>
          <a:p>
            <a:r>
              <a:t>- Alt text: Icons for smoking, alcohol, drugs, diet, exercise, and sexual health</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13.1</a:t>
            </a:r>
          </a:p>
          <a:p>
            <a:r>
              <a:t>Subsection: Biopsychosocial and Behavioral Contributions to Health</a:t>
            </a:r>
          </a:p>
          <a:p>
            <a:r>
              <a:t>LO code: 13.1.4</a:t>
            </a:r>
          </a:p>
          <a:p>
            <a:r>
              <a:t>LO title: Describe three strategies that help to minimize behavioral risk factors</a:t>
            </a:r>
          </a:p>
          <a:p>
            <a:r>
              <a:t>Planned time (min): —</a:t>
            </a:r>
          </a:p>
          <a:p>
            <a:endParaRPr/>
          </a:p>
          <a:p>
            <a:r>
              <a:t>Script to read:</a:t>
            </a:r>
          </a:p>
          <a:p>
            <a:r>
              <a:t>- Hook: What would make the healthy choice the easy choice for you?</a:t>
            </a:r>
          </a:p>
          <a:p>
            <a:r>
              <a:t>- Core explanation (2–3 sentences): The chapter points to personal habit change, early prevention efforts, and community-level campaigns that adjust norms and barriers. Successful programs align skills with accessible options.</a:t>
            </a:r>
          </a:p>
          <a:p>
            <a:r>
              <a:t>- Example or vignette (1 sentence): A dorm campaign plus easy access to healthy snacks reduces late-night junk food purchases.</a:t>
            </a:r>
          </a:p>
          <a:p>
            <a:r>
              <a:t>- Transfer cue (1 sentence): Pick one strategy and define the first step and setting.</a:t>
            </a:r>
          </a:p>
          <a:p>
            <a:endParaRPr/>
          </a:p>
          <a:p>
            <a:r>
              <a:t>Check for understanding:</a:t>
            </a:r>
          </a:p>
          <a:p>
            <a:r>
              <a:t>- Question: Match each strategy to a concrete example intervention.</a:t>
            </a:r>
          </a:p>
          <a:p>
            <a:r>
              <a:t>- Expected answer: Lifestyle—set a walking schedule; Prevention—refusal-skills training; Campaign—norms feedback with access changes.</a:t>
            </a:r>
          </a:p>
          <a:p>
            <a:r>
              <a:t>- Rationale: Moves from labels to actionable planning.</a:t>
            </a:r>
          </a:p>
          <a:p>
            <a:endParaRPr/>
          </a:p>
          <a:p>
            <a:r>
              <a:t>Reminders:</a:t>
            </a:r>
          </a:p>
          <a:p>
            <a:r>
              <a:t>- Pitfall: Relying on information alone without access or skills</a:t>
            </a:r>
          </a:p>
          <a:p>
            <a:r>
              <a:t>- Tip: Pair behavior prompts with environmental supports</a:t>
            </a:r>
          </a:p>
          <a:p>
            <a:endParaRPr/>
          </a:p>
          <a:p>
            <a:r>
              <a:t>Transitions:</a:t>
            </a:r>
          </a:p>
          <a:p>
            <a:r>
              <a:t>- Coming from: Behavioral risks</a:t>
            </a:r>
          </a:p>
          <a:p>
            <a:r>
              <a:t>- Next: Stress and health</a:t>
            </a:r>
          </a:p>
          <a:p>
            <a:endParaRPr/>
          </a:p>
          <a:p>
            <a:r>
              <a:t>Visuals:</a:t>
            </a:r>
          </a:p>
          <a:p>
            <a:r>
              <a:t>- Alt text: Three-block diagram labeled lifestyle, prevention, campaigns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174</a:t>
            </a:fld>
            <a:endParaRPr lang="en-US"/>
          </a:p>
        </p:txBody>
      </p:sp>
    </p:spTree>
    <p:extLst>
      <p:ext uri="{BB962C8B-B14F-4D97-AF65-F5344CB8AC3E}">
        <p14:creationId xmlns:p14="http://schemas.microsoft.com/office/powerpoint/2010/main" val="1166070704"/>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13.2</a:t>
            </a:r>
          </a:p>
          <a:p>
            <a:r>
              <a:t>Subsection: Stress and Health</a:t>
            </a:r>
          </a:p>
          <a:p>
            <a:r>
              <a:t>LO code: 13.2.1</a:t>
            </a:r>
          </a:p>
          <a:p>
            <a:r>
              <a:t>LO title: Distinguish between two types of stressors: life events and hassles</a:t>
            </a:r>
          </a:p>
          <a:p>
            <a:r>
              <a:t>Planned time (min): —</a:t>
            </a:r>
          </a:p>
          <a:p>
            <a:endParaRPr/>
          </a:p>
          <a:p>
            <a:r>
              <a:t>Script to read:</a:t>
            </a:r>
          </a:p>
          <a:p>
            <a:r>
              <a:t>- Hook: Which do you notice more—big changes or daily friction points?</a:t>
            </a:r>
          </a:p>
          <a:p>
            <a:r>
              <a:t>- Core explanation (2–3 sentences): Both categories matter, but the chapter emphasizes time course: multiple life events increase long-term susceptibility; day-to-day health tracks hassle intensity. Addressing hassle hotspots can yield quick improvements.</a:t>
            </a:r>
          </a:p>
          <a:p>
            <a:r>
              <a:t>- Example or vignette (1 sentence): A semester with stable events but daily hassles leads to sleep problems.</a:t>
            </a:r>
          </a:p>
          <a:p>
            <a:r>
              <a:t>- Transfer cue (1 sentence): Track hassles for a week and note health effects.</a:t>
            </a:r>
          </a:p>
          <a:p>
            <a:endParaRPr/>
          </a:p>
          <a:p>
            <a:r>
              <a:t>Check for understanding:</a:t>
            </a:r>
          </a:p>
          <a:p>
            <a:r>
              <a:t>- Question: Which category better predicts current health and why?</a:t>
            </a:r>
          </a:p>
          <a:p>
            <a:r>
              <a:t>- Expected answer: Hassles, because their intensity and severity relate closely to present functioning.</a:t>
            </a:r>
          </a:p>
          <a:p>
            <a:r>
              <a:t>- Rationale: Targets the chapter’s nuance on time scales.</a:t>
            </a:r>
          </a:p>
          <a:p>
            <a:endParaRPr/>
          </a:p>
          <a:p>
            <a:r>
              <a:t>Reminders:</a:t>
            </a:r>
          </a:p>
          <a:p>
            <a:r>
              <a:t>- Pitfall: Ignoring microstressors because they seem minor</a:t>
            </a:r>
          </a:p>
          <a:p>
            <a:r>
              <a:t>- Tip: Tackle frequent, controllable hassles first</a:t>
            </a:r>
          </a:p>
          <a:p>
            <a:endParaRPr/>
          </a:p>
          <a:p>
            <a:r>
              <a:t>Transitions:</a:t>
            </a:r>
          </a:p>
          <a:p>
            <a:r>
              <a:t>- Coming from: Risk reduction strategies</a:t>
            </a:r>
          </a:p>
          <a:p>
            <a:r>
              <a:t>- Next: Primary and secondary appraisal</a:t>
            </a:r>
          </a:p>
          <a:p>
            <a:endParaRPr/>
          </a:p>
          <a:p>
            <a:r>
              <a:t>Visuals:</a:t>
            </a:r>
          </a:p>
          <a:p>
            <a:r>
              <a:t>- Alt text: Timeline contrasting cumulative life events vs daily hassles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13.2</a:t>
            </a:r>
          </a:p>
          <a:p>
            <a:r>
              <a:t>Subsection: Stress and Health</a:t>
            </a:r>
          </a:p>
          <a:p>
            <a:r>
              <a:t>LO code: 13.2.2</a:t>
            </a:r>
          </a:p>
          <a:p>
            <a:r>
              <a:t>LO title: Differentiate between primary and secondary appraisals, and outline the four factors that guide them</a:t>
            </a:r>
          </a:p>
          <a:p>
            <a:r>
              <a:t>Planned time (min): —</a:t>
            </a:r>
          </a:p>
          <a:p>
            <a:endParaRPr/>
          </a:p>
          <a:p>
            <a:r>
              <a:t>Script to read:</a:t>
            </a:r>
          </a:p>
          <a:p>
            <a:r>
              <a:t>- Hook: Think of a recent stressor—what did you decide first, and what did you decide next?</a:t>
            </a:r>
          </a:p>
          <a:p>
            <a:r>
              <a:t>- Core explanation (2–3 sentences): Appraisal unfolds in two passes. First, we label significance (threat elevates stress). Then we judge our resources and choose coping. Control, competence, unpredictability, and pressure shape both appraisals and can be shifted by planning and support.</a:t>
            </a:r>
          </a:p>
          <a:p>
            <a:r>
              <a:t>- Example or vignette (1 sentence): A pop quiz feels threatening when control and competence feel low and unpredictability is high.</a:t>
            </a:r>
          </a:p>
          <a:p>
            <a:r>
              <a:t>- Transfer cue (1 sentence): Raise perceived control and competence with a quick plan and practice.</a:t>
            </a:r>
          </a:p>
          <a:p>
            <a:endParaRPr/>
          </a:p>
          <a:p>
            <a:r>
              <a:t>Check for understanding:</a:t>
            </a:r>
          </a:p>
          <a:p>
            <a:r>
              <a:t>- Question: List the four factors that guide appraisals and give one example.</a:t>
            </a:r>
          </a:p>
          <a:p>
            <a:r>
              <a:t>- Expected answer: Perceived control, perceived competence, unpredictability, pressure; example: building a study plan increases perceived control.</a:t>
            </a:r>
          </a:p>
          <a:p>
            <a:r>
              <a:t>- Rationale: Ensures recall and application of the drivers.</a:t>
            </a:r>
          </a:p>
          <a:p>
            <a:endParaRPr/>
          </a:p>
          <a:p>
            <a:r>
              <a:t>Reminders:</a:t>
            </a:r>
          </a:p>
          <a:p>
            <a:r>
              <a:t>- Pitfall: Treating appraisals as fixed traits</a:t>
            </a:r>
          </a:p>
          <a:p>
            <a:r>
              <a:t>- Tip: Small wins can shift appraisals quickly</a:t>
            </a:r>
          </a:p>
          <a:p>
            <a:endParaRPr/>
          </a:p>
          <a:p>
            <a:r>
              <a:t>Transitions:</a:t>
            </a:r>
          </a:p>
          <a:p>
            <a:r>
              <a:t>- Coming from: Life events and hassles</a:t>
            </a:r>
          </a:p>
          <a:p>
            <a:r>
              <a:t>- Next: General adaptation syndrome</a:t>
            </a:r>
          </a:p>
          <a:p>
            <a:endParaRPr/>
          </a:p>
          <a:p>
            <a:r>
              <a:t>Visuals:</a:t>
            </a:r>
          </a:p>
          <a:p>
            <a:r>
              <a:t>- Alt text: Two-stage appraisal flow with four influencing factors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13.2</a:t>
            </a:r>
          </a:p>
          <a:p>
            <a:r>
              <a:t>Subsection: Stress and Health</a:t>
            </a:r>
          </a:p>
          <a:p>
            <a:r>
              <a:t>LO code: 13.2.3</a:t>
            </a:r>
          </a:p>
          <a:p>
            <a:r>
              <a:t>LO title: Describe the three stages of general adaptation syndrome</a:t>
            </a:r>
          </a:p>
          <a:p>
            <a:r>
              <a:t>Planned time (min): —</a:t>
            </a:r>
          </a:p>
          <a:p>
            <a:endParaRPr/>
          </a:p>
          <a:p>
            <a:r>
              <a:t>Script to read:</a:t>
            </a:r>
          </a:p>
          <a:p>
            <a:r>
              <a:t>- Hook: How does your body feel in the first minute of a shock vs week three?</a:t>
            </a:r>
          </a:p>
          <a:p>
            <a:r>
              <a:t>- Core explanation (2–3 sentences): Alarm mobilizes immediate resources; resistance sustains high demand; exhaustion reflects depleted reserves. Prolonged activation increases risk for psychosomatic disorders.</a:t>
            </a:r>
          </a:p>
          <a:p>
            <a:r>
              <a:t>- Example or vignette (1 sentence): Extended exam stress moves from alertness to fatigue and irritability.</a:t>
            </a:r>
          </a:p>
          <a:p>
            <a:r>
              <a:t>- Transfer cue (1 sentence): Plan recovery before resistance turns into exhaustion.</a:t>
            </a:r>
          </a:p>
          <a:p>
            <a:endParaRPr/>
          </a:p>
          <a:p>
            <a:r>
              <a:t>Check for understanding:</a:t>
            </a:r>
          </a:p>
          <a:p>
            <a:r>
              <a:t>- Question: Name the stages and one characteristic of each.</a:t>
            </a:r>
          </a:p>
          <a:p>
            <a:r>
              <a:t>- Expected answer: Alarm—initial mobilization; Resistance—sustained effort; Exhaustion—resources depleted.</a:t>
            </a:r>
          </a:p>
          <a:p>
            <a:r>
              <a:t>- Rationale: Confirms stage knowledge and implications.</a:t>
            </a:r>
          </a:p>
          <a:p>
            <a:endParaRPr/>
          </a:p>
          <a:p>
            <a:r>
              <a:t>Reminders:</a:t>
            </a:r>
          </a:p>
          <a:p>
            <a:r>
              <a:t>- Pitfall: Assuming resistance can be sustained without cost</a:t>
            </a:r>
          </a:p>
          <a:p>
            <a:r>
              <a:t>- Tip: Schedule recovery like any other task</a:t>
            </a:r>
          </a:p>
          <a:p>
            <a:endParaRPr/>
          </a:p>
          <a:p>
            <a:r>
              <a:t>Transitions:</a:t>
            </a:r>
          </a:p>
          <a:p>
            <a:r>
              <a:t>- Coming from: Appraisals</a:t>
            </a:r>
          </a:p>
          <a:p>
            <a:r>
              <a:t>- Next: Consequences of prolonged stress</a:t>
            </a:r>
          </a:p>
          <a:p>
            <a:endParaRPr/>
          </a:p>
          <a:p>
            <a:r>
              <a:t>Visuals:</a:t>
            </a:r>
          </a:p>
          <a:p>
            <a:r>
              <a:t>- Alt text: Three-phase stress curve labeled alarm, resistance, exhaustion</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13.2</a:t>
            </a:r>
          </a:p>
          <a:p>
            <a:r>
              <a:t>Subsection: Stress and Health</a:t>
            </a:r>
          </a:p>
          <a:p>
            <a:r>
              <a:t>LO code: 13.2.4</a:t>
            </a:r>
          </a:p>
          <a:p>
            <a:r>
              <a:t>LO title: Describe three consequences of prolonged stress</a:t>
            </a:r>
          </a:p>
          <a:p>
            <a:r>
              <a:t>Planned time (min): —</a:t>
            </a:r>
          </a:p>
          <a:p>
            <a:endParaRPr/>
          </a:p>
          <a:p>
            <a:r>
              <a:t>Script to read:</a:t>
            </a:r>
          </a:p>
          <a:p>
            <a:r>
              <a:t>- Hook: What does stress do first to your body, then to your motivation?</a:t>
            </a:r>
          </a:p>
          <a:p>
            <a:r>
              <a:t>- Core explanation (2–3 sentences): The chapter lists three broad outcomes—bodily impact via psychosomatic pathways, learned helplessness from uncontrollable strain, and burnout from chronic demand. Early signs allow earlier intervention.</a:t>
            </a:r>
          </a:p>
          <a:p>
            <a:r>
              <a:t>- Example or vignette (1 sentence): A caregiver develops sleep problems and detachment after months without relief.</a:t>
            </a:r>
          </a:p>
          <a:p>
            <a:r>
              <a:t>- Transfer cue (1 sentence): Identify which consequence you see early signs of and act.</a:t>
            </a:r>
          </a:p>
          <a:p>
            <a:endParaRPr/>
          </a:p>
          <a:p>
            <a:r>
              <a:t>Check for understanding:</a:t>
            </a:r>
          </a:p>
          <a:p>
            <a:r>
              <a:t>- Question: Match each consequence to an early warning sign.</a:t>
            </a:r>
          </a:p>
          <a:p>
            <a:r>
              <a:t>- Expected answer: Illness—frequent headaches; Helplessness—giving up; Burnout—cynicism and fatigue.</a:t>
            </a:r>
          </a:p>
          <a:p>
            <a:r>
              <a:t>- Rationale: Links labels to practical detection.</a:t>
            </a:r>
          </a:p>
          <a:p>
            <a:endParaRPr/>
          </a:p>
          <a:p>
            <a:r>
              <a:t>Reminders:</a:t>
            </a:r>
          </a:p>
          <a:p>
            <a:r>
              <a:t>- Pitfall: Waiting for exhaustion before intervening</a:t>
            </a:r>
          </a:p>
          <a:p>
            <a:r>
              <a:t>- Tip: Rotate duties and add supports early</a:t>
            </a:r>
          </a:p>
          <a:p>
            <a:endParaRPr/>
          </a:p>
          <a:p>
            <a:r>
              <a:t>Transitions:</a:t>
            </a:r>
          </a:p>
          <a:p>
            <a:r>
              <a:t>- Coming from: GAS stages</a:t>
            </a:r>
          </a:p>
          <a:p>
            <a:r>
              <a:t>- Next: Improving health with treatment</a:t>
            </a:r>
          </a:p>
          <a:p>
            <a:endParaRPr/>
          </a:p>
          <a:p>
            <a:r>
              <a:t>Visuals:</a:t>
            </a:r>
          </a:p>
          <a:p>
            <a:r>
              <a:t>- Alt text: Three icons for body, motivation, and performance degradation</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179</a:t>
            </a:fld>
            <a:endParaRPr lang="en-US"/>
          </a:p>
        </p:txBody>
      </p:sp>
    </p:spTree>
    <p:extLst>
      <p:ext uri="{BB962C8B-B14F-4D97-AF65-F5344CB8AC3E}">
        <p14:creationId xmlns:p14="http://schemas.microsoft.com/office/powerpoint/2010/main" val="413606788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13.3</a:t>
            </a:r>
          </a:p>
          <a:p>
            <a:r>
              <a:t>Subsection: Improving Health with Treatment</a:t>
            </a:r>
          </a:p>
          <a:p>
            <a:r>
              <a:t>LO code: 13.3.1</a:t>
            </a:r>
          </a:p>
          <a:p>
            <a:r>
              <a:t>LO title: Outline the main features of somatic symptom disorder</a:t>
            </a:r>
          </a:p>
          <a:p>
            <a:r>
              <a:t>Planned time (min): —</a:t>
            </a:r>
          </a:p>
          <a:p>
            <a:endParaRPr/>
          </a:p>
          <a:p>
            <a:r>
              <a:t>Script to read:</a:t>
            </a:r>
          </a:p>
          <a:p>
            <a:r>
              <a:t>- Hook: When do normal sensations feel alarming?</a:t>
            </a:r>
          </a:p>
          <a:p>
            <a:r>
              <a:t>- Core explanation (2–3 sentences): The chapter frames this disorder as anxiety expressed through beliefs about bodily illness rather than malingering. Patients experience genuine distress and need validation alongside appropriate evaluation.</a:t>
            </a:r>
          </a:p>
          <a:p>
            <a:r>
              <a:t>- Example or vignette (1 sentence): Recurrent clinic visits despite negative tests.</a:t>
            </a:r>
          </a:p>
          <a:p>
            <a:r>
              <a:t>- Transfer cue (1 sentence): Validate distress while guiding structured follow-up.</a:t>
            </a:r>
          </a:p>
          <a:p>
            <a:endParaRPr/>
          </a:p>
          <a:p>
            <a:r>
              <a:t>Check for understanding:</a:t>
            </a:r>
          </a:p>
          <a:p>
            <a:r>
              <a:t>- Question: What core process underlies somatic symptom disorder?</a:t>
            </a:r>
          </a:p>
          <a:p>
            <a:r>
              <a:t>- Expected answer: Anxiety expressed as belief in physical illness.</a:t>
            </a:r>
          </a:p>
          <a:p>
            <a:r>
              <a:t>- Rationale: Focuses on mechanism as described.</a:t>
            </a:r>
          </a:p>
          <a:p>
            <a:endParaRPr/>
          </a:p>
          <a:p>
            <a:r>
              <a:t>Reminders:</a:t>
            </a:r>
          </a:p>
          <a:p>
            <a:r>
              <a:t>- Pitfall: Dismissing concerns as “all in your head”</a:t>
            </a:r>
          </a:p>
          <a:p>
            <a:r>
              <a:t>- Tip: Pair reassurance with scheduled checkpoints</a:t>
            </a:r>
          </a:p>
          <a:p>
            <a:endParaRPr/>
          </a:p>
          <a:p>
            <a:r>
              <a:t>Transitions:</a:t>
            </a:r>
          </a:p>
          <a:p>
            <a:r>
              <a:t>- Coming from: Consequences of prolonged stress</a:t>
            </a:r>
          </a:p>
          <a:p>
            <a:r>
              <a:t>- Next: Recognizing illness—bio, psych, social factors</a:t>
            </a:r>
          </a:p>
          <a:p>
            <a:endParaRPr/>
          </a:p>
          <a:p>
            <a:r>
              <a:t>Visuals:</a:t>
            </a:r>
          </a:p>
          <a:p>
            <a:r>
              <a:t>- Alt text: Diagram showing anxiety feeding into illness belief</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13.3</a:t>
            </a:r>
          </a:p>
          <a:p>
            <a:r>
              <a:t>Subsection: Improving Health with Treatment</a:t>
            </a:r>
          </a:p>
          <a:p>
            <a:r>
              <a:t>LO code: 13.3.2</a:t>
            </a:r>
          </a:p>
          <a:p>
            <a:r>
              <a:t>LO title: Describe how biological, psychological, and social factors contribute to our ability to recognize illness</a:t>
            </a:r>
          </a:p>
          <a:p>
            <a:r>
              <a:t>Planned time (min): —</a:t>
            </a:r>
          </a:p>
          <a:p>
            <a:endParaRPr/>
          </a:p>
          <a:p>
            <a:r>
              <a:t>Script to read:</a:t>
            </a:r>
          </a:p>
          <a:p>
            <a:r>
              <a:t>- Hook: Who do you ask first when you feel off—family, friends, or search?</a:t>
            </a:r>
          </a:p>
          <a:p>
            <a:r>
              <a:t>- Core explanation (2–3 sentences): Recognition depends on bodily salience and pain, individual tendencies and mood, and social advice channels. Each can amplify or minimize concern and influence timing.</a:t>
            </a:r>
          </a:p>
          <a:p>
            <a:r>
              <a:t>- Example or vignette (1 sentence): A friend group normalizes chest discomfort as “stress,” delaying care.</a:t>
            </a:r>
          </a:p>
          <a:p>
            <a:r>
              <a:t>- Transfer cue (1 sentence): Check each domain before concluding.</a:t>
            </a:r>
          </a:p>
          <a:p>
            <a:endParaRPr/>
          </a:p>
          <a:p>
            <a:r>
              <a:t>Check for understanding:</a:t>
            </a:r>
          </a:p>
          <a:p>
            <a:r>
              <a:t>- Question: Give one factor from each domain that affects illness recognition.</a:t>
            </a:r>
          </a:p>
          <a:p>
            <a:r>
              <a:t>- Expected answer: Biological—pain; Psychological—neuroticism; Social—online search or friend advice.</a:t>
            </a:r>
          </a:p>
          <a:p>
            <a:r>
              <a:t>- Rationale: Reinforces tri-domain scan.</a:t>
            </a:r>
          </a:p>
          <a:p>
            <a:endParaRPr/>
          </a:p>
          <a:p>
            <a:r>
              <a:t>Reminders:</a:t>
            </a:r>
          </a:p>
          <a:p>
            <a:r>
              <a:t>- Pitfall: Over-relying on online information without evaluation</a:t>
            </a:r>
          </a:p>
          <a:p>
            <a:r>
              <a:t>- Tip: Encourage reputable sources and timely professional input</a:t>
            </a:r>
          </a:p>
          <a:p>
            <a:endParaRPr/>
          </a:p>
          <a:p>
            <a:r>
              <a:t>Transitions:</a:t>
            </a:r>
          </a:p>
          <a:p>
            <a:r>
              <a:t>- Coming from: Somatic symptom disorder</a:t>
            </a:r>
          </a:p>
          <a:p>
            <a:r>
              <a:t>- Next: Factors influencing decisions to seek treatment</a:t>
            </a:r>
          </a:p>
          <a:p>
            <a:endParaRPr/>
          </a:p>
          <a:p>
            <a:r>
              <a:t>Visuals:</a:t>
            </a:r>
          </a:p>
          <a:p>
            <a:r>
              <a:t>- Alt text: Three arrows converging on “recognize and act”</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13.3</a:t>
            </a:r>
          </a:p>
          <a:p>
            <a:r>
              <a:t>Subsection: Improving Health with Treatment</a:t>
            </a:r>
          </a:p>
          <a:p>
            <a:r>
              <a:t>LO code: 13.3.3</a:t>
            </a:r>
          </a:p>
          <a:p>
            <a:r>
              <a:t>LO title: Outline four factors that influence people’s decision to seek treatment</a:t>
            </a:r>
          </a:p>
          <a:p>
            <a:r>
              <a:t>Planned time (min): —</a:t>
            </a:r>
          </a:p>
          <a:p>
            <a:endParaRPr/>
          </a:p>
          <a:p>
            <a:r>
              <a:t>Script to read:</a:t>
            </a:r>
          </a:p>
          <a:p>
            <a:r>
              <a:t>- Hook: Which factor most strongly affects access where you live?</a:t>
            </a:r>
          </a:p>
          <a:p>
            <a:r>
              <a:t>- Core explanation (2–3 sentences): The chapter highlights four demographic and cultural parameters that systematically affect help-seeking. Recognizing these differences improves outreach and care planning.</a:t>
            </a:r>
          </a:p>
          <a:p>
            <a:r>
              <a:t>- Example or vignette (1 sentence): Income and culture affect whether someone uses urgent care vs primary care.</a:t>
            </a:r>
          </a:p>
          <a:p>
            <a:r>
              <a:t>- Transfer cue (1 sentence): Consider these factors when planning communication and services.</a:t>
            </a:r>
          </a:p>
          <a:p>
            <a:endParaRPr/>
          </a:p>
          <a:p>
            <a:r>
              <a:t>Check for understanding:</a:t>
            </a:r>
          </a:p>
          <a:p>
            <a:r>
              <a:t>- Question: List the four factors and describe how one might affect help-seeking.</a:t>
            </a:r>
          </a:p>
          <a:p>
            <a:r>
              <a:t>- Expected answer: Sex, income, age, culture; example: lower income reduces preventive visits.</a:t>
            </a:r>
          </a:p>
          <a:p>
            <a:r>
              <a:t>- Rationale: Connects enumeration to mechanism.</a:t>
            </a:r>
          </a:p>
          <a:p>
            <a:endParaRPr/>
          </a:p>
          <a:p>
            <a:r>
              <a:t>Reminders:</a:t>
            </a:r>
          </a:p>
          <a:p>
            <a:r>
              <a:t>- Pitfall: Assuming equal access or identical preferences</a:t>
            </a:r>
          </a:p>
          <a:p>
            <a:r>
              <a:t>- Tip: Tailor communication to the audience</a:t>
            </a:r>
          </a:p>
          <a:p>
            <a:endParaRPr/>
          </a:p>
          <a:p>
            <a:r>
              <a:t>Transitions:</a:t>
            </a:r>
          </a:p>
          <a:p>
            <a:r>
              <a:t>- Coming from: Illness recognition factors</a:t>
            </a:r>
          </a:p>
          <a:p>
            <a:r>
              <a:t>- Next: Complementary and alternative medicine</a:t>
            </a:r>
          </a:p>
          <a:p>
            <a:endParaRPr/>
          </a:p>
          <a:p>
            <a:r>
              <a:t>Visuals:</a:t>
            </a:r>
          </a:p>
          <a:p>
            <a:r>
              <a:t>- Alt text: Four icons representing the influences on help-seeking</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13.3</a:t>
            </a:r>
          </a:p>
          <a:p>
            <a:r>
              <a:t>Subsection: Improving Health with Treatment</a:t>
            </a:r>
          </a:p>
          <a:p>
            <a:r>
              <a:t>LO code: 13.3.4</a:t>
            </a:r>
          </a:p>
          <a:p>
            <a:r>
              <a:t>LO title: Define what is meant by the term complementary and alternative medicine, and outline one main concern associated with this type of treatment</a:t>
            </a:r>
          </a:p>
          <a:p>
            <a:r>
              <a:t>Planned time (min): —</a:t>
            </a:r>
          </a:p>
          <a:p>
            <a:endParaRPr/>
          </a:p>
          <a:p>
            <a:r>
              <a:t>Script to read:</a:t>
            </a:r>
          </a:p>
          <a:p>
            <a:r>
              <a:t>- Hook: Which CAM practice do you hear about most?</a:t>
            </a:r>
          </a:p>
          <a:p>
            <a:r>
              <a:t>- Core explanation (2–3 sentences): The chapter defines CAM and lists common practices, emphasizing the evidence gap as a core caution. Integration with conventional care should be guided by safety and monitoring.</a:t>
            </a:r>
          </a:p>
          <a:p>
            <a:r>
              <a:t>- Example or vignette (1 sentence): A patient adds yoga for back pain alongside standard care.</a:t>
            </a:r>
          </a:p>
          <a:p>
            <a:r>
              <a:t>- Transfer cue (1 sentence): Ask what the evidence says and how it fits with current treatment.</a:t>
            </a:r>
          </a:p>
          <a:p>
            <a:endParaRPr/>
          </a:p>
          <a:p>
            <a:r>
              <a:t>Check for understanding:</a:t>
            </a:r>
          </a:p>
          <a:p>
            <a:r>
              <a:t>- Question: State the chapter’s primary concern about CAM.</a:t>
            </a:r>
          </a:p>
          <a:p>
            <a:r>
              <a:t>- Expected answer: Lack of good research evaluating effectiveness.</a:t>
            </a:r>
          </a:p>
          <a:p>
            <a:r>
              <a:t>- Rationale: Keeps focus on evidence standards.</a:t>
            </a:r>
          </a:p>
          <a:p>
            <a:endParaRPr/>
          </a:p>
          <a:p>
            <a:r>
              <a:t>Reminders:</a:t>
            </a:r>
          </a:p>
          <a:p>
            <a:r>
              <a:t>- Pitfall: Dismissing patient interest without discussion</a:t>
            </a:r>
          </a:p>
          <a:p>
            <a:r>
              <a:t>- Tip: Explore safe integration and set monitoring points</a:t>
            </a:r>
          </a:p>
          <a:p>
            <a:endParaRPr/>
          </a:p>
          <a:p>
            <a:r>
              <a:t>Transitions:</a:t>
            </a:r>
          </a:p>
          <a:p>
            <a:r>
              <a:t>- Coming from: Help-seeking factors</a:t>
            </a:r>
          </a:p>
          <a:p>
            <a:r>
              <a:t>- Next: Treatment adherence and noncompliance</a:t>
            </a:r>
          </a:p>
          <a:p>
            <a:endParaRPr/>
          </a:p>
          <a:p>
            <a:r>
              <a:t>Visuals:</a:t>
            </a:r>
          </a:p>
          <a:p>
            <a:r>
              <a:t>- Alt text: Spectrum from conventional care to CAM with overlap</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13.3</a:t>
            </a:r>
          </a:p>
          <a:p>
            <a:r>
              <a:t>Subsection: Improving Health with Treatment</a:t>
            </a:r>
          </a:p>
          <a:p>
            <a:r>
              <a:t>LO code: 13.3.5</a:t>
            </a:r>
          </a:p>
          <a:p>
            <a:r>
              <a:t>LO title: Identify the forms that treatment noncompliance can take, describe four factors that contribute to treatment noncompliance, and outline the key to minimizing treatment noncompliance</a:t>
            </a:r>
          </a:p>
          <a:p>
            <a:r>
              <a:t>Planned time (min): —</a:t>
            </a:r>
          </a:p>
          <a:p>
            <a:endParaRPr/>
          </a:p>
          <a:p>
            <a:r>
              <a:t>Script to read:</a:t>
            </a:r>
          </a:p>
          <a:p>
            <a:r>
              <a:t>- Hook: When have you seen a plan fail because of misunderstanding rather than refusal?</a:t>
            </a:r>
          </a:p>
          <a:p>
            <a:r>
              <a:t>- Core explanation (2–3 sentences): The chapter specifies failure modes, contributors, and the central remedy—relationship-centered communication that checks understanding and motivation. Teach-back and plain language reduce errors.</a:t>
            </a:r>
          </a:p>
          <a:p>
            <a:r>
              <a:t>- Example or vignette (1 sentence): Teach-back reveals a dosing misunderstanding that would have led to failure.</a:t>
            </a:r>
          </a:p>
          <a:p>
            <a:r>
              <a:t>- Transfer cue (1 sentence): Add a comprehension check to your standard close-out.</a:t>
            </a:r>
          </a:p>
          <a:p>
            <a:endParaRPr/>
          </a:p>
          <a:p>
            <a:r>
              <a:t>Check for understanding:</a:t>
            </a:r>
          </a:p>
          <a:p>
            <a:r>
              <a:t>- Question: Name two forms of noncompliance and one contributing factor you can address.</a:t>
            </a:r>
          </a:p>
          <a:p>
            <a:r>
              <a:t>- Expected answer: Any two forms; a factor such as relationship quality that can be improved with communication.</a:t>
            </a:r>
          </a:p>
          <a:p>
            <a:r>
              <a:t>- Rationale: Moves from identification to intervention.</a:t>
            </a:r>
          </a:p>
          <a:p>
            <a:endParaRPr/>
          </a:p>
          <a:p>
            <a:r>
              <a:t>Reminders:</a:t>
            </a:r>
          </a:p>
          <a:p>
            <a:r>
              <a:t>- Pitfall: Assuming noncompliance equals defiance</a:t>
            </a:r>
          </a:p>
          <a:p>
            <a:r>
              <a:t>- Tip: Use concrete next steps and specific follow-up</a:t>
            </a:r>
          </a:p>
          <a:p>
            <a:endParaRPr/>
          </a:p>
          <a:p>
            <a:r>
              <a:t>Transitions:</a:t>
            </a:r>
          </a:p>
          <a:p>
            <a:r>
              <a:t>- Coming from: CAM</a:t>
            </a:r>
          </a:p>
          <a:p>
            <a:r>
              <a:t>- Next: Coping approaches</a:t>
            </a:r>
          </a:p>
          <a:p>
            <a:endParaRPr/>
          </a:p>
          <a:p>
            <a:r>
              <a:t>Visuals:</a:t>
            </a:r>
          </a:p>
          <a:p>
            <a:r>
              <a:t>- Alt text: Funnel from plan to execution with checkpoints for understanding and trust</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185</a:t>
            </a:fld>
            <a:endParaRPr lang="en-US"/>
          </a:p>
        </p:txBody>
      </p:sp>
    </p:spTree>
    <p:extLst>
      <p:ext uri="{BB962C8B-B14F-4D97-AF65-F5344CB8AC3E}">
        <p14:creationId xmlns:p14="http://schemas.microsoft.com/office/powerpoint/2010/main" val="134063551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13.4</a:t>
            </a:r>
          </a:p>
          <a:p>
            <a:r>
              <a:t>Subsection: Improving Health Through Coping</a:t>
            </a:r>
          </a:p>
          <a:p>
            <a:r>
              <a:t>LO code: 13.4.1</a:t>
            </a:r>
          </a:p>
          <a:p>
            <a:r>
              <a:t>LO title: Distinguish between problem-focused, emotion-focused, and relationship-focused coping</a:t>
            </a:r>
          </a:p>
          <a:p>
            <a:r>
              <a:t>Planned time (min): —</a:t>
            </a:r>
          </a:p>
          <a:p>
            <a:endParaRPr/>
          </a:p>
          <a:p>
            <a:r>
              <a:t>Script to read:</a:t>
            </a:r>
          </a:p>
          <a:p>
            <a:r>
              <a:t>- Hook: Which coping family do you default to under pressure?</a:t>
            </a:r>
          </a:p>
          <a:p>
            <a:r>
              <a:t>- Core explanation (2–3 sentences): The chapter sorts strategies into three classes; defense mechanisms sit within emotion-focused strategies. Coping selection depends on controllability and goals.</a:t>
            </a:r>
          </a:p>
          <a:p>
            <a:r>
              <a:t>- Example or vignette (1 sentence): A student plans a study schedule (problem-focused), reframes worry (emotion-focused), and asks a friend for help (relationship-focused).</a:t>
            </a:r>
          </a:p>
          <a:p>
            <a:r>
              <a:t>- Transfer cue (1 sentence): Choose a primary family for your current stressor and one backup.</a:t>
            </a:r>
          </a:p>
          <a:p>
            <a:endParaRPr/>
          </a:p>
          <a:p>
            <a:r>
              <a:t>Check for understanding:</a:t>
            </a:r>
          </a:p>
          <a:p>
            <a:r>
              <a:t>- Question: Place “reappraisal,” “time-blocking,” and “seeking advice” into the correct families.</a:t>
            </a:r>
          </a:p>
          <a:p>
            <a:r>
              <a:t>- Expected answer: Emotion-focused, problem-focused, relationship-focused.</a:t>
            </a:r>
          </a:p>
          <a:p>
            <a:r>
              <a:t>- Rationale: Tests discrimination among the three categories.</a:t>
            </a:r>
          </a:p>
          <a:p>
            <a:endParaRPr/>
          </a:p>
          <a:p>
            <a:r>
              <a:t>Reminders:</a:t>
            </a:r>
          </a:p>
          <a:p>
            <a:r>
              <a:t>- Pitfall: Using only one family regardless of context</a:t>
            </a:r>
          </a:p>
          <a:p>
            <a:r>
              <a:t>- Tip: Match coping to controllability and relationship goals</a:t>
            </a:r>
          </a:p>
          <a:p>
            <a:endParaRPr/>
          </a:p>
          <a:p>
            <a:r>
              <a:t>Transitions:</a:t>
            </a:r>
          </a:p>
          <a:p>
            <a:r>
              <a:t>- Coming from: Treatment adherence</a:t>
            </a:r>
          </a:p>
          <a:p>
            <a:r>
              <a:t>- Next: Traumatic stress</a:t>
            </a:r>
          </a:p>
          <a:p>
            <a:endParaRPr/>
          </a:p>
          <a:p>
            <a:r>
              <a:t>Visuals:</a:t>
            </a:r>
          </a:p>
          <a:p>
            <a:r>
              <a:t>- Alt text: Triangle labeled problem, emotion, relationship coping with examples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13.4</a:t>
            </a:r>
          </a:p>
          <a:p>
            <a:r>
              <a:t>Subsection: Improving Health Through Coping</a:t>
            </a:r>
          </a:p>
          <a:p>
            <a:r>
              <a:t>LO code: 13.4.2</a:t>
            </a:r>
          </a:p>
          <a:p>
            <a:r>
              <a:t>LO title: Explain the effects of traumatic stress, and some strategies for coping with it</a:t>
            </a:r>
          </a:p>
          <a:p>
            <a:r>
              <a:t>Planned time (min): —</a:t>
            </a:r>
          </a:p>
          <a:p>
            <a:endParaRPr/>
          </a:p>
          <a:p>
            <a:r>
              <a:t>Script to read:</a:t>
            </a:r>
          </a:p>
          <a:p>
            <a:r>
              <a:t>- Hook: What is one small activity that reliably grounds you after a shock?</a:t>
            </a:r>
          </a:p>
          <a:p>
            <a:r>
              <a:t>- Core explanation (2–3 sentences): Traumatic stress hits body and mind; the chapter recommends blending coping families—connection, activity, and patience. Recovery proceeds in steps, not all at once.</a:t>
            </a:r>
          </a:p>
          <a:p>
            <a:r>
              <a:t>- Example or vignette (1 sentence): After a car accident, a student keeps medical follow-ups, meets weekly with a counselor, and resumes a calming hobby.</a:t>
            </a:r>
          </a:p>
          <a:p>
            <a:r>
              <a:t>- Transfer cue (1 sentence): Identify one support person and one activity you will use.</a:t>
            </a:r>
          </a:p>
          <a:p>
            <a:endParaRPr/>
          </a:p>
          <a:p>
            <a:r>
              <a:t>Check for understanding:</a:t>
            </a:r>
          </a:p>
          <a:p>
            <a:r>
              <a:t>- Question: Name one physical effect and one coping step from the chapter.</a:t>
            </a:r>
          </a:p>
          <a:p>
            <a:r>
              <a:t>- Expected answer: Hypertension; talk to others or re-engage in enjoyable activities.</a:t>
            </a:r>
          </a:p>
          <a:p>
            <a:r>
              <a:t>- Rationale: Ensures recall of both impact and action.</a:t>
            </a:r>
          </a:p>
          <a:p>
            <a:endParaRPr/>
          </a:p>
          <a:p>
            <a:r>
              <a:t>Reminders:</a:t>
            </a:r>
          </a:p>
          <a:p>
            <a:r>
              <a:t>- Pitfall: Expecting immediate resolution</a:t>
            </a:r>
          </a:p>
          <a:p>
            <a:r>
              <a:t>- Tip: Normalize time-to-heal and stepwise recovery</a:t>
            </a:r>
          </a:p>
          <a:p>
            <a:endParaRPr/>
          </a:p>
          <a:p>
            <a:r>
              <a:t>Transitions:</a:t>
            </a:r>
          </a:p>
          <a:p>
            <a:r>
              <a:t>- Coming from: Coping families</a:t>
            </a:r>
          </a:p>
          <a:p>
            <a:r>
              <a:t>- Next: Acculturative stress patterns</a:t>
            </a:r>
          </a:p>
          <a:p>
            <a:endParaRPr/>
          </a:p>
          <a:p>
            <a:r>
              <a:t>Visuals:</a:t>
            </a:r>
          </a:p>
          <a:p>
            <a:r>
              <a:t>- Alt text: Two columns labeled effects and coping actions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13.4</a:t>
            </a:r>
          </a:p>
          <a:p>
            <a:r>
              <a:t>Subsection: Improving Health Through Coping</a:t>
            </a:r>
          </a:p>
          <a:p>
            <a:r>
              <a:t>LO code: 13.4.3</a:t>
            </a:r>
          </a:p>
          <a:p>
            <a:r>
              <a:t>LO title: Identify the four main patterns of coping with acculturation, and the level of acculturative stress associated with each one</a:t>
            </a:r>
          </a:p>
          <a:p>
            <a:r>
              <a:t>Planned time (min): —</a:t>
            </a:r>
          </a:p>
          <a:p>
            <a:endParaRPr/>
          </a:p>
          <a:p>
            <a:r>
              <a:t>Script to read:</a:t>
            </a:r>
          </a:p>
          <a:p>
            <a:r>
              <a:t>- Hook: Which pattern do you see most among new arrivals to campus?</a:t>
            </a:r>
          </a:p>
          <a:p>
            <a:r>
              <a:t>- Core explanation (2–3 sentences): The chapter names four patterns and associates each with a typical stress level. Integration tends to reduce stress by maintaining ties to both cultures.</a:t>
            </a:r>
          </a:p>
          <a:p>
            <a:r>
              <a:t>- Example or vignette (1 sentence): A student club supports integration by celebrating heritage and building campus ties.</a:t>
            </a:r>
          </a:p>
          <a:p>
            <a:r>
              <a:t>- Transfer cue (1 sentence): Identify one campus practice that shifts people toward integration.</a:t>
            </a:r>
          </a:p>
          <a:p>
            <a:endParaRPr/>
          </a:p>
          <a:p>
            <a:r>
              <a:t>Check for understanding:</a:t>
            </a:r>
          </a:p>
          <a:p>
            <a:r>
              <a:t>- Question: Which two patterns carry the highest stress and why?</a:t>
            </a:r>
          </a:p>
          <a:p>
            <a:r>
              <a:t>- Expected answer: Separation and marginalization; both reduce connection with the host context.</a:t>
            </a:r>
          </a:p>
          <a:p>
            <a:r>
              <a:t>- Rationale: Links pattern labels to stress consequences.</a:t>
            </a:r>
          </a:p>
          <a:p>
            <a:endParaRPr/>
          </a:p>
          <a:p>
            <a:r>
              <a:t>Reminders:</a:t>
            </a:r>
          </a:p>
          <a:p>
            <a:r>
              <a:t>- Pitfall: Assuming one-size-fits-all adaptation</a:t>
            </a:r>
          </a:p>
          <a:p>
            <a:r>
              <a:t>- Tip: Support bilingual and bicultural identities where possible</a:t>
            </a:r>
          </a:p>
          <a:p>
            <a:endParaRPr/>
          </a:p>
          <a:p>
            <a:r>
              <a:t>Transitions:</a:t>
            </a:r>
          </a:p>
          <a:p>
            <a:r>
              <a:t>- Coming from: Traumatic stress coping</a:t>
            </a:r>
          </a:p>
          <a:p>
            <a:r>
              <a:t>- Next: College blues</a:t>
            </a:r>
          </a:p>
          <a:p>
            <a:endParaRPr/>
          </a:p>
          <a:p>
            <a:r>
              <a:t>Visuals:</a:t>
            </a:r>
          </a:p>
          <a:p>
            <a:r>
              <a:t>- Alt text: Matrix showing patterns by heritage and host culture connection</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13.4</a:t>
            </a:r>
          </a:p>
          <a:p>
            <a:r>
              <a:t>Subsection: Improving Health Through Coping</a:t>
            </a:r>
          </a:p>
          <a:p>
            <a:r>
              <a:t>LO code: 13.4.4</a:t>
            </a:r>
          </a:p>
          <a:p>
            <a:r>
              <a:t>LO title: Describe some of the factors that contribute to the “college blues,” and some strategies for coping with this problem</a:t>
            </a:r>
          </a:p>
          <a:p>
            <a:r>
              <a:t>Planned time (min): —</a:t>
            </a:r>
          </a:p>
          <a:p>
            <a:endParaRPr/>
          </a:p>
          <a:p>
            <a:r>
              <a:t>Script to read:</a:t>
            </a:r>
          </a:p>
          <a:p>
            <a:r>
              <a:t>- Hook: Which contributor shows up first when the term gets busy?</a:t>
            </a:r>
          </a:p>
          <a:p>
            <a:r>
              <a:t>- Core explanation (2–3 sentences): The chapter frames the blues as common and manageable with structured work habits, cognitive strategies, and social support. Small, consistent actions matter more than one-time efforts.</a:t>
            </a:r>
          </a:p>
          <a:p>
            <a:r>
              <a:t>- Example or vignette (1 sentence): A weekly study plan plus counseling reduces overwhelm and improves mood.</a:t>
            </a:r>
          </a:p>
          <a:p>
            <a:r>
              <a:t>- Transfer cue (1 sentence): Pick one action from each coping family to try this week.</a:t>
            </a:r>
          </a:p>
          <a:p>
            <a:endParaRPr/>
          </a:p>
          <a:p>
            <a:r>
              <a:t>Check for understanding:</a:t>
            </a:r>
          </a:p>
          <a:p>
            <a:r>
              <a:t>- Question: Name one contributor and one matching coping step.</a:t>
            </a:r>
          </a:p>
          <a:p>
            <a:r>
              <a:t>- Expected answer: Grades—build a schedule; Isolation—join a study group; Self-criticism—challenge negative thoughts.</a:t>
            </a:r>
          </a:p>
          <a:p>
            <a:r>
              <a:t>- Rationale: Connects problems to actions.</a:t>
            </a:r>
          </a:p>
          <a:p>
            <a:endParaRPr/>
          </a:p>
          <a:p>
            <a:r>
              <a:t>Reminders:</a:t>
            </a:r>
          </a:p>
          <a:p>
            <a:r>
              <a:t>- Pitfall: Waiting until crisis to seek support</a:t>
            </a:r>
          </a:p>
          <a:p>
            <a:r>
              <a:t>- Tip: Normalize brief check-ins with counseling services</a:t>
            </a:r>
          </a:p>
          <a:p>
            <a:endParaRPr/>
          </a:p>
          <a:p>
            <a:r>
              <a:t>Transitions:</a:t>
            </a:r>
          </a:p>
          <a:p>
            <a:r>
              <a:t>- Coming from: Acculturation patterns</a:t>
            </a:r>
          </a:p>
          <a:p>
            <a:r>
              <a:t>- Next: Psychology and your skill set—stress management</a:t>
            </a:r>
          </a:p>
          <a:p>
            <a:endParaRPr/>
          </a:p>
          <a:p>
            <a:r>
              <a:t>Visuals:</a:t>
            </a:r>
          </a:p>
          <a:p>
            <a:r>
              <a:t>- Alt text: Three bands labeled problem, emotion, relationship with example actions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BDFEC3-8487-43E8-A154-7C12CBC1FFF2}" type="slidenum">
              <a:rPr lang="en-US" smtClean="0"/>
              <a:t>190</a:t>
            </a:fld>
            <a:endParaRPr lang="en-US"/>
          </a:p>
        </p:txBody>
      </p:sp>
    </p:spTree>
    <p:extLst>
      <p:ext uri="{BB962C8B-B14F-4D97-AF65-F5344CB8AC3E}">
        <p14:creationId xmlns:p14="http://schemas.microsoft.com/office/powerpoint/2010/main" val="4054413643"/>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13.5</a:t>
            </a:r>
          </a:p>
          <a:p>
            <a:r>
              <a:t>Subsection: Psychology and Your Skill Set: Stress Management</a:t>
            </a:r>
          </a:p>
          <a:p>
            <a:r>
              <a:t>LO code: 13.5.1</a:t>
            </a:r>
          </a:p>
          <a:p>
            <a:r>
              <a:t>LO title: Name three effects that are triggered by stress</a:t>
            </a:r>
          </a:p>
          <a:p>
            <a:r>
              <a:t>Planned time (min): —</a:t>
            </a:r>
          </a:p>
          <a:p>
            <a:endParaRPr/>
          </a:p>
          <a:p>
            <a:r>
              <a:t>Script to read:</a:t>
            </a:r>
          </a:p>
          <a:p>
            <a:r>
              <a:t>- Hook: Which of these three shows up first for you?</a:t>
            </a:r>
          </a:p>
          <a:p>
            <a:r>
              <a:t>- Core explanation (2–3 sentences): The chapter reduces stress impact to three categories to guide planning. Sorting symptoms into these boxes helps select targeted tools.</a:t>
            </a:r>
          </a:p>
          <a:p>
            <a:r>
              <a:t>- Example or vignette (1 sentence): Headaches, procrastination, and catastrophizing after a bad grade.</a:t>
            </a:r>
          </a:p>
          <a:p>
            <a:r>
              <a:t>- Transfer cue (1 sentence): Identify your primary stress effect.</a:t>
            </a:r>
          </a:p>
          <a:p>
            <a:endParaRPr/>
          </a:p>
          <a:p>
            <a:r>
              <a:t>Check for understanding:</a:t>
            </a:r>
          </a:p>
          <a:p>
            <a:r>
              <a:t>- Question: List the three effects from the chapter.</a:t>
            </a:r>
          </a:p>
          <a:p>
            <a:r>
              <a:t>- Expected answer: Bodily effects, ineffective behavior, upsetting thoughts.</a:t>
            </a:r>
          </a:p>
          <a:p>
            <a:r>
              <a:t>- Rationale: Locks in the organizing triad.</a:t>
            </a:r>
          </a:p>
          <a:p>
            <a:endParaRPr/>
          </a:p>
          <a:p>
            <a:r>
              <a:t>Reminders:</a:t>
            </a:r>
          </a:p>
          <a:p>
            <a:r>
              <a:t>- Pitfall: Treating stress as purely mental</a:t>
            </a:r>
          </a:p>
          <a:p>
            <a:r>
              <a:t>- Tip: Map symptoms into one of the three boxes to choose tools</a:t>
            </a:r>
          </a:p>
          <a:p>
            <a:endParaRPr/>
          </a:p>
          <a:p>
            <a:r>
              <a:t>Transitions:</a:t>
            </a:r>
          </a:p>
          <a:p>
            <a:r>
              <a:t>- Coming from: College blues</a:t>
            </a:r>
          </a:p>
          <a:p>
            <a:r>
              <a:t>- Next: Planning interventions for each effect</a:t>
            </a:r>
          </a:p>
          <a:p>
            <a:endParaRPr/>
          </a:p>
          <a:p>
            <a:r>
              <a:t>Visuals:</a:t>
            </a:r>
          </a:p>
          <a:p>
            <a:r>
              <a:t>- Alt text: Three labeled boxes representing the effects</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a:t>
            </a:r>
          </a:p>
          <a:p>
            <a:r>
              <a:t>Section: 13.5</a:t>
            </a:r>
          </a:p>
          <a:p>
            <a:r>
              <a:t>Subsection: Psychology and Your Skill Set: Stress Management</a:t>
            </a:r>
          </a:p>
          <a:p>
            <a:r>
              <a:t>LO code: 13.5.2</a:t>
            </a:r>
          </a:p>
          <a:p>
            <a:r>
              <a:t>LO title: Create a plan to manage each of these stress-induced effects</a:t>
            </a:r>
          </a:p>
          <a:p>
            <a:r>
              <a:t>Planned time (min): —</a:t>
            </a:r>
          </a:p>
          <a:p>
            <a:endParaRPr/>
          </a:p>
          <a:p>
            <a:r>
              <a:t>Script to read:</a:t>
            </a:r>
          </a:p>
          <a:p>
            <a:r>
              <a:t>- Hook: Which tool would you actually use today?</a:t>
            </a:r>
          </a:p>
          <a:p>
            <a:r>
              <a:t>- Core explanation (2–3 sentences): The chapter provides concrete strategies mapped to each stress effect; select one per category to create a balanced plan. Make tools easy to start and repeat.</a:t>
            </a:r>
          </a:p>
          <a:p>
            <a:r>
              <a:t>- Example or vignette (1 sentence): A student adds short walks, a daily plan, and coping statements before study blocks.</a:t>
            </a:r>
          </a:p>
          <a:p>
            <a:r>
              <a:t>- Transfer cue (1 sentence): Write a one-line plan for each category and schedule it.</a:t>
            </a:r>
          </a:p>
          <a:p>
            <a:endParaRPr/>
          </a:p>
          <a:p>
            <a:r>
              <a:t>Check for understanding:</a:t>
            </a:r>
          </a:p>
          <a:p>
            <a:r>
              <a:t>- Question: Match one strategy to each of the three effects.</a:t>
            </a:r>
          </a:p>
          <a:p>
            <a:r>
              <a:t>- Expected answer: Bodily—progressive relaxation; Behavior—get organized; Thoughts—coping statements.</a:t>
            </a:r>
          </a:p>
          <a:p>
            <a:r>
              <a:t>- Rationale: Ensures translation from categories to action.</a:t>
            </a:r>
          </a:p>
          <a:p>
            <a:endParaRPr/>
          </a:p>
          <a:p>
            <a:r>
              <a:t>Reminders:</a:t>
            </a:r>
          </a:p>
          <a:p>
            <a:r>
              <a:t>- Pitfall: Choosing tools you won’t use</a:t>
            </a:r>
          </a:p>
          <a:p>
            <a:r>
              <a:t>- Tip: Start small and build consistency</a:t>
            </a:r>
          </a:p>
          <a:p>
            <a:endParaRPr/>
          </a:p>
          <a:p>
            <a:r>
              <a:t>Transitions:</a:t>
            </a:r>
          </a:p>
          <a:p>
            <a:r>
              <a:t>- Coming from: Three stress effects</a:t>
            </a:r>
          </a:p>
          <a:p>
            <a:r>
              <a:t>- Next: End of Chapter 13 recap or assignment</a:t>
            </a:r>
          </a:p>
          <a:p>
            <a:endParaRPr/>
          </a:p>
          <a:p>
            <a:r>
              <a:t>Visuals:</a:t>
            </a:r>
          </a:p>
          <a:p>
            <a:r>
              <a:t>- Alt text: Matrix with effects on one axis and strategies on the other</a:t>
            </a:r>
          </a:p>
          <a:p>
            <a:endParaRPr/>
          </a:p>
          <a:p>
            <a:r>
              <a:t>Book pages: —</a:t>
            </a:r>
          </a:p>
          <a:p>
            <a:r>
              <a:t>PDF page(s): —</a:t>
            </a:r>
          </a:p>
          <a:p>
            <a:r>
              <a:t>MD anchor: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78634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327602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25574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36639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3/24/26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72297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3/24/26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19024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871071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4230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266235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79465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3/24/26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617656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0B4D-CD1E-DBC4-3377-6EDA4E2F022E}"/>
              </a:ext>
            </a:extLst>
          </p:cNvPr>
          <p:cNvSpPr>
            <a:spLocks noGrp="1"/>
          </p:cNvSpPr>
          <p:nvPr>
            <p:ph type="title"/>
          </p:nvPr>
        </p:nvSpPr>
        <p:spPr>
          <a:xfrm>
            <a:off x="155864" y="102394"/>
            <a:ext cx="8889423" cy="47982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211152C-7711-AED0-9B7A-203B64217070}"/>
              </a:ext>
            </a:extLst>
          </p:cNvPr>
          <p:cNvSpPr>
            <a:spLocks noGrp="1"/>
          </p:cNvSpPr>
          <p:nvPr>
            <p:ph idx="1"/>
          </p:nvPr>
        </p:nvSpPr>
        <p:spPr>
          <a:xfrm>
            <a:off x="155864" y="706582"/>
            <a:ext cx="8889423" cy="3926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732B2-0F54-D93B-F3E1-6044E090C4A9}"/>
              </a:ext>
            </a:extLst>
          </p:cNvPr>
          <p:cNvSpPr>
            <a:spLocks noGrp="1"/>
          </p:cNvSpPr>
          <p:nvPr>
            <p:ph type="dt" sz="half" idx="10"/>
          </p:nvPr>
        </p:nvSpPr>
        <p:spPr>
          <a:xfrm>
            <a:off x="98713" y="4798760"/>
            <a:ext cx="2057400" cy="273844"/>
          </a:xfrm>
        </p:spPr>
        <p:txBody>
          <a:bodyPr/>
          <a:lstStyle/>
          <a:p>
            <a:fld id="{241EB5C9-1307-BA42-ABA2-0BC069CD8E7F}" type="datetimeFigureOut">
              <a:rPr lang="en-US" smtClean="0"/>
              <a:t>3/24/26</a:t>
            </a:fld>
            <a:endParaRPr lang="en-US"/>
          </a:p>
        </p:txBody>
      </p:sp>
      <p:sp>
        <p:nvSpPr>
          <p:cNvPr id="5" name="Footer Placeholder 4">
            <a:extLst>
              <a:ext uri="{FF2B5EF4-FFF2-40B4-BE49-F238E27FC236}">
                <a16:creationId xmlns:a16="http://schemas.microsoft.com/office/drawing/2014/main" id="{BDB214B2-BAA2-780F-3267-4E5EFEA20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403CD-DF10-4912-A6E5-F438ECFA3F53}"/>
              </a:ext>
            </a:extLst>
          </p:cNvPr>
          <p:cNvSpPr>
            <a:spLocks noGrp="1"/>
          </p:cNvSpPr>
          <p:nvPr>
            <p:ph type="sldNum" sz="quarter" idx="12"/>
          </p:nvPr>
        </p:nvSpPr>
        <p:spPr>
          <a:xfrm>
            <a:off x="6987887" y="4800924"/>
            <a:ext cx="2057400" cy="273844"/>
          </a:xfrm>
        </p:spPr>
        <p:txBody>
          <a:bodyPr/>
          <a:lstStyle/>
          <a:p>
            <a:fld id="{C5EF2332-01BF-834F-8236-50238282D533}" type="slidenum">
              <a:rPr lang="en-US" smtClean="0"/>
              <a:t>‹#›</a:t>
            </a:fld>
            <a:endParaRPr lang="en-US"/>
          </a:p>
        </p:txBody>
      </p:sp>
      <p:sp>
        <p:nvSpPr>
          <p:cNvPr id="8" name="Text Placeholder 7">
            <a:extLst>
              <a:ext uri="{FF2B5EF4-FFF2-40B4-BE49-F238E27FC236}">
                <a16:creationId xmlns:a16="http://schemas.microsoft.com/office/drawing/2014/main" id="{8EA3DE0C-ED80-8FF1-54BC-7E087984CD33}"/>
              </a:ext>
            </a:extLst>
          </p:cNvPr>
          <p:cNvSpPr>
            <a:spLocks noGrp="1"/>
          </p:cNvSpPr>
          <p:nvPr>
            <p:ph type="body" sz="quarter" idx="13"/>
          </p:nvPr>
        </p:nvSpPr>
        <p:spPr>
          <a:xfrm>
            <a:off x="519654" y="4754707"/>
            <a:ext cx="8104693" cy="317897"/>
          </a:xfrm>
        </p:spPr>
        <p:txBody>
          <a:bodyPr anchor="ctr">
            <a:noAutofit/>
          </a:bodyPr>
          <a:lstStyle>
            <a:lvl1pPr algn="ctr">
              <a:buNone/>
              <a:defRPr sz="1500">
                <a:solidFill>
                  <a:schemeClr val="bg1">
                    <a:lumMod val="85000"/>
                  </a:schemeClr>
                </a:solidFill>
              </a:defRPr>
            </a:lvl1pPr>
            <a:lvl2pPr>
              <a:defRPr sz="1800"/>
            </a:lvl2pPr>
            <a:lvl3pPr>
              <a:defRPr sz="1500"/>
            </a:lvl3pPr>
            <a:lvl4pPr>
              <a:defRPr sz="1350"/>
            </a:lvl4pPr>
            <a:lvl5pPr>
              <a:defRPr sz="1350"/>
            </a:lvl5pPr>
          </a:lstStyle>
          <a:p>
            <a:pPr lvl="0"/>
            <a:r>
              <a:rPr lang="en-US"/>
              <a:t>Click to edit Master text styles</a:t>
            </a:r>
          </a:p>
        </p:txBody>
      </p:sp>
    </p:spTree>
    <p:extLst>
      <p:ext uri="{BB962C8B-B14F-4D97-AF65-F5344CB8AC3E}">
        <p14:creationId xmlns:p14="http://schemas.microsoft.com/office/powerpoint/2010/main" val="1495515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1 Title and Content">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CCE3B2AB-60DD-F4E4-1643-F81ADD11E3DD}"/>
              </a:ext>
            </a:extLst>
          </p:cNvPr>
          <p:cNvSpPr>
            <a:spLocks noGrp="1"/>
          </p:cNvSpPr>
          <p:nvPr>
            <p:ph type="dt" sz="half" idx="10"/>
          </p:nvPr>
        </p:nvSpPr>
        <p:spPr>
          <a:xfrm>
            <a:off x="1363318" y="4767263"/>
            <a:ext cx="856534" cy="273844"/>
          </a:xfrm>
          <a:prstGeom prst="rect">
            <a:avLst/>
          </a:prstGeom>
        </p:spPr>
        <p:txBody>
          <a:bodyPr/>
          <a:lstStyle/>
          <a:p>
            <a:fld id="{3A2B17D4-921B-FE47-A418-27CD5EEA8409}" type="datetimeFigureOut">
              <a:rPr lang="en-US" smtClean="0"/>
              <a:t>3/24/26</a:t>
            </a:fld>
            <a:endParaRPr lang="en-US"/>
          </a:p>
        </p:txBody>
      </p:sp>
      <p:sp>
        <p:nvSpPr>
          <p:cNvPr id="20" name="Footer Placeholder 4">
            <a:extLst>
              <a:ext uri="{FF2B5EF4-FFF2-40B4-BE49-F238E27FC236}">
                <a16:creationId xmlns:a16="http://schemas.microsoft.com/office/drawing/2014/main" id="{3D2203C0-F675-0653-C7EC-C80CA925D3E5}"/>
              </a:ext>
            </a:extLst>
          </p:cNvPr>
          <p:cNvSpPr>
            <a:spLocks noGrp="1"/>
          </p:cNvSpPr>
          <p:nvPr>
            <p:ph type="ftr" sz="quarter" idx="11"/>
          </p:nvPr>
        </p:nvSpPr>
        <p:spPr>
          <a:xfrm>
            <a:off x="2324990" y="4767263"/>
            <a:ext cx="5685171" cy="273844"/>
          </a:xfrm>
          <a:prstGeom prst="rect">
            <a:avLst/>
          </a:prstGeom>
        </p:spPr>
        <p:txBody>
          <a:bodyPr/>
          <a:lstStyle/>
          <a:p>
            <a:endParaRPr lang="en-US" dirty="0"/>
          </a:p>
        </p:txBody>
      </p:sp>
      <p:sp>
        <p:nvSpPr>
          <p:cNvPr id="21" name="Slide Number Placeholder 5">
            <a:extLst>
              <a:ext uri="{FF2B5EF4-FFF2-40B4-BE49-F238E27FC236}">
                <a16:creationId xmlns:a16="http://schemas.microsoft.com/office/drawing/2014/main" id="{85B94B8E-589E-A089-62F6-F2C75BADC551}"/>
              </a:ext>
            </a:extLst>
          </p:cNvPr>
          <p:cNvSpPr>
            <a:spLocks noGrp="1"/>
          </p:cNvSpPr>
          <p:nvPr>
            <p:ph type="sldNum" sz="quarter" idx="12"/>
          </p:nvPr>
        </p:nvSpPr>
        <p:spPr>
          <a:xfrm>
            <a:off x="8115300" y="4767263"/>
            <a:ext cx="857250" cy="273844"/>
          </a:xfrm>
          <a:prstGeom prst="rect">
            <a:avLst/>
          </a:prstGeom>
        </p:spPr>
        <p:txBody>
          <a:bodyPr/>
          <a:lstStyle/>
          <a:p>
            <a:fld id="{A2E1EC44-CE70-7542-9F60-BF1071823823}" type="slidenum">
              <a:rPr lang="en-US" smtClean="0"/>
              <a:t>‹#›</a:t>
            </a:fld>
            <a:endParaRPr lang="en-US"/>
          </a:p>
        </p:txBody>
      </p:sp>
      <p:sp>
        <p:nvSpPr>
          <p:cNvPr id="4" name="Title 1">
            <a:extLst>
              <a:ext uri="{FF2B5EF4-FFF2-40B4-BE49-F238E27FC236}">
                <a16:creationId xmlns:a16="http://schemas.microsoft.com/office/drawing/2014/main" id="{E084D418-35F2-8843-5CC0-DD28BF72B4E0}"/>
              </a:ext>
            </a:extLst>
          </p:cNvPr>
          <p:cNvSpPr>
            <a:spLocks noGrp="1"/>
          </p:cNvSpPr>
          <p:nvPr>
            <p:ph type="ctrTitle"/>
          </p:nvPr>
        </p:nvSpPr>
        <p:spPr>
          <a:xfrm>
            <a:off x="1739437" y="832843"/>
            <a:ext cx="6858000" cy="1790700"/>
          </a:xfrm>
        </p:spPr>
        <p:txBody>
          <a:bodyPr anchor="b"/>
          <a:lstStyle>
            <a:lvl1pPr algn="ctr">
              <a:defRPr sz="4500"/>
            </a:lvl1pPr>
          </a:lstStyle>
          <a:p>
            <a:r>
              <a:rPr lang="en-US"/>
              <a:t>Click to edit Master title style</a:t>
            </a:r>
          </a:p>
        </p:txBody>
      </p:sp>
      <p:sp>
        <p:nvSpPr>
          <p:cNvPr id="6" name="Subtitle 2">
            <a:extLst>
              <a:ext uri="{FF2B5EF4-FFF2-40B4-BE49-F238E27FC236}">
                <a16:creationId xmlns:a16="http://schemas.microsoft.com/office/drawing/2014/main" id="{61F7BBDA-8DC8-3753-7F64-0284EEAC671A}"/>
              </a:ext>
            </a:extLst>
          </p:cNvPr>
          <p:cNvSpPr>
            <a:spLocks noGrp="1"/>
          </p:cNvSpPr>
          <p:nvPr>
            <p:ph type="subTitle" idx="1"/>
          </p:nvPr>
        </p:nvSpPr>
        <p:spPr>
          <a:xfrm>
            <a:off x="1739437" y="2692599"/>
            <a:ext cx="6858000" cy="1241822"/>
          </a:xfrm>
        </p:spPr>
        <p:txBody>
          <a:bodyPr anchor="ct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2" name="Google Shape;18;p2">
            <a:extLst>
              <a:ext uri="{FF2B5EF4-FFF2-40B4-BE49-F238E27FC236}">
                <a16:creationId xmlns:a16="http://schemas.microsoft.com/office/drawing/2014/main" id="{997DE48E-1276-F0E8-4405-A398284680CE}"/>
              </a:ext>
            </a:extLst>
          </p:cNvPr>
          <p:cNvSpPr/>
          <p:nvPr userDrawn="1"/>
        </p:nvSpPr>
        <p:spPr>
          <a:xfrm rot="-5400000">
            <a:off x="1030500" y="718617"/>
            <a:ext cx="234675" cy="104625"/>
          </a:xfrm>
          <a:prstGeom prst="triangle">
            <a:avLst>
              <a:gd name="adj" fmla="val 50000"/>
            </a:avLst>
          </a:prstGeom>
          <a:solidFill>
            <a:schemeClr val="bg1"/>
          </a:solidFill>
          <a:ln>
            <a:noFill/>
          </a:ln>
          <a:effectLst>
            <a:outerShdw blurRad="50800" dist="38100" dir="10800000" algn="r" rotWithShape="0">
              <a:srgbClr val="000000">
                <a:alpha val="40000"/>
              </a:srgbClr>
            </a:outerShdw>
          </a:effectLst>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487333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2 Title and Content">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CCE3B2AB-60DD-F4E4-1643-F81ADD11E3DD}"/>
              </a:ext>
            </a:extLst>
          </p:cNvPr>
          <p:cNvSpPr>
            <a:spLocks noGrp="1"/>
          </p:cNvSpPr>
          <p:nvPr>
            <p:ph type="dt" sz="half" idx="10"/>
          </p:nvPr>
        </p:nvSpPr>
        <p:spPr>
          <a:xfrm>
            <a:off x="1363318" y="4767263"/>
            <a:ext cx="856534" cy="273844"/>
          </a:xfrm>
          <a:prstGeom prst="rect">
            <a:avLst/>
          </a:prstGeom>
        </p:spPr>
        <p:txBody>
          <a:bodyPr/>
          <a:lstStyle/>
          <a:p>
            <a:fld id="{3A2B17D4-921B-FE47-A418-27CD5EEA8409}" type="datetimeFigureOut">
              <a:rPr lang="en-US" smtClean="0"/>
              <a:t>3/24/26</a:t>
            </a:fld>
            <a:endParaRPr lang="en-US"/>
          </a:p>
        </p:txBody>
      </p:sp>
      <p:sp>
        <p:nvSpPr>
          <p:cNvPr id="20" name="Footer Placeholder 4">
            <a:extLst>
              <a:ext uri="{FF2B5EF4-FFF2-40B4-BE49-F238E27FC236}">
                <a16:creationId xmlns:a16="http://schemas.microsoft.com/office/drawing/2014/main" id="{3D2203C0-F675-0653-C7EC-C80CA925D3E5}"/>
              </a:ext>
            </a:extLst>
          </p:cNvPr>
          <p:cNvSpPr>
            <a:spLocks noGrp="1"/>
          </p:cNvSpPr>
          <p:nvPr>
            <p:ph type="ftr" sz="quarter" idx="11"/>
          </p:nvPr>
        </p:nvSpPr>
        <p:spPr>
          <a:xfrm>
            <a:off x="2324990" y="4767263"/>
            <a:ext cx="5685171" cy="273844"/>
          </a:xfrm>
          <a:prstGeom prst="rect">
            <a:avLst/>
          </a:prstGeom>
        </p:spPr>
        <p:txBody>
          <a:bodyPr/>
          <a:lstStyle/>
          <a:p>
            <a:endParaRPr lang="en-US" dirty="0"/>
          </a:p>
        </p:txBody>
      </p:sp>
      <p:sp>
        <p:nvSpPr>
          <p:cNvPr id="21" name="Slide Number Placeholder 5">
            <a:extLst>
              <a:ext uri="{FF2B5EF4-FFF2-40B4-BE49-F238E27FC236}">
                <a16:creationId xmlns:a16="http://schemas.microsoft.com/office/drawing/2014/main" id="{85B94B8E-589E-A089-62F6-F2C75BADC551}"/>
              </a:ext>
            </a:extLst>
          </p:cNvPr>
          <p:cNvSpPr>
            <a:spLocks noGrp="1"/>
          </p:cNvSpPr>
          <p:nvPr>
            <p:ph type="sldNum" sz="quarter" idx="12"/>
          </p:nvPr>
        </p:nvSpPr>
        <p:spPr>
          <a:xfrm>
            <a:off x="8115300" y="4767263"/>
            <a:ext cx="857250" cy="273844"/>
          </a:xfrm>
          <a:prstGeom prst="rect">
            <a:avLst/>
          </a:prstGeom>
        </p:spPr>
        <p:txBody>
          <a:bodyPr/>
          <a:lstStyle/>
          <a:p>
            <a:fld id="{A2E1EC44-CE70-7542-9F60-BF1071823823}" type="slidenum">
              <a:rPr lang="en-US" smtClean="0"/>
              <a:t>‹#›</a:t>
            </a:fld>
            <a:endParaRPr lang="en-US"/>
          </a:p>
        </p:txBody>
      </p:sp>
      <p:sp>
        <p:nvSpPr>
          <p:cNvPr id="4" name="Title 1">
            <a:extLst>
              <a:ext uri="{FF2B5EF4-FFF2-40B4-BE49-F238E27FC236}">
                <a16:creationId xmlns:a16="http://schemas.microsoft.com/office/drawing/2014/main" id="{C567CFE0-3B26-5670-098A-1C95B0740E47}"/>
              </a:ext>
            </a:extLst>
          </p:cNvPr>
          <p:cNvSpPr>
            <a:spLocks noGrp="1"/>
          </p:cNvSpPr>
          <p:nvPr>
            <p:ph type="ctrTitle"/>
          </p:nvPr>
        </p:nvSpPr>
        <p:spPr>
          <a:xfrm>
            <a:off x="1739437" y="832843"/>
            <a:ext cx="6858000" cy="1790700"/>
          </a:xfrm>
        </p:spPr>
        <p:txBody>
          <a:bodyPr anchor="b"/>
          <a:lstStyle>
            <a:lvl1pPr algn="ctr">
              <a:defRPr sz="4500"/>
            </a:lvl1pPr>
          </a:lstStyle>
          <a:p>
            <a:r>
              <a:rPr lang="en-US"/>
              <a:t>Click to edit Master title style</a:t>
            </a:r>
          </a:p>
        </p:txBody>
      </p:sp>
      <p:sp>
        <p:nvSpPr>
          <p:cNvPr id="6" name="Subtitle 2">
            <a:extLst>
              <a:ext uri="{FF2B5EF4-FFF2-40B4-BE49-F238E27FC236}">
                <a16:creationId xmlns:a16="http://schemas.microsoft.com/office/drawing/2014/main" id="{2E95E486-6459-428D-D3F0-0DF1DC809EC9}"/>
              </a:ext>
            </a:extLst>
          </p:cNvPr>
          <p:cNvSpPr>
            <a:spLocks noGrp="1"/>
          </p:cNvSpPr>
          <p:nvPr>
            <p:ph type="subTitle" idx="1"/>
          </p:nvPr>
        </p:nvSpPr>
        <p:spPr>
          <a:xfrm>
            <a:off x="1739437" y="2692599"/>
            <a:ext cx="6858000" cy="1241822"/>
          </a:xfrm>
        </p:spPr>
        <p:txBody>
          <a:bodyPr anchor="ct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2" name="Google Shape;18;p2">
            <a:extLst>
              <a:ext uri="{FF2B5EF4-FFF2-40B4-BE49-F238E27FC236}">
                <a16:creationId xmlns:a16="http://schemas.microsoft.com/office/drawing/2014/main" id="{4D6BA731-61FB-520D-8309-6CA99C05AD3D}"/>
              </a:ext>
            </a:extLst>
          </p:cNvPr>
          <p:cNvSpPr/>
          <p:nvPr userDrawn="1"/>
        </p:nvSpPr>
        <p:spPr>
          <a:xfrm rot="-5400000">
            <a:off x="1030500" y="1233563"/>
            <a:ext cx="234675" cy="104625"/>
          </a:xfrm>
          <a:prstGeom prst="triangle">
            <a:avLst>
              <a:gd name="adj" fmla="val 50000"/>
            </a:avLst>
          </a:prstGeom>
          <a:solidFill>
            <a:schemeClr val="bg1"/>
          </a:solidFill>
          <a:ln>
            <a:noFill/>
          </a:ln>
          <a:effectLst>
            <a:outerShdw blurRad="50800" dist="38100" dir="10800000" algn="r" rotWithShape="0">
              <a:srgbClr val="000000">
                <a:alpha val="40000"/>
              </a:srgbClr>
            </a:outerShdw>
          </a:effectLst>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876875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3 Title and Content">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CCE3B2AB-60DD-F4E4-1643-F81ADD11E3DD}"/>
              </a:ext>
            </a:extLst>
          </p:cNvPr>
          <p:cNvSpPr>
            <a:spLocks noGrp="1"/>
          </p:cNvSpPr>
          <p:nvPr>
            <p:ph type="dt" sz="half" idx="10"/>
          </p:nvPr>
        </p:nvSpPr>
        <p:spPr>
          <a:xfrm>
            <a:off x="1363318" y="4767263"/>
            <a:ext cx="856534" cy="273844"/>
          </a:xfrm>
          <a:prstGeom prst="rect">
            <a:avLst/>
          </a:prstGeom>
        </p:spPr>
        <p:txBody>
          <a:bodyPr/>
          <a:lstStyle/>
          <a:p>
            <a:fld id="{3A2B17D4-921B-FE47-A418-27CD5EEA8409}" type="datetimeFigureOut">
              <a:rPr lang="en-US" smtClean="0"/>
              <a:t>3/24/26</a:t>
            </a:fld>
            <a:endParaRPr lang="en-US"/>
          </a:p>
        </p:txBody>
      </p:sp>
      <p:sp>
        <p:nvSpPr>
          <p:cNvPr id="20" name="Footer Placeholder 4">
            <a:extLst>
              <a:ext uri="{FF2B5EF4-FFF2-40B4-BE49-F238E27FC236}">
                <a16:creationId xmlns:a16="http://schemas.microsoft.com/office/drawing/2014/main" id="{3D2203C0-F675-0653-C7EC-C80CA925D3E5}"/>
              </a:ext>
            </a:extLst>
          </p:cNvPr>
          <p:cNvSpPr>
            <a:spLocks noGrp="1"/>
          </p:cNvSpPr>
          <p:nvPr>
            <p:ph type="ftr" sz="quarter" idx="11"/>
          </p:nvPr>
        </p:nvSpPr>
        <p:spPr>
          <a:xfrm>
            <a:off x="2324990" y="4767263"/>
            <a:ext cx="5685171" cy="273844"/>
          </a:xfrm>
          <a:prstGeom prst="rect">
            <a:avLst/>
          </a:prstGeom>
        </p:spPr>
        <p:txBody>
          <a:bodyPr/>
          <a:lstStyle/>
          <a:p>
            <a:endParaRPr lang="en-US" dirty="0"/>
          </a:p>
        </p:txBody>
      </p:sp>
      <p:sp>
        <p:nvSpPr>
          <p:cNvPr id="21" name="Slide Number Placeholder 5">
            <a:extLst>
              <a:ext uri="{FF2B5EF4-FFF2-40B4-BE49-F238E27FC236}">
                <a16:creationId xmlns:a16="http://schemas.microsoft.com/office/drawing/2014/main" id="{85B94B8E-589E-A089-62F6-F2C75BADC551}"/>
              </a:ext>
            </a:extLst>
          </p:cNvPr>
          <p:cNvSpPr>
            <a:spLocks noGrp="1"/>
          </p:cNvSpPr>
          <p:nvPr>
            <p:ph type="sldNum" sz="quarter" idx="12"/>
          </p:nvPr>
        </p:nvSpPr>
        <p:spPr>
          <a:xfrm>
            <a:off x="8115300" y="4767263"/>
            <a:ext cx="857250" cy="273844"/>
          </a:xfrm>
          <a:prstGeom prst="rect">
            <a:avLst/>
          </a:prstGeom>
        </p:spPr>
        <p:txBody>
          <a:bodyPr/>
          <a:lstStyle/>
          <a:p>
            <a:fld id="{A2E1EC44-CE70-7542-9F60-BF1071823823}" type="slidenum">
              <a:rPr lang="en-US" smtClean="0"/>
              <a:t>‹#›</a:t>
            </a:fld>
            <a:endParaRPr lang="en-US"/>
          </a:p>
        </p:txBody>
      </p:sp>
      <p:sp>
        <p:nvSpPr>
          <p:cNvPr id="4" name="Title 1">
            <a:extLst>
              <a:ext uri="{FF2B5EF4-FFF2-40B4-BE49-F238E27FC236}">
                <a16:creationId xmlns:a16="http://schemas.microsoft.com/office/drawing/2014/main" id="{EE27514E-F909-A138-BD49-8BFDFA24CA48}"/>
              </a:ext>
            </a:extLst>
          </p:cNvPr>
          <p:cNvSpPr>
            <a:spLocks noGrp="1"/>
          </p:cNvSpPr>
          <p:nvPr>
            <p:ph type="ctrTitle"/>
          </p:nvPr>
        </p:nvSpPr>
        <p:spPr>
          <a:xfrm>
            <a:off x="1739437" y="832843"/>
            <a:ext cx="6858000" cy="1790700"/>
          </a:xfrm>
        </p:spPr>
        <p:txBody>
          <a:bodyPr anchor="b"/>
          <a:lstStyle>
            <a:lvl1pPr algn="ctr">
              <a:defRPr sz="4500"/>
            </a:lvl1pPr>
          </a:lstStyle>
          <a:p>
            <a:r>
              <a:rPr lang="en-US"/>
              <a:t>Click to edit Master title style</a:t>
            </a:r>
          </a:p>
        </p:txBody>
      </p:sp>
      <p:sp>
        <p:nvSpPr>
          <p:cNvPr id="6" name="Subtitle 2">
            <a:extLst>
              <a:ext uri="{FF2B5EF4-FFF2-40B4-BE49-F238E27FC236}">
                <a16:creationId xmlns:a16="http://schemas.microsoft.com/office/drawing/2014/main" id="{85F82BC8-088E-E300-6B1B-EC719546AD47}"/>
              </a:ext>
            </a:extLst>
          </p:cNvPr>
          <p:cNvSpPr>
            <a:spLocks noGrp="1"/>
          </p:cNvSpPr>
          <p:nvPr>
            <p:ph type="subTitle" idx="1"/>
          </p:nvPr>
        </p:nvSpPr>
        <p:spPr>
          <a:xfrm>
            <a:off x="1739437" y="2692599"/>
            <a:ext cx="6858000" cy="1241822"/>
          </a:xfrm>
        </p:spPr>
        <p:txBody>
          <a:bodyPr anchor="ct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2" name="Google Shape;18;p2">
            <a:extLst>
              <a:ext uri="{FF2B5EF4-FFF2-40B4-BE49-F238E27FC236}">
                <a16:creationId xmlns:a16="http://schemas.microsoft.com/office/drawing/2014/main" id="{C60C9934-DA7C-B5F3-9A4B-F9DBF8B08C18}"/>
              </a:ext>
            </a:extLst>
          </p:cNvPr>
          <p:cNvSpPr/>
          <p:nvPr userDrawn="1"/>
        </p:nvSpPr>
        <p:spPr>
          <a:xfrm rot="-5400000">
            <a:off x="1030500" y="1747913"/>
            <a:ext cx="234675" cy="104625"/>
          </a:xfrm>
          <a:prstGeom prst="triangle">
            <a:avLst>
              <a:gd name="adj" fmla="val 50000"/>
            </a:avLst>
          </a:prstGeom>
          <a:solidFill>
            <a:schemeClr val="bg1"/>
          </a:solidFill>
          <a:ln>
            <a:noFill/>
          </a:ln>
          <a:effectLst>
            <a:outerShdw blurRad="50800" dist="38100" dir="10800000" algn="r" rotWithShape="0">
              <a:srgbClr val="000000">
                <a:alpha val="40000"/>
              </a:srgbClr>
            </a:outerShdw>
          </a:effectLst>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667121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4 Title and Content">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CCE3B2AB-60DD-F4E4-1643-F81ADD11E3DD}"/>
              </a:ext>
            </a:extLst>
          </p:cNvPr>
          <p:cNvSpPr>
            <a:spLocks noGrp="1"/>
          </p:cNvSpPr>
          <p:nvPr>
            <p:ph type="dt" sz="half" idx="10"/>
          </p:nvPr>
        </p:nvSpPr>
        <p:spPr>
          <a:xfrm>
            <a:off x="1363318" y="4767263"/>
            <a:ext cx="856534" cy="273844"/>
          </a:xfrm>
          <a:prstGeom prst="rect">
            <a:avLst/>
          </a:prstGeom>
        </p:spPr>
        <p:txBody>
          <a:bodyPr/>
          <a:lstStyle/>
          <a:p>
            <a:fld id="{3A2B17D4-921B-FE47-A418-27CD5EEA8409}" type="datetimeFigureOut">
              <a:rPr lang="en-US" smtClean="0"/>
              <a:t>3/24/26</a:t>
            </a:fld>
            <a:endParaRPr lang="en-US"/>
          </a:p>
        </p:txBody>
      </p:sp>
      <p:sp>
        <p:nvSpPr>
          <p:cNvPr id="20" name="Footer Placeholder 4">
            <a:extLst>
              <a:ext uri="{FF2B5EF4-FFF2-40B4-BE49-F238E27FC236}">
                <a16:creationId xmlns:a16="http://schemas.microsoft.com/office/drawing/2014/main" id="{3D2203C0-F675-0653-C7EC-C80CA925D3E5}"/>
              </a:ext>
            </a:extLst>
          </p:cNvPr>
          <p:cNvSpPr>
            <a:spLocks noGrp="1"/>
          </p:cNvSpPr>
          <p:nvPr>
            <p:ph type="ftr" sz="quarter" idx="11"/>
          </p:nvPr>
        </p:nvSpPr>
        <p:spPr>
          <a:xfrm>
            <a:off x="2324990" y="4767263"/>
            <a:ext cx="5685171" cy="273844"/>
          </a:xfrm>
          <a:prstGeom prst="rect">
            <a:avLst/>
          </a:prstGeom>
        </p:spPr>
        <p:txBody>
          <a:bodyPr/>
          <a:lstStyle/>
          <a:p>
            <a:endParaRPr lang="en-US" dirty="0"/>
          </a:p>
        </p:txBody>
      </p:sp>
      <p:sp>
        <p:nvSpPr>
          <p:cNvPr id="21" name="Slide Number Placeholder 5">
            <a:extLst>
              <a:ext uri="{FF2B5EF4-FFF2-40B4-BE49-F238E27FC236}">
                <a16:creationId xmlns:a16="http://schemas.microsoft.com/office/drawing/2014/main" id="{85B94B8E-589E-A089-62F6-F2C75BADC551}"/>
              </a:ext>
            </a:extLst>
          </p:cNvPr>
          <p:cNvSpPr>
            <a:spLocks noGrp="1"/>
          </p:cNvSpPr>
          <p:nvPr>
            <p:ph type="sldNum" sz="quarter" idx="12"/>
          </p:nvPr>
        </p:nvSpPr>
        <p:spPr>
          <a:xfrm>
            <a:off x="8115300" y="4767263"/>
            <a:ext cx="857250" cy="273844"/>
          </a:xfrm>
          <a:prstGeom prst="rect">
            <a:avLst/>
          </a:prstGeom>
        </p:spPr>
        <p:txBody>
          <a:bodyPr/>
          <a:lstStyle/>
          <a:p>
            <a:fld id="{A2E1EC44-CE70-7542-9F60-BF1071823823}" type="slidenum">
              <a:rPr lang="en-US" smtClean="0"/>
              <a:t>‹#›</a:t>
            </a:fld>
            <a:endParaRPr lang="en-US"/>
          </a:p>
        </p:txBody>
      </p:sp>
      <p:sp>
        <p:nvSpPr>
          <p:cNvPr id="4" name="Title 1">
            <a:extLst>
              <a:ext uri="{FF2B5EF4-FFF2-40B4-BE49-F238E27FC236}">
                <a16:creationId xmlns:a16="http://schemas.microsoft.com/office/drawing/2014/main" id="{0910AF22-4E81-51A8-F8AD-D35FD7FAB9DA}"/>
              </a:ext>
            </a:extLst>
          </p:cNvPr>
          <p:cNvSpPr>
            <a:spLocks noGrp="1"/>
          </p:cNvSpPr>
          <p:nvPr>
            <p:ph type="ctrTitle"/>
          </p:nvPr>
        </p:nvSpPr>
        <p:spPr>
          <a:xfrm>
            <a:off x="1739437" y="832843"/>
            <a:ext cx="6858000" cy="1790700"/>
          </a:xfrm>
        </p:spPr>
        <p:txBody>
          <a:bodyPr anchor="b"/>
          <a:lstStyle>
            <a:lvl1pPr algn="ctr">
              <a:defRPr sz="4500"/>
            </a:lvl1pPr>
          </a:lstStyle>
          <a:p>
            <a:r>
              <a:rPr lang="en-US"/>
              <a:t>Click to edit Master title style</a:t>
            </a:r>
          </a:p>
        </p:txBody>
      </p:sp>
      <p:sp>
        <p:nvSpPr>
          <p:cNvPr id="6" name="Subtitle 2">
            <a:extLst>
              <a:ext uri="{FF2B5EF4-FFF2-40B4-BE49-F238E27FC236}">
                <a16:creationId xmlns:a16="http://schemas.microsoft.com/office/drawing/2014/main" id="{3402C1A6-1F78-1B63-CF13-C8EBC698FBD4}"/>
              </a:ext>
            </a:extLst>
          </p:cNvPr>
          <p:cNvSpPr>
            <a:spLocks noGrp="1"/>
          </p:cNvSpPr>
          <p:nvPr>
            <p:ph type="subTitle" idx="1"/>
          </p:nvPr>
        </p:nvSpPr>
        <p:spPr>
          <a:xfrm>
            <a:off x="1739437" y="2692599"/>
            <a:ext cx="6858000" cy="1241822"/>
          </a:xfrm>
        </p:spPr>
        <p:txBody>
          <a:bodyPr anchor="ct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2" name="Google Shape;18;p2">
            <a:extLst>
              <a:ext uri="{FF2B5EF4-FFF2-40B4-BE49-F238E27FC236}">
                <a16:creationId xmlns:a16="http://schemas.microsoft.com/office/drawing/2014/main" id="{885EB3DF-2460-EE08-2005-249336D4B6AE}"/>
              </a:ext>
            </a:extLst>
          </p:cNvPr>
          <p:cNvSpPr/>
          <p:nvPr userDrawn="1"/>
        </p:nvSpPr>
        <p:spPr>
          <a:xfrm rot="-5400000">
            <a:off x="1030500" y="2262263"/>
            <a:ext cx="234675" cy="104625"/>
          </a:xfrm>
          <a:prstGeom prst="triangle">
            <a:avLst>
              <a:gd name="adj" fmla="val 50000"/>
            </a:avLst>
          </a:prstGeom>
          <a:solidFill>
            <a:schemeClr val="bg1"/>
          </a:solidFill>
          <a:ln>
            <a:noFill/>
          </a:ln>
          <a:effectLst>
            <a:outerShdw blurRad="50800" dist="38100" dir="10800000" algn="r" rotWithShape="0">
              <a:srgbClr val="000000">
                <a:alpha val="40000"/>
              </a:srgbClr>
            </a:outerShdw>
          </a:effectLst>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5582850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5 Title and Content">
    <p:spTree>
      <p:nvGrpSpPr>
        <p:cNvPr id="1" name=""/>
        <p:cNvGrpSpPr/>
        <p:nvPr/>
      </p:nvGrpSpPr>
      <p:grpSpPr>
        <a:xfrm>
          <a:off x="0" y="0"/>
          <a:ext cx="0" cy="0"/>
          <a:chOff x="0" y="0"/>
          <a:chExt cx="0" cy="0"/>
        </a:xfrm>
      </p:grpSpPr>
      <p:sp>
        <p:nvSpPr>
          <p:cNvPr id="19" name="Date Placeholder 3">
            <a:extLst>
              <a:ext uri="{FF2B5EF4-FFF2-40B4-BE49-F238E27FC236}">
                <a16:creationId xmlns:a16="http://schemas.microsoft.com/office/drawing/2014/main" id="{CCE3B2AB-60DD-F4E4-1643-F81ADD11E3DD}"/>
              </a:ext>
            </a:extLst>
          </p:cNvPr>
          <p:cNvSpPr>
            <a:spLocks noGrp="1"/>
          </p:cNvSpPr>
          <p:nvPr>
            <p:ph type="dt" sz="half" idx="10"/>
          </p:nvPr>
        </p:nvSpPr>
        <p:spPr>
          <a:xfrm>
            <a:off x="1363318" y="4767263"/>
            <a:ext cx="856534" cy="273844"/>
          </a:xfrm>
          <a:prstGeom prst="rect">
            <a:avLst/>
          </a:prstGeom>
        </p:spPr>
        <p:txBody>
          <a:bodyPr/>
          <a:lstStyle/>
          <a:p>
            <a:fld id="{3A2B17D4-921B-FE47-A418-27CD5EEA8409}" type="datetimeFigureOut">
              <a:rPr lang="en-US" smtClean="0"/>
              <a:t>3/24/26</a:t>
            </a:fld>
            <a:endParaRPr lang="en-US"/>
          </a:p>
        </p:txBody>
      </p:sp>
      <p:sp>
        <p:nvSpPr>
          <p:cNvPr id="20" name="Footer Placeholder 4">
            <a:extLst>
              <a:ext uri="{FF2B5EF4-FFF2-40B4-BE49-F238E27FC236}">
                <a16:creationId xmlns:a16="http://schemas.microsoft.com/office/drawing/2014/main" id="{3D2203C0-F675-0653-C7EC-C80CA925D3E5}"/>
              </a:ext>
            </a:extLst>
          </p:cNvPr>
          <p:cNvSpPr>
            <a:spLocks noGrp="1"/>
          </p:cNvSpPr>
          <p:nvPr>
            <p:ph type="ftr" sz="quarter" idx="11"/>
          </p:nvPr>
        </p:nvSpPr>
        <p:spPr>
          <a:xfrm>
            <a:off x="2324990" y="4767263"/>
            <a:ext cx="5685171" cy="273844"/>
          </a:xfrm>
          <a:prstGeom prst="rect">
            <a:avLst/>
          </a:prstGeom>
        </p:spPr>
        <p:txBody>
          <a:bodyPr/>
          <a:lstStyle/>
          <a:p>
            <a:endParaRPr lang="en-US" dirty="0"/>
          </a:p>
        </p:txBody>
      </p:sp>
      <p:sp>
        <p:nvSpPr>
          <p:cNvPr id="21" name="Slide Number Placeholder 5">
            <a:extLst>
              <a:ext uri="{FF2B5EF4-FFF2-40B4-BE49-F238E27FC236}">
                <a16:creationId xmlns:a16="http://schemas.microsoft.com/office/drawing/2014/main" id="{85B94B8E-589E-A089-62F6-F2C75BADC551}"/>
              </a:ext>
            </a:extLst>
          </p:cNvPr>
          <p:cNvSpPr>
            <a:spLocks noGrp="1"/>
          </p:cNvSpPr>
          <p:nvPr>
            <p:ph type="sldNum" sz="quarter" idx="12"/>
          </p:nvPr>
        </p:nvSpPr>
        <p:spPr>
          <a:xfrm>
            <a:off x="8115300" y="4767263"/>
            <a:ext cx="857250" cy="273844"/>
          </a:xfrm>
          <a:prstGeom prst="rect">
            <a:avLst/>
          </a:prstGeom>
        </p:spPr>
        <p:txBody>
          <a:bodyPr/>
          <a:lstStyle/>
          <a:p>
            <a:fld id="{A2E1EC44-CE70-7542-9F60-BF1071823823}" type="slidenum">
              <a:rPr lang="en-US" smtClean="0"/>
              <a:t>‹#›</a:t>
            </a:fld>
            <a:endParaRPr lang="en-US"/>
          </a:p>
        </p:txBody>
      </p:sp>
      <p:sp>
        <p:nvSpPr>
          <p:cNvPr id="4" name="Title 1">
            <a:extLst>
              <a:ext uri="{FF2B5EF4-FFF2-40B4-BE49-F238E27FC236}">
                <a16:creationId xmlns:a16="http://schemas.microsoft.com/office/drawing/2014/main" id="{37919D91-FA50-F92A-7086-42975BD82331}"/>
              </a:ext>
            </a:extLst>
          </p:cNvPr>
          <p:cNvSpPr>
            <a:spLocks noGrp="1"/>
          </p:cNvSpPr>
          <p:nvPr>
            <p:ph type="ctrTitle"/>
          </p:nvPr>
        </p:nvSpPr>
        <p:spPr>
          <a:xfrm>
            <a:off x="1739437" y="832843"/>
            <a:ext cx="6858000" cy="1790700"/>
          </a:xfrm>
        </p:spPr>
        <p:txBody>
          <a:bodyPr anchor="b"/>
          <a:lstStyle>
            <a:lvl1pPr algn="ctr">
              <a:defRPr sz="4500"/>
            </a:lvl1pPr>
          </a:lstStyle>
          <a:p>
            <a:r>
              <a:rPr lang="en-US"/>
              <a:t>Click to edit Master title style</a:t>
            </a:r>
          </a:p>
        </p:txBody>
      </p:sp>
      <p:sp>
        <p:nvSpPr>
          <p:cNvPr id="6" name="Subtitle 2">
            <a:extLst>
              <a:ext uri="{FF2B5EF4-FFF2-40B4-BE49-F238E27FC236}">
                <a16:creationId xmlns:a16="http://schemas.microsoft.com/office/drawing/2014/main" id="{08EA5CEB-549F-372E-999D-D62A7E38AEE3}"/>
              </a:ext>
            </a:extLst>
          </p:cNvPr>
          <p:cNvSpPr>
            <a:spLocks noGrp="1"/>
          </p:cNvSpPr>
          <p:nvPr>
            <p:ph type="subTitle" idx="1"/>
          </p:nvPr>
        </p:nvSpPr>
        <p:spPr>
          <a:xfrm>
            <a:off x="1739437" y="2692599"/>
            <a:ext cx="6858000" cy="1241822"/>
          </a:xfrm>
        </p:spPr>
        <p:txBody>
          <a:bodyPr anchor="ct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2" name="Google Shape;18;p2">
            <a:extLst>
              <a:ext uri="{FF2B5EF4-FFF2-40B4-BE49-F238E27FC236}">
                <a16:creationId xmlns:a16="http://schemas.microsoft.com/office/drawing/2014/main" id="{9E2A6AB5-1D70-B79A-CFAB-86FC3C2D0AA3}"/>
              </a:ext>
            </a:extLst>
          </p:cNvPr>
          <p:cNvSpPr/>
          <p:nvPr userDrawn="1"/>
        </p:nvSpPr>
        <p:spPr>
          <a:xfrm rot="-5400000">
            <a:off x="1030500" y="2772359"/>
            <a:ext cx="234675" cy="104625"/>
          </a:xfrm>
          <a:prstGeom prst="triangle">
            <a:avLst>
              <a:gd name="adj" fmla="val 50000"/>
            </a:avLst>
          </a:prstGeom>
          <a:solidFill>
            <a:schemeClr val="bg1"/>
          </a:solidFill>
          <a:ln>
            <a:noFill/>
          </a:ln>
          <a:effectLst>
            <a:outerShdw blurRad="50800" dist="38100" dir="10800000" algn="r" rotWithShape="0">
              <a:srgbClr val="000000">
                <a:alpha val="40000"/>
              </a:srgbClr>
            </a:outerShdw>
          </a:effectLst>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091587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b="0" i="0">
                <a:solidFill>
                  <a:schemeClr val="tx1">
                    <a:tint val="82000"/>
                  </a:schemeClr>
                </a:solidFill>
                <a:latin typeface="News Gothic MT" panose="020B0503020103020203" pitchFamily="34" charset="0"/>
              </a:defRPr>
            </a:lvl1pPr>
          </a:lstStyle>
          <a:p>
            <a:fld id="{241EB5C9-1307-BA42-ABA2-0BC069CD8E7F}" type="datetimeFigureOut">
              <a:rPr lang="en-US" smtClean="0"/>
              <a:t>3/24/26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b="0" i="0">
                <a:solidFill>
                  <a:schemeClr val="tx1">
                    <a:tint val="82000"/>
                  </a:schemeClr>
                </a:solidFill>
                <a:latin typeface="News Gothic MT" panose="020B0503020103020203" pitchFamily="34" charset="0"/>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b="0" i="0">
                <a:solidFill>
                  <a:schemeClr val="tx1">
                    <a:tint val="82000"/>
                  </a:schemeClr>
                </a:solidFill>
                <a:latin typeface="News Gothic MT" panose="020B0503020103020203" pitchFamily="34" charset="0"/>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1209768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85800" rtl="0" eaLnBrk="1" latinLnBrk="0" hangingPunct="1">
        <a:lnSpc>
          <a:spcPct val="90000"/>
        </a:lnSpc>
        <a:spcBef>
          <a:spcPct val="0"/>
        </a:spcBef>
        <a:buNone/>
        <a:defRPr sz="3300" b="1" i="0" kern="1200">
          <a:solidFill>
            <a:schemeClr val="tx1"/>
          </a:solidFill>
          <a:latin typeface="Trade Gothic Next Rounded" panose="020F05030403030200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News Gothic MT" panose="020B0503020103020203"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News Gothic MT" panose="020B0503020103020203"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News Gothic MT" panose="020B0503020103020203"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News Gothic MT" panose="020B0503020103020203"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News Gothic MT" panose="020B050302010302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4.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5.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6.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354F2-1B3C-BCE0-9C10-A856CCFE208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6493FE4-A60F-1C43-E892-C7D58FFD781D}"/>
              </a:ext>
            </a:extLst>
          </p:cNvPr>
          <p:cNvSpPr>
            <a:spLocks noGrp="1"/>
          </p:cNvSpPr>
          <p:nvPr>
            <p:ph idx="1"/>
          </p:nvPr>
        </p:nvSpPr>
        <p:spPr/>
        <p:txBody>
          <a:bodyPr/>
          <a:lstStyle/>
          <a:p>
            <a:endParaRPr lang="en-US"/>
          </a:p>
        </p:txBody>
      </p:sp>
      <p:pic>
        <p:nvPicPr>
          <p:cNvPr id="3074" name="Picture 2" descr="14.1 What Is Stress? - Psychology 2e | OpenStax">
            <a:extLst>
              <a:ext uri="{FF2B5EF4-FFF2-40B4-BE49-F238E27FC236}">
                <a16:creationId xmlns:a16="http://schemas.microsoft.com/office/drawing/2014/main" id="{1B36DDA1-1EDB-6216-A441-8BA7AE3C0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963" y="0"/>
            <a:ext cx="440848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57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7397B-DE22-2367-9DF7-F47F3BE6D1D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BD798CF-87AE-93A2-8CCD-14B6AF7E7704}"/>
              </a:ext>
            </a:extLst>
          </p:cNvPr>
          <p:cNvSpPr>
            <a:spLocks noGrp="1"/>
          </p:cNvSpPr>
          <p:nvPr>
            <p:ph idx="1"/>
          </p:nvPr>
        </p:nvSpPr>
        <p:spPr/>
        <p:txBody>
          <a:bodyPr/>
          <a:lstStyle/>
          <a:p>
            <a:endParaRPr lang="en-US"/>
          </a:p>
        </p:txBody>
      </p:sp>
      <p:pic>
        <p:nvPicPr>
          <p:cNvPr id="2050" name="Picture 2" descr="Frontiers | Australian University Students' Coping Strategies and Use of  Pharmaceutical Stimulants as Cognitive Enhancers">
            <a:extLst>
              <a:ext uri="{FF2B5EF4-FFF2-40B4-BE49-F238E27FC236}">
                <a16:creationId xmlns:a16="http://schemas.microsoft.com/office/drawing/2014/main" id="{C18CB916-91C7-2D31-7760-279883363A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750"/>
            <a:ext cx="9144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057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9307-BCA9-7C9C-50F6-90F5AFB1EEF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38D1171-C364-EA50-51C5-EA05F640A465}"/>
              </a:ext>
            </a:extLst>
          </p:cNvPr>
          <p:cNvSpPr>
            <a:spLocks noGrp="1"/>
          </p:cNvSpPr>
          <p:nvPr>
            <p:ph idx="1"/>
          </p:nvPr>
        </p:nvSpPr>
        <p:spPr/>
        <p:txBody>
          <a:bodyPr/>
          <a:lstStyle/>
          <a:p>
            <a:endParaRPr lang="en-US"/>
          </a:p>
        </p:txBody>
      </p:sp>
      <p:pic>
        <p:nvPicPr>
          <p:cNvPr id="1026" name="Picture 2" descr="Emotion-focused and problem-focused coping skills">
            <a:extLst>
              <a:ext uri="{FF2B5EF4-FFF2-40B4-BE49-F238E27FC236}">
                <a16:creationId xmlns:a16="http://schemas.microsoft.com/office/drawing/2014/main" id="{C262AE47-0D64-EDB5-ECF8-EAAED1C05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0"/>
            <a:ext cx="771525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22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t>Topic 16: Health</a:t>
            </a:r>
          </a:p>
        </p:txBody>
      </p:sp>
      <p:sp>
        <p:nvSpPr>
          <p:cNvPr id="3" name="Subtitle 2"/>
          <p:cNvSpPr>
            <a:spLocks noGrp="1"/>
          </p:cNvSpPr>
          <p:nvPr>
            <p:ph type="subTitle" idx="1"/>
          </p:nvPr>
        </p:nvSpPr>
        <p:spPr/>
        <p:txBody>
          <a:bodyPr/>
          <a:lstStyle/>
          <a:p>
            <a:pPr marL="0" lvl="0" indent="0">
              <a:buNone/>
            </a:pPr>
            <a:br/>
            <a:b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Topic 16: Health</a:t>
            </a:r>
          </a:p>
        </p:txBody>
      </p:sp>
      <p:sp>
        <p:nvSpPr>
          <p:cNvPr id="3" name="Content Placeholder 2"/>
          <p:cNvSpPr>
            <a:spLocks noGrp="1"/>
          </p:cNvSpPr>
          <p:nvPr>
            <p:ph idx="1"/>
          </p:nvPr>
        </p:nvSpPr>
        <p:spPr/>
        <p:txBody>
          <a:bodyPr>
            <a:normAutofit fontScale="92500" lnSpcReduction="20000"/>
          </a:bodyPr>
          <a:lstStyle/>
          <a:p>
            <a:pPr marL="0" lvl="0" indent="0">
              <a:spcBef>
                <a:spcPts val="3000"/>
              </a:spcBef>
              <a:buNone/>
            </a:pPr>
            <a:r>
              <a:rPr b="1"/>
              <a:t>Why this matters</a:t>
            </a:r>
          </a:p>
          <a:p>
            <a:pPr marL="0" lvl="0" indent="0">
              <a:buNone/>
            </a:pPr>
            <a:r>
              <a:t>Two people can go through the same stressful week and end up with very different patterns of coping, sleep, functioning, and health.</a:t>
            </a:r>
          </a:p>
          <a:p>
            <a:pPr marL="0" lvl="0" indent="0">
              <a:spcBef>
                <a:spcPts val="3000"/>
              </a:spcBef>
              <a:buNone/>
            </a:pPr>
            <a:r>
              <a:rPr b="1"/>
              <a:t>Learning targets</a:t>
            </a:r>
          </a:p>
          <a:p>
            <a:pPr marL="0" lvl="0" indent="0">
              <a:buNone/>
            </a:pPr>
            <a:r>
              <a:t>By the end of class, students will be able to:</a:t>
            </a:r>
          </a:p>
          <a:p>
            <a:pPr lvl="0"/>
            <a:r>
              <a:t>explain stress as a process involving appraisal, physiology, coping, and outcomes</a:t>
            </a:r>
          </a:p>
          <a:p>
            <a:pPr lvl="0"/>
            <a:r>
              <a:t>describe how coping, social support, and context can change health-related outcomes</a:t>
            </a:r>
          </a:p>
          <a:p>
            <a:pPr lvl="0"/>
            <a:r>
              <a:t>apply the stress-and-health framework to a realistic everyday situation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Today’s roadmap</a:t>
            </a:r>
          </a:p>
        </p:txBody>
      </p:sp>
      <p:sp>
        <p:nvSpPr>
          <p:cNvPr id="3" name="Content Placeholder 2"/>
          <p:cNvSpPr>
            <a:spLocks noGrp="1"/>
          </p:cNvSpPr>
          <p:nvPr>
            <p:ph idx="1"/>
          </p:nvPr>
        </p:nvSpPr>
        <p:spPr/>
        <p:txBody>
          <a:bodyPr/>
          <a:lstStyle/>
          <a:p>
            <a:pPr lvl="0"/>
            <a:r>
              <a:t>start with a stress puzzle</a:t>
            </a:r>
          </a:p>
          <a:p>
            <a:pPr lvl="0"/>
            <a:r>
              <a:t>build the stress-and-health model</a:t>
            </a:r>
          </a:p>
          <a:p>
            <a:pPr lvl="0"/>
            <a:r>
              <a:t>test coping fit</a:t>
            </a:r>
          </a:p>
          <a:p>
            <a:pPr lvl="0"/>
            <a:r>
              <a:t>apply the model to a realistic scenario</a:t>
            </a:r>
          </a:p>
          <a:p>
            <a:pPr lvl="0"/>
            <a:r>
              <a:t>close with a short exit ticket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this topic covers</a:t>
            </a:r>
          </a:p>
        </p:txBody>
      </p:sp>
      <p:sp>
        <p:nvSpPr>
          <p:cNvPr id="3" name="Content Placeholder 2"/>
          <p:cNvSpPr>
            <a:spLocks noGrp="1"/>
          </p:cNvSpPr>
          <p:nvPr>
            <p:ph idx="1"/>
          </p:nvPr>
        </p:nvSpPr>
        <p:spPr/>
        <p:txBody>
          <a:bodyPr/>
          <a:lstStyle/>
          <a:p>
            <a:pPr lvl="0"/>
            <a:r>
              <a:t>how stress processes relate to health</a:t>
            </a:r>
          </a:p>
          <a:p>
            <a:pPr lvl="0"/>
            <a:r>
              <a:t>how coping and social support can change outcomes</a:t>
            </a:r>
          </a:p>
          <a:p>
            <a:pPr lvl="0"/>
            <a:r>
              <a:t>how health behaviors and access shape risk and recovery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Health is multi-factor</a:t>
            </a:r>
          </a:p>
        </p:txBody>
      </p:sp>
      <p:sp>
        <p:nvSpPr>
          <p:cNvPr id="3" name="Content Placeholder 2"/>
          <p:cNvSpPr>
            <a:spLocks noGrp="1"/>
          </p:cNvSpPr>
          <p:nvPr>
            <p:ph idx="1"/>
          </p:nvPr>
        </p:nvSpPr>
        <p:spPr/>
        <p:txBody>
          <a:bodyPr/>
          <a:lstStyle/>
          <a:p>
            <a:pPr lvl="0"/>
            <a:r>
              <a:t>biology matters</a:t>
            </a:r>
          </a:p>
          <a:p>
            <a:pPr lvl="0"/>
            <a:r>
              <a:t>behavior matters</a:t>
            </a:r>
          </a:p>
          <a:p>
            <a:pPr lvl="0"/>
            <a:r>
              <a:t>stress processes matter</a:t>
            </a:r>
          </a:p>
          <a:p>
            <a:pPr lvl="0"/>
            <a:r>
              <a:t>context matters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Warm-up</a:t>
            </a:r>
          </a:p>
        </p:txBody>
      </p:sp>
      <p:sp>
        <p:nvSpPr>
          <p:cNvPr id="3" name="Content Placeholder 2"/>
          <p:cNvSpPr>
            <a:spLocks noGrp="1"/>
          </p:cNvSpPr>
          <p:nvPr>
            <p:ph idx="1"/>
          </p:nvPr>
        </p:nvSpPr>
        <p:spPr/>
        <p:txBody>
          <a:bodyPr/>
          <a:lstStyle/>
          <a:p>
            <a:pPr marL="0" lvl="0" indent="0">
              <a:buNone/>
            </a:pPr>
            <a:r>
              <a:t>Two students have the same bad week:</a:t>
            </a:r>
          </a:p>
          <a:p>
            <a:pPr lvl="0"/>
            <a:r>
              <a:t>too much work</a:t>
            </a:r>
          </a:p>
          <a:p>
            <a:pPr lvl="0"/>
            <a:r>
              <a:t>not enough sleep</a:t>
            </a:r>
          </a:p>
          <a:p>
            <a:pPr lvl="0"/>
            <a:r>
              <a:t>no extra time</a:t>
            </a:r>
          </a:p>
          <a:p>
            <a:pPr marL="0" lvl="0" indent="0">
              <a:buNone/>
            </a:pPr>
            <a:r>
              <a:t>By Friday, one is stressed but functioning.</a:t>
            </a:r>
            <a:br/>
            <a:r>
              <a:t>The other is stressed and unraveling.</a:t>
            </a:r>
          </a:p>
          <a:p>
            <a:pPr marL="0" lvl="0" indent="0">
              <a:buNone/>
            </a:pPr>
            <a:r>
              <a:t>What would psychology look at first to explain the difference?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psychological view of health</a:t>
            </a:r>
          </a:p>
        </p:txBody>
      </p:sp>
      <p:sp>
        <p:nvSpPr>
          <p:cNvPr id="3" name="Content Placeholder 2"/>
          <p:cNvSpPr>
            <a:spLocks noGrp="1"/>
          </p:cNvSpPr>
          <p:nvPr>
            <p:ph idx="1"/>
          </p:nvPr>
        </p:nvSpPr>
        <p:spPr/>
        <p:txBody>
          <a:bodyPr/>
          <a:lstStyle/>
          <a:p>
            <a:pPr marL="0" lvl="0" indent="0">
              <a:buNone/>
            </a:pPr>
            <a:r>
              <a:t>Health is not just about what happens in the body.</a:t>
            </a:r>
          </a:p>
          <a:p>
            <a:pPr marL="0" lvl="0" indent="0">
              <a:buNone/>
            </a:pPr>
            <a:r>
              <a:t>Health is also shaped by:</a:t>
            </a:r>
          </a:p>
          <a:p>
            <a:pPr lvl="0"/>
            <a:r>
              <a:t>how people interpret demands</a:t>
            </a:r>
          </a:p>
          <a:p>
            <a:pPr lvl="0"/>
            <a:r>
              <a:t>how they respond to those demands</a:t>
            </a:r>
          </a:p>
          <a:p>
            <a:pPr lvl="0"/>
            <a:r>
              <a:t>what support they have</a:t>
            </a:r>
          </a:p>
          <a:p>
            <a:pPr lvl="0"/>
            <a:r>
              <a:t>what options and barriers their environment creates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Stress is a process</a:t>
            </a:r>
          </a:p>
        </p:txBody>
      </p:sp>
      <p:sp>
        <p:nvSpPr>
          <p:cNvPr id="3" name="Content Placeholder 2"/>
          <p:cNvSpPr>
            <a:spLocks noGrp="1"/>
          </p:cNvSpPr>
          <p:nvPr>
            <p:ph idx="1"/>
          </p:nvPr>
        </p:nvSpPr>
        <p:spPr/>
        <p:txBody>
          <a:bodyPr/>
          <a:lstStyle/>
          <a:p>
            <a:pPr marL="0" lvl="0" indent="0">
              <a:buNone/>
            </a:pPr>
            <a:r>
              <a:t>Psychologists do not treat stress as only an event or only a feeling.</a:t>
            </a:r>
          </a:p>
          <a:p>
            <a:pPr marL="0" lvl="0" indent="0">
              <a:buNone/>
            </a:pPr>
            <a:r>
              <a:t>A stress process usually includes:</a:t>
            </a:r>
          </a:p>
          <a:p>
            <a:pPr lvl="0"/>
            <a:r>
              <a:t>a stressor or demand</a:t>
            </a:r>
          </a:p>
          <a:p>
            <a:pPr lvl="0"/>
            <a:r>
              <a:t>an appraisal of meaning, control, and resources</a:t>
            </a:r>
          </a:p>
          <a:p>
            <a:pPr lvl="0"/>
            <a:r>
              <a:t>a physiological response</a:t>
            </a:r>
          </a:p>
          <a:p>
            <a:pPr lvl="0"/>
            <a:r>
              <a:t>coping responses</a:t>
            </a:r>
          </a:p>
          <a:p>
            <a:pPr lvl="0"/>
            <a:r>
              <a:t>short-term and long-term outcomes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The same stressor can lead to different outcomes</a:t>
            </a:r>
          </a:p>
        </p:txBody>
      </p:sp>
      <p:sp>
        <p:nvSpPr>
          <p:cNvPr id="3" name="Content Placeholder 2"/>
          <p:cNvSpPr>
            <a:spLocks noGrp="1"/>
          </p:cNvSpPr>
          <p:nvPr>
            <p:ph idx="1"/>
          </p:nvPr>
        </p:nvSpPr>
        <p:spPr/>
        <p:txBody>
          <a:bodyPr/>
          <a:lstStyle/>
          <a:p>
            <a:pPr marL="0" lvl="0" indent="0">
              <a:buNone/>
            </a:pPr>
            <a:r>
              <a:t>Two people can face the same demand and still end up with different outcomes because they may differ in:</a:t>
            </a:r>
          </a:p>
          <a:p>
            <a:pPr lvl="0"/>
            <a:r>
              <a:t>what the situation means to them</a:t>
            </a:r>
          </a:p>
          <a:p>
            <a:pPr lvl="0"/>
            <a:r>
              <a:t>how much control they think they have</a:t>
            </a:r>
          </a:p>
          <a:p>
            <a:pPr lvl="0"/>
            <a:r>
              <a:t>what resources they believe are available</a:t>
            </a:r>
          </a:p>
          <a:p>
            <a:pPr lvl="0"/>
            <a:r>
              <a:t>how they respond once stress begins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Appraisal shapes stress</a:t>
            </a:r>
          </a:p>
        </p:txBody>
      </p:sp>
      <p:sp>
        <p:nvSpPr>
          <p:cNvPr id="3" name="Content Placeholder 2"/>
          <p:cNvSpPr>
            <a:spLocks noGrp="1"/>
          </p:cNvSpPr>
          <p:nvPr>
            <p:ph idx="1"/>
          </p:nvPr>
        </p:nvSpPr>
        <p:spPr/>
        <p:txBody>
          <a:bodyPr/>
          <a:lstStyle/>
          <a:p>
            <a:pPr marL="0" lvl="0" indent="0">
              <a:buNone/>
            </a:pPr>
            <a:r>
              <a:t>Appraisal includes questions like:</a:t>
            </a:r>
          </a:p>
          <a:p>
            <a:pPr lvl="0"/>
            <a:r>
              <a:t>Is this a threat, a challenge, or something manageable?</a:t>
            </a:r>
          </a:p>
          <a:p>
            <a:pPr lvl="0"/>
            <a:r>
              <a:t>How much control do I have?</a:t>
            </a:r>
          </a:p>
          <a:p>
            <a:pPr lvl="0"/>
            <a:r>
              <a:t>What resources can I use?</a:t>
            </a:r>
          </a:p>
          <a:p>
            <a:pPr lvl="0"/>
            <a:r>
              <a:t>What is likely to happen next?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Acute and chronic stress are different</a:t>
            </a:r>
          </a:p>
        </p:txBody>
      </p:sp>
      <p:sp>
        <p:nvSpPr>
          <p:cNvPr id="3" name="Content Placeholder 2"/>
          <p:cNvSpPr>
            <a:spLocks noGrp="1"/>
          </p:cNvSpPr>
          <p:nvPr>
            <p:ph idx="1"/>
          </p:nvPr>
        </p:nvSpPr>
        <p:spPr/>
        <p:txBody>
          <a:bodyPr/>
          <a:lstStyle/>
          <a:p>
            <a:pPr lvl="0"/>
            <a:r>
              <a:t>acute stress can support short-term action</a:t>
            </a:r>
          </a:p>
          <a:p>
            <a:pPr lvl="0"/>
            <a:r>
              <a:t>chronic stress can increase long-term strain</a:t>
            </a:r>
          </a:p>
          <a:p>
            <a:pPr lvl="0"/>
            <a:r>
              <a:t>effects depend on duration, repetition, and context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the body matters in this lesson</a:t>
            </a:r>
          </a:p>
        </p:txBody>
      </p:sp>
      <p:sp>
        <p:nvSpPr>
          <p:cNvPr id="3" name="Content Placeholder 2"/>
          <p:cNvSpPr>
            <a:spLocks noGrp="1"/>
          </p:cNvSpPr>
          <p:nvPr>
            <p:ph idx="1"/>
          </p:nvPr>
        </p:nvSpPr>
        <p:spPr/>
        <p:txBody>
          <a:bodyPr/>
          <a:lstStyle/>
          <a:p>
            <a:pPr marL="0" lvl="0" indent="0">
              <a:buNone/>
            </a:pPr>
            <a:r>
              <a:t>Stress is psychological, but it is not only psychological.</a:t>
            </a:r>
          </a:p>
          <a:p>
            <a:pPr marL="0" lvl="0" indent="0">
              <a:buNone/>
            </a:pPr>
            <a:r>
              <a:t>To understand health outcomes, we also need to think about:</a:t>
            </a:r>
          </a:p>
          <a:p>
            <a:pPr lvl="0"/>
            <a:r>
              <a:t>rapid bodily activation</a:t>
            </a:r>
          </a:p>
          <a:p>
            <a:pPr lvl="0"/>
            <a:r>
              <a:t>slower hormonal signaling</a:t>
            </a:r>
          </a:p>
          <a:p>
            <a:pPr lvl="0"/>
            <a:r>
              <a:t>repeated activation over 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Sympathetic and HPA pathways</a:t>
            </a:r>
          </a:p>
        </p:txBody>
      </p:sp>
      <p:sp>
        <p:nvSpPr>
          <p:cNvPr id="3" name="Content Placeholder 2"/>
          <p:cNvSpPr>
            <a:spLocks noGrp="1"/>
          </p:cNvSpPr>
          <p:nvPr>
            <p:ph sz="half" idx="1"/>
          </p:nvPr>
        </p:nvSpPr>
        <p:spPr/>
        <p:txBody>
          <a:bodyPr/>
          <a:lstStyle/>
          <a:p>
            <a:pPr marL="0" lvl="0" indent="0">
              <a:spcBef>
                <a:spcPts val="3000"/>
              </a:spcBef>
              <a:buNone/>
            </a:pPr>
            <a:r>
              <a:rPr b="1"/>
              <a:t>Sympathetic pathway</a:t>
            </a:r>
          </a:p>
          <a:p>
            <a:pPr lvl="0"/>
            <a:r>
              <a:t>fast activation</a:t>
            </a:r>
          </a:p>
          <a:p>
            <a:pPr lvl="0"/>
            <a:r>
              <a:t>prepares immediate action</a:t>
            </a:r>
          </a:p>
          <a:p>
            <a:pPr lvl="0"/>
            <a:r>
              <a:t>short time scale</a:t>
            </a:r>
          </a:p>
        </p:txBody>
      </p:sp>
      <p:sp>
        <p:nvSpPr>
          <p:cNvPr id="4" name="Content Placeholder 3"/>
          <p:cNvSpPr>
            <a:spLocks noGrp="1"/>
          </p:cNvSpPr>
          <p:nvPr>
            <p:ph sz="half" idx="2"/>
          </p:nvPr>
        </p:nvSpPr>
        <p:spPr/>
        <p:txBody>
          <a:bodyPr/>
          <a:lstStyle/>
          <a:p>
            <a:pPr marL="0" lvl="0" indent="0">
              <a:spcBef>
                <a:spcPts val="3000"/>
              </a:spcBef>
              <a:buNone/>
            </a:pPr>
            <a:r>
              <a:rPr b="1"/>
              <a:t>HPA axis pathway</a:t>
            </a:r>
          </a:p>
          <a:p>
            <a:pPr lvl="0"/>
            <a:r>
              <a:t>slower stress pathway</a:t>
            </a:r>
          </a:p>
          <a:p>
            <a:pPr lvl="0"/>
            <a:r>
              <a:t>involves cortisol</a:t>
            </a:r>
          </a:p>
          <a:p>
            <a:pPr lvl="0"/>
            <a:r>
              <a:t>longer time scale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Cortisol requires caution</a:t>
            </a:r>
          </a:p>
        </p:txBody>
      </p:sp>
      <p:sp>
        <p:nvSpPr>
          <p:cNvPr id="3" name="Content Placeholder 2"/>
          <p:cNvSpPr>
            <a:spLocks noGrp="1"/>
          </p:cNvSpPr>
          <p:nvPr>
            <p:ph idx="1"/>
          </p:nvPr>
        </p:nvSpPr>
        <p:spPr/>
        <p:txBody>
          <a:bodyPr/>
          <a:lstStyle/>
          <a:p>
            <a:pPr marL="0" lvl="0" indent="0">
              <a:buNone/>
            </a:pPr>
            <a:r>
              <a:t>Cortisol is part of the body’s stress response, but it is not a simple “stress meter.”</a:t>
            </a:r>
          </a:p>
          <a:p>
            <a:pPr lvl="0"/>
            <a:r>
              <a:t>timing matters</a:t>
            </a:r>
          </a:p>
          <a:p>
            <a:pPr lvl="0"/>
            <a:r>
              <a:t>context matters</a:t>
            </a:r>
          </a:p>
          <a:p>
            <a:pPr lvl="0"/>
            <a:r>
              <a:t>a single reading does not explain the whole process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Allostatic load</a:t>
            </a:r>
          </a:p>
        </p:txBody>
      </p:sp>
      <p:sp>
        <p:nvSpPr>
          <p:cNvPr id="3" name="Content Placeholder 2"/>
          <p:cNvSpPr>
            <a:spLocks noGrp="1"/>
          </p:cNvSpPr>
          <p:nvPr>
            <p:ph idx="1"/>
          </p:nvPr>
        </p:nvSpPr>
        <p:spPr/>
        <p:txBody>
          <a:bodyPr/>
          <a:lstStyle/>
          <a:p>
            <a:pPr lvl="0"/>
            <a:r>
              <a:t>cumulative wear linked to repeated activation over time</a:t>
            </a:r>
          </a:p>
          <a:p>
            <a:pPr lvl="0"/>
            <a:r>
              <a:t>involves multiple systems, not one single marker</a:t>
            </a:r>
          </a:p>
          <a:p>
            <a:pPr lvl="0"/>
            <a:r>
              <a:t>depends on how it is measured and over what timescale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Psychoneuroimmunology</a:t>
            </a:r>
          </a:p>
        </p:txBody>
      </p:sp>
      <p:sp>
        <p:nvSpPr>
          <p:cNvPr id="3" name="Content Placeholder 2"/>
          <p:cNvSpPr>
            <a:spLocks noGrp="1"/>
          </p:cNvSpPr>
          <p:nvPr>
            <p:ph idx="1"/>
          </p:nvPr>
        </p:nvSpPr>
        <p:spPr/>
        <p:txBody>
          <a:bodyPr/>
          <a:lstStyle/>
          <a:p>
            <a:pPr marL="0" lvl="0" indent="0">
              <a:buNone/>
            </a:pPr>
            <a:r>
              <a:t>Psychologists study how stress-related processes connect with nervous, endocrine, and immune functioning.</a:t>
            </a:r>
          </a:p>
          <a:p>
            <a:pPr marL="0" lvl="0" indent="0">
              <a:buNone/>
            </a:pPr>
            <a:r>
              <a:t>Key idea:</a:t>
            </a:r>
          </a:p>
          <a:p>
            <a:pPr lvl="0"/>
            <a:r>
              <a:t>stress processes can influence immune-related outcomes</a:t>
            </a:r>
          </a:p>
          <a:p>
            <a:pPr lvl="0"/>
            <a:r>
              <a:t>the pathways are multi-factor</a:t>
            </a:r>
          </a:p>
          <a:p>
            <a:pPr lvl="0"/>
            <a:r>
              <a:t>strong conclusions require careful evidence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Coping changes outcomes</a:t>
            </a:r>
          </a:p>
        </p:txBody>
      </p:sp>
      <p:sp>
        <p:nvSpPr>
          <p:cNvPr id="3" name="Content Placeholder 2"/>
          <p:cNvSpPr>
            <a:spLocks noGrp="1"/>
          </p:cNvSpPr>
          <p:nvPr>
            <p:ph idx="1"/>
          </p:nvPr>
        </p:nvSpPr>
        <p:spPr/>
        <p:txBody>
          <a:bodyPr/>
          <a:lstStyle/>
          <a:p>
            <a:pPr marL="0" lvl="0" indent="0">
              <a:buNone/>
            </a:pPr>
            <a:r>
              <a:t>Coping is how a person responds to demands.</a:t>
            </a:r>
          </a:p>
          <a:p>
            <a:pPr marL="0" lvl="0" indent="0">
              <a:buNone/>
            </a:pPr>
            <a:r>
              <a:t>Coping can change:</a:t>
            </a:r>
          </a:p>
          <a:p>
            <a:pPr lvl="0"/>
            <a:r>
              <a:t>the situation itself</a:t>
            </a:r>
          </a:p>
          <a:p>
            <a:pPr lvl="0"/>
            <a:r>
              <a:t>the meaning of the situation</a:t>
            </a:r>
          </a:p>
          <a:p>
            <a:pPr lvl="0"/>
            <a:r>
              <a:t>the body’s response</a:t>
            </a:r>
          </a:p>
          <a:p>
            <a:pPr lvl="0"/>
            <a:r>
              <a:t>later health behavior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Problem-focused coping</a:t>
            </a:r>
          </a:p>
        </p:txBody>
      </p:sp>
      <p:sp>
        <p:nvSpPr>
          <p:cNvPr id="3" name="Content Placeholder 2"/>
          <p:cNvSpPr>
            <a:spLocks noGrp="1"/>
          </p:cNvSpPr>
          <p:nvPr>
            <p:ph idx="1"/>
          </p:nvPr>
        </p:nvSpPr>
        <p:spPr/>
        <p:txBody>
          <a:bodyPr/>
          <a:lstStyle/>
          <a:p>
            <a:pPr lvl="0"/>
            <a:r>
              <a:t>targets the stressor or situation</a:t>
            </a:r>
          </a:p>
          <a:p>
            <a:pPr lvl="0"/>
            <a:r>
              <a:t>includes planning and action steps</a:t>
            </a:r>
          </a:p>
          <a:p>
            <a:pPr lvl="0"/>
            <a:r>
              <a:t>works best when some part of the situation can be changed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Emotion-focused coping</a:t>
            </a:r>
          </a:p>
        </p:txBody>
      </p:sp>
      <p:sp>
        <p:nvSpPr>
          <p:cNvPr id="3" name="Content Placeholder 2"/>
          <p:cNvSpPr>
            <a:spLocks noGrp="1"/>
          </p:cNvSpPr>
          <p:nvPr>
            <p:ph idx="1"/>
          </p:nvPr>
        </p:nvSpPr>
        <p:spPr/>
        <p:txBody>
          <a:bodyPr/>
          <a:lstStyle/>
          <a:p>
            <a:pPr lvl="0"/>
            <a:r>
              <a:t>targets emotion and meaning</a:t>
            </a:r>
          </a:p>
          <a:p>
            <a:pPr lvl="0"/>
            <a:r>
              <a:t>includes reappraisal, acceptance, and regulation strategies</a:t>
            </a:r>
          </a:p>
          <a:p>
            <a:pPr lvl="0"/>
            <a:r>
              <a:t>works best when the situation cannot be fully changed right now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Coping effectiveness is context-dependent</a:t>
            </a:r>
          </a:p>
        </p:txBody>
      </p:sp>
      <p:sp>
        <p:nvSpPr>
          <p:cNvPr id="3" name="Content Placeholder 2"/>
          <p:cNvSpPr>
            <a:spLocks noGrp="1"/>
          </p:cNvSpPr>
          <p:nvPr>
            <p:ph idx="1"/>
          </p:nvPr>
        </p:nvSpPr>
        <p:spPr/>
        <p:txBody>
          <a:bodyPr/>
          <a:lstStyle/>
          <a:p>
            <a:pPr marL="0" lvl="0" indent="0">
              <a:buNone/>
            </a:pPr>
            <a:r>
              <a:t>A coping strategy is not universally good or bad.</a:t>
            </a:r>
          </a:p>
          <a:p>
            <a:pPr marL="0" lvl="0" indent="0">
              <a:buNone/>
            </a:pPr>
            <a:r>
              <a:t>What matters:</a:t>
            </a:r>
          </a:p>
          <a:p>
            <a:pPr lvl="0"/>
            <a:r>
              <a:t>controllability</a:t>
            </a:r>
          </a:p>
          <a:p>
            <a:pPr lvl="0"/>
            <a:r>
              <a:t>timing</a:t>
            </a:r>
          </a:p>
          <a:p>
            <a:pPr lvl="0"/>
            <a:r>
              <a:t>costs</a:t>
            </a:r>
          </a:p>
          <a:p>
            <a:pPr lvl="0"/>
            <a:r>
              <a:t>trade-offs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Check for understanding</a:t>
            </a:r>
          </a:p>
        </p:txBody>
      </p:sp>
      <p:sp>
        <p:nvSpPr>
          <p:cNvPr id="3" name="Content Placeholder 2"/>
          <p:cNvSpPr>
            <a:spLocks noGrp="1"/>
          </p:cNvSpPr>
          <p:nvPr>
            <p:ph idx="1"/>
          </p:nvPr>
        </p:nvSpPr>
        <p:spPr/>
        <p:txBody>
          <a:bodyPr>
            <a:normAutofit fontScale="92500" lnSpcReduction="20000"/>
          </a:bodyPr>
          <a:lstStyle/>
          <a:p>
            <a:pPr marL="0" lvl="0" indent="0">
              <a:buNone/>
            </a:pPr>
            <a:r>
              <a:t>Which kind of coping is the better fit?</a:t>
            </a:r>
          </a:p>
          <a:p>
            <a:pPr marL="0" lvl="0" indent="0">
              <a:spcBef>
                <a:spcPts val="3000"/>
              </a:spcBef>
              <a:buNone/>
            </a:pPr>
            <a:r>
              <a:rPr b="1"/>
              <a:t>Situation A</a:t>
            </a:r>
          </a:p>
          <a:p>
            <a:pPr marL="0" lvl="0" indent="0">
              <a:buNone/>
            </a:pPr>
            <a:r>
              <a:t>You forgot three deadlines and now your week is overloaded.</a:t>
            </a:r>
          </a:p>
          <a:p>
            <a:pPr marL="0" lvl="0" indent="0">
              <a:spcBef>
                <a:spcPts val="3000"/>
              </a:spcBef>
              <a:buNone/>
            </a:pPr>
            <a:r>
              <a:rPr b="1"/>
              <a:t>Situation B</a:t>
            </a:r>
          </a:p>
          <a:p>
            <a:pPr marL="0" lvl="0" indent="0">
              <a:buNone/>
            </a:pPr>
            <a:r>
              <a:t>A family member is in the hospital and you cannot change that today.</a:t>
            </a:r>
          </a:p>
          <a:p>
            <a:pPr marL="0" lvl="0" indent="0">
              <a:buNone/>
            </a:pPr>
            <a:r>
              <a:t>Think about which situation calls more for:</a:t>
            </a:r>
          </a:p>
          <a:p>
            <a:pPr lvl="0"/>
            <a:r>
              <a:t>problem-focused coping</a:t>
            </a:r>
          </a:p>
          <a:p>
            <a:pPr lvl="0"/>
            <a:r>
              <a:t>emotion-focused coping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Student processing activity</a:t>
            </a:r>
          </a:p>
        </p:txBody>
      </p:sp>
      <p:sp>
        <p:nvSpPr>
          <p:cNvPr id="3" name="Content Placeholder 2"/>
          <p:cNvSpPr>
            <a:spLocks noGrp="1"/>
          </p:cNvSpPr>
          <p:nvPr>
            <p:ph idx="1"/>
          </p:nvPr>
        </p:nvSpPr>
        <p:spPr/>
        <p:txBody>
          <a:bodyPr>
            <a:normAutofit fontScale="92500"/>
          </a:bodyPr>
          <a:lstStyle/>
          <a:p>
            <a:pPr marL="0" lvl="0" indent="0">
              <a:spcBef>
                <a:spcPts val="3000"/>
              </a:spcBef>
              <a:buNone/>
            </a:pPr>
            <a:r>
              <a:rPr b="1"/>
              <a:t>Scenario</a:t>
            </a:r>
          </a:p>
          <a:p>
            <a:pPr marL="0" lvl="0" indent="0">
              <a:buNone/>
            </a:pPr>
            <a:r>
              <a:t>A student is working, has two major assignments due, is sleeping badly, and stops doing the routines that usually help.</a:t>
            </a:r>
          </a:p>
          <a:p>
            <a:pPr marL="0" lvl="0" indent="0">
              <a:buNone/>
            </a:pPr>
            <a:r>
              <a:t>Trace the likely chain:</a:t>
            </a:r>
          </a:p>
          <a:p>
            <a:pPr lvl="0"/>
            <a:r>
              <a:t>appraisal</a:t>
            </a:r>
          </a:p>
          <a:p>
            <a:pPr lvl="0"/>
            <a:r>
              <a:t>stress response</a:t>
            </a:r>
          </a:p>
          <a:p>
            <a:pPr lvl="0"/>
            <a:r>
              <a:t>coping choices</a:t>
            </a:r>
          </a:p>
          <a:p>
            <a:pPr lvl="0"/>
            <a:r>
              <a:t>sleep and activity changes</a:t>
            </a:r>
          </a:p>
          <a:p>
            <a:pPr lvl="0"/>
            <a:r>
              <a:t>recovery over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Processing prompts</a:t>
            </a:r>
          </a:p>
        </p:txBody>
      </p:sp>
      <p:sp>
        <p:nvSpPr>
          <p:cNvPr id="3" name="Content Placeholder 2"/>
          <p:cNvSpPr>
            <a:spLocks noGrp="1"/>
          </p:cNvSpPr>
          <p:nvPr>
            <p:ph idx="1"/>
          </p:nvPr>
        </p:nvSpPr>
        <p:spPr/>
        <p:txBody>
          <a:bodyPr/>
          <a:lstStyle/>
          <a:p>
            <a:pPr marL="0" lvl="0" indent="0">
              <a:buNone/>
            </a:pPr>
            <a:r>
              <a:t>Identify:</a:t>
            </a:r>
          </a:p>
          <a:p>
            <a:pPr lvl="0"/>
            <a:r>
              <a:t>one likely appraisal</a:t>
            </a:r>
          </a:p>
          <a:p>
            <a:pPr lvl="0"/>
            <a:r>
              <a:t>one likely stress-response change</a:t>
            </a:r>
          </a:p>
          <a:p>
            <a:pPr lvl="0"/>
            <a:r>
              <a:t>one problem-focused coping option</a:t>
            </a:r>
          </a:p>
          <a:p>
            <a:pPr lvl="0"/>
            <a:r>
              <a:t>one emotion-focused coping option</a:t>
            </a:r>
          </a:p>
          <a:p>
            <a:pPr lvl="0"/>
            <a:r>
              <a:t>one support factor that could help</a:t>
            </a:r>
          </a:p>
          <a:p>
            <a:pPr lvl="0"/>
            <a:r>
              <a:t>one context barrier that could make healthy behavior harder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Debrief and feedback</a:t>
            </a:r>
          </a:p>
        </p:txBody>
      </p:sp>
      <p:sp>
        <p:nvSpPr>
          <p:cNvPr id="3" name="Content Placeholder 2"/>
          <p:cNvSpPr>
            <a:spLocks noGrp="1"/>
          </p:cNvSpPr>
          <p:nvPr>
            <p:ph idx="1"/>
          </p:nvPr>
        </p:nvSpPr>
        <p:spPr/>
        <p:txBody>
          <a:bodyPr/>
          <a:lstStyle/>
          <a:p>
            <a:pPr marL="0" lvl="0" indent="0">
              <a:buNone/>
            </a:pPr>
            <a:r>
              <a:t>When groups share, listen for these common problems:</a:t>
            </a:r>
          </a:p>
          <a:p>
            <a:pPr lvl="0"/>
            <a:r>
              <a:t>treating stress as only a feeling</a:t>
            </a:r>
          </a:p>
          <a:p>
            <a:pPr lvl="0"/>
            <a:r>
              <a:t>assuming stress automatically causes disease</a:t>
            </a:r>
          </a:p>
          <a:p>
            <a:pPr lvl="0"/>
            <a:r>
              <a:t>acting like one coping style is always best</a:t>
            </a:r>
          </a:p>
          <a:p>
            <a:pPr lvl="0"/>
            <a:r>
              <a:t>treating biology as the whole explanation</a:t>
            </a:r>
          </a:p>
          <a:p>
            <a:pPr lvl="0"/>
            <a:r>
              <a:t>ignoring barriers and context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Common confusions to avoid</a:t>
            </a:r>
          </a:p>
        </p:txBody>
      </p:sp>
      <p:sp>
        <p:nvSpPr>
          <p:cNvPr id="3" name="Content Placeholder 2"/>
          <p:cNvSpPr>
            <a:spLocks noGrp="1"/>
          </p:cNvSpPr>
          <p:nvPr>
            <p:ph idx="1"/>
          </p:nvPr>
        </p:nvSpPr>
        <p:spPr/>
        <p:txBody>
          <a:bodyPr/>
          <a:lstStyle/>
          <a:p>
            <a:pPr lvl="0"/>
            <a:r>
              <a:t>stress is only a feeling</a:t>
            </a:r>
          </a:p>
          <a:p>
            <a:pPr lvl="0"/>
            <a:r>
              <a:t>stress automatically causes disease</a:t>
            </a:r>
          </a:p>
          <a:p>
            <a:pPr lvl="0"/>
            <a:r>
              <a:t>one coping style is always best</a:t>
            </a:r>
          </a:p>
          <a:p>
            <a:pPr lvl="0"/>
            <a:r>
              <a:t>biomarkers prove simple answers</a:t>
            </a:r>
          </a:p>
          <a:p>
            <a:pPr lvl="0"/>
            <a:r>
              <a:t>health is only personal responsibility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Social support can change outcomes</a:t>
            </a:r>
          </a:p>
        </p:txBody>
      </p:sp>
      <p:sp>
        <p:nvSpPr>
          <p:cNvPr id="3" name="Content Placeholder 2"/>
          <p:cNvSpPr>
            <a:spLocks noGrp="1"/>
          </p:cNvSpPr>
          <p:nvPr>
            <p:ph idx="1"/>
          </p:nvPr>
        </p:nvSpPr>
        <p:spPr/>
        <p:txBody>
          <a:bodyPr/>
          <a:lstStyle/>
          <a:p>
            <a:pPr marL="0" lvl="0" indent="0">
              <a:buNone/>
            </a:pPr>
            <a:r>
              <a:t>Social support can help through multiple pathways:</a:t>
            </a:r>
          </a:p>
          <a:p>
            <a:pPr lvl="0"/>
            <a:r>
              <a:t>increasing practical resources</a:t>
            </a:r>
          </a:p>
          <a:p>
            <a:pPr lvl="0"/>
            <a:r>
              <a:t>improving regulation</a:t>
            </a:r>
          </a:p>
          <a:p>
            <a:pPr lvl="0"/>
            <a:r>
              <a:t>helping people stay with useful behaviors</a:t>
            </a:r>
          </a:p>
          <a:p>
            <a:pPr lvl="0"/>
            <a:r>
              <a:t>reducing isolation during strain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Resilience</a:t>
            </a:r>
          </a:p>
        </p:txBody>
      </p:sp>
      <p:sp>
        <p:nvSpPr>
          <p:cNvPr id="3" name="Content Placeholder 2"/>
          <p:cNvSpPr>
            <a:spLocks noGrp="1"/>
          </p:cNvSpPr>
          <p:nvPr>
            <p:ph idx="1"/>
          </p:nvPr>
        </p:nvSpPr>
        <p:spPr/>
        <p:txBody>
          <a:bodyPr/>
          <a:lstStyle/>
          <a:p>
            <a:pPr lvl="0"/>
            <a:r>
              <a:t>adaptation under adversity</a:t>
            </a:r>
          </a:p>
          <a:p>
            <a:pPr lvl="0"/>
            <a:r>
              <a:t>protective factors can reduce risk</a:t>
            </a:r>
          </a:p>
          <a:p>
            <a:pPr lvl="0"/>
            <a:r>
              <a:t>resilience is not the same as invulnerability or the absence of distress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Health behaviors</a:t>
            </a:r>
          </a:p>
        </p:txBody>
      </p:sp>
      <p:sp>
        <p:nvSpPr>
          <p:cNvPr id="3" name="Content Placeholder 2"/>
          <p:cNvSpPr>
            <a:spLocks noGrp="1"/>
          </p:cNvSpPr>
          <p:nvPr>
            <p:ph idx="1"/>
          </p:nvPr>
        </p:nvSpPr>
        <p:spPr/>
        <p:txBody>
          <a:bodyPr/>
          <a:lstStyle/>
          <a:p>
            <a:pPr marL="0" lvl="0" indent="0">
              <a:buNone/>
            </a:pPr>
            <a:r>
              <a:t>Stress often affects health through everyday patterns like:</a:t>
            </a:r>
          </a:p>
          <a:p>
            <a:pPr lvl="0"/>
            <a:r>
              <a:t>sleep and recovery</a:t>
            </a:r>
          </a:p>
          <a:p>
            <a:pPr lvl="0"/>
            <a:r>
              <a:t>physical activity</a:t>
            </a:r>
          </a:p>
          <a:p>
            <a:pPr lvl="0"/>
            <a:r>
              <a:t>nutrition patterns</a:t>
            </a:r>
          </a:p>
          <a:p>
            <a:pPr lvl="0"/>
            <a:r>
              <a:t>substance use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Adherence</a:t>
            </a:r>
          </a:p>
        </p:txBody>
      </p:sp>
      <p:sp>
        <p:nvSpPr>
          <p:cNvPr id="3" name="Content Placeholder 2"/>
          <p:cNvSpPr>
            <a:spLocks noGrp="1"/>
          </p:cNvSpPr>
          <p:nvPr>
            <p:ph idx="1"/>
          </p:nvPr>
        </p:nvSpPr>
        <p:spPr/>
        <p:txBody>
          <a:bodyPr/>
          <a:lstStyle/>
          <a:p>
            <a:pPr marL="0" lvl="0" indent="0">
              <a:buNone/>
            </a:pPr>
            <a:r>
              <a:t>Adherence means following a treatment or health plan over time.</a:t>
            </a:r>
          </a:p>
          <a:p>
            <a:pPr marL="0" lvl="0" indent="0">
              <a:buNone/>
            </a:pPr>
            <a:r>
              <a:t>Adherence can be shaped by:</a:t>
            </a:r>
          </a:p>
          <a:p>
            <a:pPr lvl="0"/>
            <a:r>
              <a:t>stress</a:t>
            </a:r>
          </a:p>
          <a:p>
            <a:pPr lvl="0"/>
            <a:r>
              <a:t>barriers</a:t>
            </a:r>
          </a:p>
          <a:p>
            <a:pPr lvl="0"/>
            <a:r>
              <a:t>support</a:t>
            </a:r>
          </a:p>
          <a:p>
            <a:pPr lvl="0"/>
            <a:r>
              <a:t>time and resources</a:t>
            </a:r>
          </a:p>
          <a:p>
            <a:pPr lvl="0"/>
            <a:r>
              <a:t>attention and memory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Access and context matter</a:t>
            </a:r>
          </a:p>
        </p:txBody>
      </p:sp>
      <p:sp>
        <p:nvSpPr>
          <p:cNvPr id="3" name="Content Placeholder 2"/>
          <p:cNvSpPr>
            <a:spLocks noGrp="1"/>
          </p:cNvSpPr>
          <p:nvPr>
            <p:ph idx="1"/>
          </p:nvPr>
        </p:nvSpPr>
        <p:spPr/>
        <p:txBody>
          <a:bodyPr/>
          <a:lstStyle/>
          <a:p>
            <a:pPr marL="0" lvl="0" indent="0">
              <a:buNone/>
            </a:pPr>
            <a:r>
              <a:t>People do not make health choices under identical conditions.</a:t>
            </a:r>
          </a:p>
          <a:p>
            <a:pPr marL="0" lvl="0" indent="0">
              <a:buNone/>
            </a:pPr>
            <a:r>
              <a:t>Outcomes can be shaped by:</a:t>
            </a:r>
          </a:p>
          <a:p>
            <a:pPr lvl="0"/>
            <a:r>
              <a:t>cost and time constraints</a:t>
            </a:r>
          </a:p>
          <a:p>
            <a:pPr lvl="0"/>
            <a:r>
              <a:t>transportation and availability</a:t>
            </a:r>
          </a:p>
          <a:p>
            <a:pPr lvl="0"/>
            <a:r>
              <a:t>language access and trust</a:t>
            </a:r>
          </a:p>
          <a:p>
            <a:pPr lvl="0"/>
            <a:r>
              <a:t>competing responsibilities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Type A and hostility</a:t>
            </a:r>
          </a:p>
        </p:txBody>
      </p:sp>
      <p:sp>
        <p:nvSpPr>
          <p:cNvPr id="3" name="Content Placeholder 2"/>
          <p:cNvSpPr>
            <a:spLocks noGrp="1"/>
          </p:cNvSpPr>
          <p:nvPr>
            <p:ph idx="1"/>
          </p:nvPr>
        </p:nvSpPr>
        <p:spPr/>
        <p:txBody>
          <a:bodyPr/>
          <a:lstStyle/>
          <a:p>
            <a:pPr lvl="0"/>
            <a:r>
              <a:t>Type A is not a single reliable predictor of health outcomes</a:t>
            </a:r>
          </a:p>
          <a:p>
            <a:pPr lvl="0"/>
            <a:r>
              <a:t>hostility is often the more risk-relevant component</a:t>
            </a:r>
          </a:p>
          <a:p>
            <a:pPr lvl="0"/>
            <a:r>
              <a:t>evidence is mixed and context-dependent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Biomarkers require caution</a:t>
            </a:r>
          </a:p>
        </p:txBody>
      </p:sp>
      <p:sp>
        <p:nvSpPr>
          <p:cNvPr id="3" name="Content Placeholder 2"/>
          <p:cNvSpPr>
            <a:spLocks noGrp="1"/>
          </p:cNvSpPr>
          <p:nvPr>
            <p:ph idx="1"/>
          </p:nvPr>
        </p:nvSpPr>
        <p:spPr/>
        <p:txBody>
          <a:bodyPr/>
          <a:lstStyle/>
          <a:p>
            <a:pPr lvl="0"/>
            <a:r>
              <a:t>single markers are proxies, not complete explanations</a:t>
            </a:r>
          </a:p>
          <a:p>
            <a:pPr lvl="0"/>
            <a:r>
              <a:t>evidence is often correlational</a:t>
            </a:r>
          </a:p>
          <a:p>
            <a:pPr lvl="0"/>
            <a:r>
              <a:t>interpretation depends on design, timing, and context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Synthesis</a:t>
            </a:r>
          </a:p>
        </p:txBody>
      </p:sp>
      <p:sp>
        <p:nvSpPr>
          <p:cNvPr id="3" name="Content Placeholder 2"/>
          <p:cNvSpPr>
            <a:spLocks noGrp="1"/>
          </p:cNvSpPr>
          <p:nvPr>
            <p:ph idx="1"/>
          </p:nvPr>
        </p:nvSpPr>
        <p:spPr/>
        <p:txBody>
          <a:bodyPr/>
          <a:lstStyle/>
          <a:p>
            <a:pPr marL="0" lvl="0" indent="0">
              <a:buNone/>
            </a:pPr>
            <a:r>
              <a:t>What should stick after today?</a:t>
            </a:r>
          </a:p>
          <a:p>
            <a:pPr lvl="0"/>
            <a:r>
              <a:t>health is multi-factor</a:t>
            </a:r>
          </a:p>
          <a:p>
            <a:pPr lvl="0"/>
            <a:r>
              <a:t>stress is a process, not just an event or a feeling</a:t>
            </a:r>
          </a:p>
          <a:p>
            <a:pPr lvl="0"/>
            <a:r>
              <a:t>appraisal helps explain why the same stressor can lead to different outcomes</a:t>
            </a:r>
          </a:p>
          <a:p>
            <a:pPr lvl="0"/>
            <a:r>
              <a:t>coping works best when it fits the situation</a:t>
            </a:r>
          </a:p>
          <a:p>
            <a:pPr lvl="0"/>
            <a:r>
              <a:t>support, behavior, and context shape health over time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Closure</a:t>
            </a:r>
          </a:p>
        </p:txBody>
      </p:sp>
      <p:sp>
        <p:nvSpPr>
          <p:cNvPr id="3" name="Content Placeholder 2"/>
          <p:cNvSpPr>
            <a:spLocks noGrp="1"/>
          </p:cNvSpPr>
          <p:nvPr>
            <p:ph idx="1"/>
          </p:nvPr>
        </p:nvSpPr>
        <p:spPr/>
        <p:txBody>
          <a:bodyPr/>
          <a:lstStyle/>
          <a:p>
            <a:pPr marL="0" lvl="0" indent="0">
              <a:buNone/>
            </a:pPr>
            <a:r>
              <a:t>Health behavior unfolds over time.</a:t>
            </a:r>
          </a:p>
          <a:p>
            <a:pPr marL="0" lvl="0" indent="0">
              <a:buNone/>
            </a:pPr>
            <a:r>
              <a:t>Motivation helps explain why people start, sustain, or abandon behavior.</a:t>
            </a:r>
          </a:p>
          <a:p>
            <a:pPr marL="0" lvl="0" indent="0">
              <a:buNone/>
            </a:pPr>
            <a:r>
              <a:t>Next: needs, incentives, goals, and self-regulation.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Exit ticket</a:t>
            </a:r>
          </a:p>
        </p:txBody>
      </p:sp>
      <p:sp>
        <p:nvSpPr>
          <p:cNvPr id="3" name="Content Placeholder 2"/>
          <p:cNvSpPr>
            <a:spLocks noGrp="1"/>
          </p:cNvSpPr>
          <p:nvPr>
            <p:ph idx="1"/>
          </p:nvPr>
        </p:nvSpPr>
        <p:spPr/>
        <p:txBody>
          <a:bodyPr/>
          <a:lstStyle/>
          <a:p>
            <a:pPr marL="0" lvl="0" indent="0">
              <a:spcBef>
                <a:spcPts val="3000"/>
              </a:spcBef>
              <a:buNone/>
            </a:pPr>
            <a:r>
              <a:rPr b="1"/>
              <a:t>Two multiple-choice questions and one short response</a:t>
            </a:r>
          </a:p>
          <a:p>
            <a:pPr lvl="0"/>
            <a:r>
              <a:t>Which part of the stress process most directly involves how a person interprets meaning, control, and resources?</a:t>
            </a:r>
          </a:p>
          <a:p>
            <a:pPr lvl="0"/>
            <a:r>
              <a:t>Which coping approach is usually the better fit when a stressor cannot be changed right now?</a:t>
            </a:r>
          </a:p>
          <a:p>
            <a:pPr lvl="0"/>
            <a:r>
              <a:t>In 1 to 3 sentences, explain one way that context or support could change a health-related outcome during a stressful week.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rPr dirty="0"/>
              <a:t>Stress and Health</a:t>
            </a:r>
          </a:p>
        </p:txBody>
      </p:sp>
      <p:sp>
        <p:nvSpPr>
          <p:cNvPr id="3" name="Subtitle 2"/>
          <p:cNvSpPr>
            <a:spLocks noGrp="1"/>
          </p:cNvSpPr>
          <p:nvPr>
            <p:ph type="subTitle" idx="1"/>
          </p:nvPr>
        </p:nvSpPr>
        <p:spPr/>
        <p:txBody>
          <a:bodyPr/>
          <a:lstStyle/>
          <a:p>
            <a:pPr marL="0" lvl="0" indent="0">
              <a:buNone/>
            </a:pPr>
            <a:br>
              <a:rPr dirty="0"/>
            </a:br>
            <a:br>
              <a:rPr dirty="0"/>
            </a:b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this topic covers</a:t>
            </a:r>
          </a:p>
        </p:txBody>
      </p:sp>
      <p:sp>
        <p:nvSpPr>
          <p:cNvPr id="3" name="Content Placeholder 2"/>
          <p:cNvSpPr>
            <a:spLocks noGrp="1"/>
          </p:cNvSpPr>
          <p:nvPr>
            <p:ph idx="1"/>
          </p:nvPr>
        </p:nvSpPr>
        <p:spPr/>
        <p:txBody>
          <a:bodyPr/>
          <a:lstStyle/>
          <a:p>
            <a:pPr lvl="0"/>
            <a:r>
              <a:rPr dirty="0"/>
              <a:t>The psychological process of stress and cognitive appraisal</a:t>
            </a:r>
          </a:p>
          <a:p>
            <a:pPr lvl="0"/>
            <a:r>
              <a:rPr dirty="0"/>
              <a:t>The biological pathways and physical consequences of stress</a:t>
            </a:r>
          </a:p>
          <a:p>
            <a:pPr lvl="0"/>
            <a:r>
              <a:rPr dirty="0"/>
              <a:t>Evidence-based coping strategies and social support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Health is multi-factor</a:t>
            </a:r>
          </a:p>
        </p:txBody>
      </p:sp>
      <p:sp>
        <p:nvSpPr>
          <p:cNvPr id="3" name="Content Placeholder 2"/>
          <p:cNvSpPr>
            <a:spLocks noGrp="1"/>
          </p:cNvSpPr>
          <p:nvPr>
            <p:ph idx="1"/>
          </p:nvPr>
        </p:nvSpPr>
        <p:spPr/>
        <p:txBody>
          <a:bodyPr/>
          <a:lstStyle/>
          <a:p>
            <a:pPr lvl="0"/>
            <a:r>
              <a:rPr dirty="0"/>
              <a:t>Biology matters</a:t>
            </a:r>
          </a:p>
          <a:p>
            <a:pPr lvl="0"/>
            <a:r>
              <a:rPr dirty="0"/>
              <a:t>Behavior matters</a:t>
            </a:r>
          </a:p>
          <a:p>
            <a:pPr lvl="0"/>
            <a:r>
              <a:rPr dirty="0"/>
              <a:t>Stress and context matter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Cognitive Appraisal Shapes Stress</a:t>
            </a:r>
          </a:p>
        </p:txBody>
      </p:sp>
      <p:sp>
        <p:nvSpPr>
          <p:cNvPr id="3" name="Content Placeholder 2"/>
          <p:cNvSpPr>
            <a:spLocks noGrp="1"/>
          </p:cNvSpPr>
          <p:nvPr>
            <p:ph idx="1"/>
          </p:nvPr>
        </p:nvSpPr>
        <p:spPr/>
        <p:txBody>
          <a:bodyPr/>
          <a:lstStyle/>
          <a:p>
            <a:pPr lvl="0"/>
            <a:r>
              <a:rPr dirty="0"/>
              <a:t>Stress is a process, depending heavily on how we judge an event</a:t>
            </a:r>
          </a:p>
          <a:p>
            <a:pPr lvl="0"/>
            <a:r>
              <a:rPr dirty="0"/>
              <a:t>Primary appraisal: Judging a stressor as a threat or a challenge</a:t>
            </a:r>
          </a:p>
          <a:p>
            <a:pPr lvl="0"/>
            <a:r>
              <a:rPr dirty="0"/>
              <a:t>Secondary appraisal: Judging our available options and resources to cope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Eustress vs. Distress</a:t>
            </a:r>
          </a:p>
        </p:txBody>
      </p:sp>
      <p:sp>
        <p:nvSpPr>
          <p:cNvPr id="3" name="Content Placeholder 2"/>
          <p:cNvSpPr>
            <a:spLocks noGrp="1"/>
          </p:cNvSpPr>
          <p:nvPr>
            <p:ph idx="1"/>
          </p:nvPr>
        </p:nvSpPr>
        <p:spPr/>
        <p:txBody>
          <a:bodyPr/>
          <a:lstStyle/>
          <a:p>
            <a:pPr lvl="0"/>
            <a:r>
              <a:rPr dirty="0"/>
              <a:t>Not all stress is harmful</a:t>
            </a:r>
          </a:p>
          <a:p>
            <a:pPr lvl="0"/>
            <a:r>
              <a:rPr dirty="0"/>
              <a:t>Eustress (good stress): Motivates us, gives us energy, and enhances memory</a:t>
            </a:r>
          </a:p>
          <a:p>
            <a:pPr lvl="0"/>
            <a:r>
              <a:rPr dirty="0"/>
              <a:t>Distress (bad stress): Exceeds optimal levels, causing fatigue, burnout, and declining health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Sympathetic and HPA Pathways</a:t>
            </a:r>
          </a:p>
        </p:txBody>
      </p:sp>
      <p:sp>
        <p:nvSpPr>
          <p:cNvPr id="3" name="Content Placeholder 2"/>
          <p:cNvSpPr>
            <a:spLocks noGrp="1"/>
          </p:cNvSpPr>
          <p:nvPr>
            <p:ph sz="half" idx="1"/>
          </p:nvPr>
        </p:nvSpPr>
        <p:spPr/>
        <p:txBody>
          <a:bodyPr/>
          <a:lstStyle/>
          <a:p>
            <a:pPr marL="0" lvl="0" indent="0">
              <a:buNone/>
            </a:pPr>
            <a:r>
              <a:rPr dirty="0"/>
              <a:t>Sympathetic Nervous System - Fast activation - Triggers fight-or-flight response - Releases adrenaline to prepare for immediate action</a:t>
            </a:r>
          </a:p>
        </p:txBody>
      </p:sp>
      <p:sp>
        <p:nvSpPr>
          <p:cNvPr id="4" name="Content Placeholder 3"/>
          <p:cNvSpPr>
            <a:spLocks noGrp="1"/>
          </p:cNvSpPr>
          <p:nvPr>
            <p:ph sz="half" idx="2"/>
          </p:nvPr>
        </p:nvSpPr>
        <p:spPr/>
        <p:txBody>
          <a:bodyPr/>
          <a:lstStyle/>
          <a:p>
            <a:pPr marL="0" lvl="0" indent="0">
              <a:buNone/>
            </a:pPr>
            <a:r>
              <a:rPr dirty="0"/>
              <a:t>HPA Axis Pathway - Slower endocrine activation - Releases the stress hormone cortisol - Can weaken the immune system if sustained long-term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General Adaptation Syndrome</a:t>
            </a:r>
          </a:p>
        </p:txBody>
      </p:sp>
      <p:sp>
        <p:nvSpPr>
          <p:cNvPr id="3" name="Content Placeholder 2"/>
          <p:cNvSpPr>
            <a:spLocks noGrp="1"/>
          </p:cNvSpPr>
          <p:nvPr>
            <p:ph idx="1"/>
          </p:nvPr>
        </p:nvSpPr>
        <p:spPr/>
        <p:txBody>
          <a:bodyPr/>
          <a:lstStyle/>
          <a:p>
            <a:pPr lvl="0"/>
            <a:r>
              <a:rPr dirty="0"/>
              <a:t>Hans Selye’s model of the body’s response to prolonged stress</a:t>
            </a:r>
          </a:p>
          <a:p>
            <a:pPr lvl="0"/>
            <a:r>
              <a:rPr dirty="0"/>
              <a:t>Alarm reaction: The immediate fight-or-flight jolt of energy</a:t>
            </a:r>
          </a:p>
          <a:p>
            <a:pPr lvl="0"/>
            <a:r>
              <a:rPr dirty="0"/>
              <a:t>Stage of resistance: The body adapts to the stressor but remains on high alert</a:t>
            </a:r>
          </a:p>
          <a:p>
            <a:pPr lvl="0"/>
            <a:r>
              <a:rPr dirty="0"/>
              <a:t>Stage of exhaustion: Physical resources deplete, laying the groundwork for disease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Psychoneuroimmunology</a:t>
            </a:r>
          </a:p>
        </p:txBody>
      </p:sp>
      <p:sp>
        <p:nvSpPr>
          <p:cNvPr id="3" name="Content Placeholder 2"/>
          <p:cNvSpPr>
            <a:spLocks noGrp="1"/>
          </p:cNvSpPr>
          <p:nvPr>
            <p:ph idx="1"/>
          </p:nvPr>
        </p:nvSpPr>
        <p:spPr/>
        <p:txBody>
          <a:bodyPr/>
          <a:lstStyle/>
          <a:p>
            <a:pPr lvl="0"/>
            <a:r>
              <a:rPr dirty="0"/>
              <a:t>Studies how psychological factors influence the immune system</a:t>
            </a:r>
          </a:p>
          <a:p>
            <a:pPr lvl="0"/>
            <a:r>
              <a:rPr dirty="0"/>
              <a:t>Sustained cortisol physically inhibits lymphocytes, our infection-fighting white blood cells</a:t>
            </a:r>
          </a:p>
          <a:p>
            <a:pPr lvl="0"/>
            <a:r>
              <a:rPr dirty="0"/>
              <a:t>Chronic stress increases susceptibility to viruses like the common cold and slows wound healing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Stress and the Cardiovascular System</a:t>
            </a:r>
          </a:p>
        </p:txBody>
      </p:sp>
      <p:sp>
        <p:nvSpPr>
          <p:cNvPr id="3" name="Content Placeholder 2"/>
          <p:cNvSpPr>
            <a:spLocks noGrp="1"/>
          </p:cNvSpPr>
          <p:nvPr>
            <p:ph idx="1"/>
          </p:nvPr>
        </p:nvSpPr>
        <p:spPr/>
        <p:txBody>
          <a:bodyPr/>
          <a:lstStyle/>
          <a:p>
            <a:pPr lvl="0"/>
            <a:r>
              <a:rPr dirty="0"/>
              <a:t>The heart is central to the body’s stress response</a:t>
            </a:r>
          </a:p>
          <a:p>
            <a:pPr lvl="0"/>
            <a:r>
              <a:rPr dirty="0"/>
              <a:t>The anger and hostility dimensions of the “Type A” behavior pattern are serious risk factors</a:t>
            </a:r>
          </a:p>
          <a:p>
            <a:pPr lvl="0"/>
            <a:r>
              <a:rPr dirty="0"/>
              <a:t>Negative affectivity and depression substantially elevate the risk of heart disease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Coping Strategies</a:t>
            </a:r>
          </a:p>
        </p:txBody>
      </p:sp>
      <p:sp>
        <p:nvSpPr>
          <p:cNvPr id="3" name="Content Placeholder 2"/>
          <p:cNvSpPr>
            <a:spLocks noGrp="1"/>
          </p:cNvSpPr>
          <p:nvPr>
            <p:ph idx="1"/>
          </p:nvPr>
        </p:nvSpPr>
        <p:spPr/>
        <p:txBody>
          <a:bodyPr/>
          <a:lstStyle/>
          <a:p>
            <a:pPr lvl="0"/>
            <a:r>
              <a:rPr dirty="0"/>
              <a:t>Problem-focused coping: Actively taking steps to alter or manage the stressor</a:t>
            </a:r>
          </a:p>
          <a:p>
            <a:pPr lvl="0"/>
            <a:r>
              <a:rPr dirty="0"/>
              <a:t>Emotion-focused coping: Efforts to reduce the negative emotions associated with stress</a:t>
            </a:r>
          </a:p>
          <a:p>
            <a:pPr lvl="0"/>
            <a:r>
              <a:rPr dirty="0"/>
              <a:t>Effectiveness depends on whether the stressor is controllable or uncontrollable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Power of Control and Social Support</a:t>
            </a:r>
          </a:p>
        </p:txBody>
      </p:sp>
      <p:sp>
        <p:nvSpPr>
          <p:cNvPr id="3" name="Content Placeholder 2"/>
          <p:cNvSpPr>
            <a:spLocks noGrp="1"/>
          </p:cNvSpPr>
          <p:nvPr>
            <p:ph idx="1"/>
          </p:nvPr>
        </p:nvSpPr>
        <p:spPr/>
        <p:txBody>
          <a:bodyPr/>
          <a:lstStyle/>
          <a:p>
            <a:pPr lvl="0"/>
            <a:r>
              <a:rPr dirty="0"/>
              <a:t>Perceived control: Believing we can shape outcomes lowers physical stress reactivity</a:t>
            </a:r>
          </a:p>
          <a:p>
            <a:pPr lvl="0"/>
            <a:r>
              <a:rPr dirty="0"/>
              <a:t>Learned helplessness: Passively accepting noxious situations contributes to depression</a:t>
            </a:r>
          </a:p>
          <a:p>
            <a:pPr lvl="0"/>
            <a:r>
              <a:rPr dirty="0"/>
              <a:t>Social support: Friends and family physically boost our immune systems and lower blood pressure during stressful tasks</a:t>
            </a:r>
          </a:p>
          <a:p>
            <a:pPr marL="0" lvl="0" indent="0">
              <a:buNone/>
            </a:pPr>
            <a:r>
              <a:rPr dirty="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```markdown</a:t>
            </a:r>
          </a:p>
        </p:txBody>
      </p:sp>
      <p:sp>
        <p:nvSpPr>
          <p:cNvPr id="3" name="Content Placeholder 2"/>
          <p:cNvSpPr>
            <a:spLocks noGrp="1"/>
          </p:cNvSpPr>
          <p:nvPr>
            <p:ph idx="1"/>
          </p:nvPr>
        </p:nvSpPr>
        <p:spPr/>
        <p:txBody>
          <a:bodyPr/>
          <a:lstStyle/>
          <a:p>
            <a:pPr marL="0" lvl="0" indent="0">
              <a:buNone/>
            </a:pPr>
            <a:r>
              <a:rPr dirty="0"/>
              <a:t>title: “Defining and Appraising Stress” format: </a:t>
            </a:r>
            <a:r>
              <a:rPr dirty="0" err="1"/>
              <a:t>revealjs</a:t>
            </a:r>
            <a:r>
              <a:rPr dirty="0"/>
              <a:t>: slide-number: true incremental: true controls: true progress: true center: false transition: fade html: toc: true toc-depth: 3 pptx: slide-number: true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Can Emotions Kill?</a:t>
            </a:r>
          </a:p>
        </p:txBody>
      </p:sp>
      <p:sp>
        <p:nvSpPr>
          <p:cNvPr id="3" name="Content Placeholder 2"/>
          <p:cNvSpPr>
            <a:spLocks noGrp="1"/>
          </p:cNvSpPr>
          <p:nvPr>
            <p:ph idx="1"/>
          </p:nvPr>
        </p:nvSpPr>
        <p:spPr/>
        <p:txBody>
          <a:bodyPr/>
          <a:lstStyle/>
          <a:p>
            <a:pPr lvl="0"/>
            <a:r>
              <a:rPr dirty="0"/>
              <a:t>We easily read facial expressions, but unchecked emotions and stress can have severe consequences for our bodies.</a:t>
            </a:r>
          </a:p>
          <a:p>
            <a:pPr lvl="0"/>
            <a:r>
              <a:rPr dirty="0"/>
              <a:t>Stress isn’t just a bad feeling; it is a reaction to a disruptive stimulus.</a:t>
            </a:r>
          </a:p>
          <a:p>
            <a:pPr lvl="0"/>
            <a:r>
              <a:rPr dirty="0"/>
              <a:t>We will examine the psychological and physiological natures of stress, its causes, and how to master 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1: Stress is a Process</a:t>
            </a:r>
          </a:p>
        </p:txBody>
      </p:sp>
      <p:sp>
        <p:nvSpPr>
          <p:cNvPr id="3" name="Content Placeholder 2"/>
          <p:cNvSpPr>
            <a:spLocks noGrp="1"/>
          </p:cNvSpPr>
          <p:nvPr>
            <p:ph idx="1"/>
          </p:nvPr>
        </p:nvSpPr>
        <p:spPr/>
        <p:txBody>
          <a:bodyPr/>
          <a:lstStyle/>
          <a:p>
            <a:pPr lvl="0"/>
            <a:r>
              <a:rPr dirty="0"/>
              <a:t>Stimulus-based definitions focus only on a demanding event, while response-based definitions focus exclusively on the body’s physical arousal.</a:t>
            </a:r>
          </a:p>
          <a:p>
            <a:pPr lvl="0"/>
            <a:r>
              <a:rPr dirty="0"/>
              <a:t>Both definitions are incomplete because they fail to recognize that people differ in how they view and react to the exact same challenging situation.</a:t>
            </a:r>
          </a:p>
          <a:p>
            <a:pPr lvl="0"/>
            <a:r>
              <a:rPr dirty="0"/>
              <a:t>Stress is actually a process whereby an individual perceives and responds to events that they appraise as overwhelming or threatening to their well-being.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2: The Power of Appraisal</a:t>
            </a:r>
          </a:p>
        </p:txBody>
      </p:sp>
      <p:sp>
        <p:nvSpPr>
          <p:cNvPr id="3" name="Content Placeholder 2"/>
          <p:cNvSpPr>
            <a:spLocks noGrp="1"/>
          </p:cNvSpPr>
          <p:nvPr>
            <p:ph idx="1"/>
          </p:nvPr>
        </p:nvSpPr>
        <p:spPr/>
        <p:txBody>
          <a:bodyPr/>
          <a:lstStyle/>
          <a:p>
            <a:pPr lvl="0"/>
            <a:r>
              <a:rPr dirty="0"/>
              <a:t>Stress is largely in the eye of the beholder, heavily dependent on how we judge an event.</a:t>
            </a:r>
          </a:p>
          <a:p>
            <a:pPr lvl="0"/>
            <a:r>
              <a:rPr dirty="0"/>
              <a:t>Primary appraisal: Judging the degree of potential harm, viewing an event as either a threat or a challenge.</a:t>
            </a:r>
          </a:p>
          <a:p>
            <a:pPr lvl="0"/>
            <a:r>
              <a:rPr dirty="0"/>
              <a:t>Secondary appraisal: Judging what options are available to cope and how effective those options will be.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3: Eustress vs. Distress</a:t>
            </a:r>
          </a:p>
        </p:txBody>
      </p:sp>
      <p:sp>
        <p:nvSpPr>
          <p:cNvPr id="3" name="Content Placeholder 2"/>
          <p:cNvSpPr>
            <a:spLocks noGrp="1"/>
          </p:cNvSpPr>
          <p:nvPr>
            <p:ph idx="1"/>
          </p:nvPr>
        </p:nvSpPr>
        <p:spPr/>
        <p:txBody>
          <a:bodyPr/>
          <a:lstStyle/>
          <a:p>
            <a:pPr lvl="0"/>
            <a:r>
              <a:rPr dirty="0"/>
              <a:t>Not all stress is harmful; moderate stress can be a positive, motivating force that improves the quality of our lives.</a:t>
            </a:r>
          </a:p>
          <a:p>
            <a:pPr lvl="0"/>
            <a:r>
              <a:rPr dirty="0"/>
              <a:t>Eustress (good stress) gives us energy, motivates us, and can even enhance immediate and delayed memory recall.</a:t>
            </a:r>
          </a:p>
          <a:p>
            <a:pPr lvl="0"/>
            <a:r>
              <a:rPr dirty="0"/>
              <a:t>When stress exceeds an optimal level, it becomes distress, leading to exhaustion, fatigue, burnout, and declining health.</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The Bear on the Trail</a:t>
            </a:r>
          </a:p>
        </p:txBody>
      </p:sp>
      <p:sp>
        <p:nvSpPr>
          <p:cNvPr id="3" name="Content Placeholder 2"/>
          <p:cNvSpPr>
            <a:spLocks noGrp="1"/>
          </p:cNvSpPr>
          <p:nvPr>
            <p:ph idx="1"/>
          </p:nvPr>
        </p:nvSpPr>
        <p:spPr/>
        <p:txBody>
          <a:bodyPr/>
          <a:lstStyle/>
          <a:p>
            <a:pPr lvl="0"/>
            <a:r>
              <a:rPr dirty="0"/>
              <a:t>Imagine you are hiking and suddenly encounter a large, frightening black bear on the trail.</a:t>
            </a:r>
          </a:p>
          <a:p>
            <a:pPr lvl="0"/>
            <a:r>
              <a:rPr dirty="0"/>
              <a:t>Almost instantly, your pupils dilate, your heart pounds, you breathe heavily, and your muscles tense up.</a:t>
            </a:r>
          </a:p>
          <a:p>
            <a:pPr lvl="0"/>
            <a:r>
              <a:rPr dirty="0"/>
              <a:t>Today, our “bear” is rarely a wild animal; it is usually a looming college deadline or an interpersonal conflict.</a:t>
            </a:r>
          </a:p>
          <a:p>
            <a:pPr lvl="0"/>
            <a:r>
              <a:rPr dirty="0"/>
              <a:t>Yet, our biology reacts the exact same way, flooding our systems with hormones.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1: An Automatic Alarm System</a:t>
            </a:r>
          </a:p>
        </p:txBody>
      </p:sp>
      <p:sp>
        <p:nvSpPr>
          <p:cNvPr id="3" name="Content Placeholder 2"/>
          <p:cNvSpPr>
            <a:spLocks noGrp="1"/>
          </p:cNvSpPr>
          <p:nvPr>
            <p:ph idx="1"/>
          </p:nvPr>
        </p:nvSpPr>
        <p:spPr/>
        <p:txBody>
          <a:bodyPr/>
          <a:lstStyle/>
          <a:p>
            <a:pPr lvl="0"/>
            <a:r>
              <a:rPr dirty="0"/>
              <a:t>Harvard physiologist Walter Cannon first identified this as the </a:t>
            </a:r>
            <a:r>
              <a:rPr b="1" dirty="0"/>
              <a:t>fight-or-flight response</a:t>
            </a:r>
            <a:r>
              <a:rPr dirty="0"/>
              <a:t>.</a:t>
            </a:r>
          </a:p>
          <a:p>
            <a:pPr lvl="0"/>
            <a:r>
              <a:rPr dirty="0"/>
              <a:t>A perceived threat rapidly arouses both the sympathetic nervous system and the endocrine system.</a:t>
            </a:r>
          </a:p>
          <a:p>
            <a:pPr lvl="0"/>
            <a:r>
              <a:rPr dirty="0"/>
              <a:t>The adrenal glands secrete a deluge of hormones, including epinephrine (adrenaline) and norepinephrine.</a:t>
            </a:r>
          </a:p>
          <a:p>
            <a:pPr lvl="0"/>
            <a:r>
              <a:rPr dirty="0"/>
              <a:t>This built-in mechanism is highly adaptive; it prepares us to take direct action to survive and maintain homeostasis.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2: The Three-Stage Process</a:t>
            </a:r>
          </a:p>
        </p:txBody>
      </p:sp>
      <p:sp>
        <p:nvSpPr>
          <p:cNvPr id="3" name="Content Placeholder 2"/>
          <p:cNvSpPr>
            <a:spLocks noGrp="1"/>
          </p:cNvSpPr>
          <p:nvPr>
            <p:ph idx="1"/>
          </p:nvPr>
        </p:nvSpPr>
        <p:spPr/>
        <p:txBody>
          <a:bodyPr>
            <a:normAutofit lnSpcReduction="10000"/>
          </a:bodyPr>
          <a:lstStyle/>
          <a:p>
            <a:pPr lvl="0"/>
            <a:r>
              <a:rPr dirty="0"/>
              <a:t>Endocrinologist Hans Selye discovered the </a:t>
            </a:r>
            <a:r>
              <a:rPr b="1" dirty="0"/>
              <a:t>general adaptation syndrome</a:t>
            </a:r>
            <a:r>
              <a:rPr dirty="0"/>
              <a:t>, which maps the body’s nonspecific physiological response to prolonged stress.</a:t>
            </a:r>
          </a:p>
          <a:p>
            <a:pPr lvl="0"/>
            <a:r>
              <a:rPr b="1" dirty="0"/>
              <a:t>Alarm reaction:</a:t>
            </a:r>
            <a:r>
              <a:rPr dirty="0"/>
              <a:t> The immediate fight-or-flight jolt of energy upon facing an emergency.</a:t>
            </a:r>
          </a:p>
          <a:p>
            <a:pPr lvl="0"/>
            <a:r>
              <a:rPr b="1" dirty="0"/>
              <a:t>Stage of resistance:</a:t>
            </a:r>
            <a:r>
              <a:rPr dirty="0"/>
              <a:t> The body adapts to the stressor but remains on high alert, even as the initial shock wears off.</a:t>
            </a:r>
          </a:p>
          <a:p>
            <a:pPr lvl="0"/>
            <a:r>
              <a:rPr b="1" dirty="0"/>
              <a:t>Stage of exhaustion:</a:t>
            </a:r>
            <a:r>
              <a:rPr dirty="0"/>
              <a:t> If the stress is inescapable, physical resources become completely depleted, which can lead to serious illness or organ damage.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Claim 3: Suppressing Our Biological Shields</a:t>
            </a:r>
          </a:p>
        </p:txBody>
      </p:sp>
      <p:sp>
        <p:nvSpPr>
          <p:cNvPr id="3" name="Content Placeholder 2"/>
          <p:cNvSpPr>
            <a:spLocks noGrp="1"/>
          </p:cNvSpPr>
          <p:nvPr>
            <p:ph idx="1"/>
          </p:nvPr>
        </p:nvSpPr>
        <p:spPr/>
        <p:txBody>
          <a:bodyPr>
            <a:normAutofit lnSpcReduction="10000"/>
          </a:bodyPr>
          <a:lstStyle/>
          <a:p>
            <a:pPr lvl="0"/>
            <a:r>
              <a:rPr dirty="0"/>
              <a:t>During stress, the </a:t>
            </a:r>
            <a:r>
              <a:rPr b="1" dirty="0"/>
              <a:t>hypothalamic-pituitary-adrenal (HPA) axis</a:t>
            </a:r>
            <a:r>
              <a:rPr dirty="0"/>
              <a:t> works alongside the sympathetic nervous system.</a:t>
            </a:r>
          </a:p>
          <a:p>
            <a:pPr lvl="0"/>
            <a:r>
              <a:rPr dirty="0"/>
              <a:t>The hypothalamus triggers the pituitary gland, which causes the adrenal glands to release the stress hormone </a:t>
            </a:r>
            <a:r>
              <a:rPr b="1" dirty="0"/>
              <a:t>cortisol</a:t>
            </a:r>
            <a:r>
              <a:rPr dirty="0"/>
              <a:t>.</a:t>
            </a:r>
          </a:p>
          <a:p>
            <a:pPr lvl="0"/>
            <a:r>
              <a:rPr dirty="0"/>
              <a:t>Sustained, elevated levels of cortisol weaken the immune system by physically inhibiting the production of lymphocytes, which are our infection-fighting white blood cells.</a:t>
            </a:r>
          </a:p>
          <a:p>
            <a:pPr lvl="0"/>
            <a:r>
              <a:rPr dirty="0"/>
              <a:t>In one study, volunteers experiencing chronic stressors for over a month were considerably more likely to catch a cold when exposed to the virus.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```markdown</a:t>
            </a:r>
          </a:p>
        </p:txBody>
      </p:sp>
      <p:sp>
        <p:nvSpPr>
          <p:cNvPr id="3" name="Content Placeholder 2"/>
          <p:cNvSpPr>
            <a:spLocks noGrp="1"/>
          </p:cNvSpPr>
          <p:nvPr>
            <p:ph idx="1"/>
          </p:nvPr>
        </p:nvSpPr>
        <p:spPr/>
        <p:txBody>
          <a:bodyPr/>
          <a:lstStyle/>
          <a:p>
            <a:pPr marL="0" lvl="0" indent="0">
              <a:buNone/>
            </a:pPr>
            <a:r>
              <a:rPr dirty="0"/>
              <a:t>title: “Identifying Stressors” format: </a:t>
            </a:r>
            <a:r>
              <a:rPr dirty="0" err="1"/>
              <a:t>revealjs</a:t>
            </a:r>
            <a:r>
              <a:rPr dirty="0"/>
              <a:t>: slide-number: true incremental: true controls: true progress: true center: false transition: fade html: toc: true toc-depth: 3 pptx: slide-number: true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Triggers the Alarm?</a:t>
            </a:r>
          </a:p>
        </p:txBody>
      </p:sp>
      <p:sp>
        <p:nvSpPr>
          <p:cNvPr id="3" name="Content Placeholder 2"/>
          <p:cNvSpPr>
            <a:spLocks noGrp="1"/>
          </p:cNvSpPr>
          <p:nvPr>
            <p:ph idx="1"/>
          </p:nvPr>
        </p:nvSpPr>
        <p:spPr/>
        <p:txBody>
          <a:bodyPr/>
          <a:lstStyle/>
          <a:p>
            <a:pPr lvl="0"/>
            <a:r>
              <a:rPr dirty="0"/>
              <a:t>For an individual to experience stress, they must first encounter a stressor.</a:t>
            </a:r>
          </a:p>
          <a:p>
            <a:pPr lvl="0"/>
            <a:r>
              <a:rPr dirty="0"/>
              <a:t>Chronic stressors: Events that persist over an extended period (e.g., long-term unemployment, chronic illness).</a:t>
            </a:r>
          </a:p>
          <a:p>
            <a:pPr lvl="0"/>
            <a:r>
              <a:rPr dirty="0"/>
              <a:t>Acute stressors: Brief focal events that can feel overwhelming long after they end (e.g., a broken leg).</a:t>
            </a:r>
          </a:p>
          <a:p>
            <a:pPr lvl="0"/>
            <a:r>
              <a:rPr dirty="0"/>
              <a:t>We will explore exactly what types of events tax our biology the most.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1: Major Life Changes Tax the Body</a:t>
            </a:r>
          </a:p>
        </p:txBody>
      </p:sp>
      <p:sp>
        <p:nvSpPr>
          <p:cNvPr id="3" name="Content Placeholder 2"/>
          <p:cNvSpPr>
            <a:spLocks noGrp="1"/>
          </p:cNvSpPr>
          <p:nvPr>
            <p:ph idx="1"/>
          </p:nvPr>
        </p:nvSpPr>
        <p:spPr/>
        <p:txBody>
          <a:bodyPr>
            <a:normAutofit lnSpcReduction="10000"/>
          </a:bodyPr>
          <a:lstStyle/>
          <a:p>
            <a:pPr lvl="0"/>
            <a:r>
              <a:rPr dirty="0"/>
              <a:t>Stressors often require us to make changes in our ongoing lives and normal routines.</a:t>
            </a:r>
          </a:p>
          <a:p>
            <a:pPr lvl="0"/>
            <a:r>
              <a:rPr dirty="0"/>
              <a:t>Holmes and Rahe developed the Social Readjustment Rating Scale (SRRS) to measure “life change units” (LCUs).</a:t>
            </a:r>
          </a:p>
          <a:p>
            <a:pPr lvl="0"/>
            <a:r>
              <a:rPr dirty="0"/>
              <a:t>Even highly desirable events—like going away to college or getting married—are significant stressors because they demand personal readjustment.</a:t>
            </a:r>
          </a:p>
          <a:p>
            <a:pPr lvl="0"/>
            <a:r>
              <a:rPr dirty="0"/>
              <a:t>Accumulating a high number of LCUs in a short period is related to a wide range of physical illnesses and mental health problems.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2: The Danger of Daily Hassles</a:t>
            </a:r>
          </a:p>
        </p:txBody>
      </p:sp>
      <p:sp>
        <p:nvSpPr>
          <p:cNvPr id="3" name="Content Placeholder 2"/>
          <p:cNvSpPr>
            <a:spLocks noGrp="1"/>
          </p:cNvSpPr>
          <p:nvPr>
            <p:ph idx="1"/>
          </p:nvPr>
        </p:nvSpPr>
        <p:spPr/>
        <p:txBody>
          <a:bodyPr>
            <a:normAutofit lnSpcReduction="10000"/>
          </a:bodyPr>
          <a:lstStyle/>
          <a:p>
            <a:pPr lvl="0"/>
            <a:r>
              <a:rPr dirty="0"/>
              <a:t>Daily hassles are the minor irritations of everyday life (e.g., rush hour traffic, lost keys, arguments with friends).</a:t>
            </a:r>
          </a:p>
          <a:p>
            <a:pPr lvl="0"/>
            <a:r>
              <a:rPr dirty="0"/>
              <a:t>Surprisingly, the frequency of daily hassles is a </a:t>
            </a:r>
            <a:r>
              <a:rPr i="1" dirty="0"/>
              <a:t>better</a:t>
            </a:r>
            <a:r>
              <a:rPr dirty="0"/>
              <a:t> predictor of physical and psychological health problems than major life change events.</a:t>
            </a:r>
          </a:p>
          <a:p>
            <a:pPr lvl="0"/>
            <a:r>
              <a:rPr dirty="0"/>
              <a:t>Minor annoyances build on one another to leave us in a constant state of fight-or-flight.</a:t>
            </a:r>
          </a:p>
          <a:p>
            <a:pPr lvl="0"/>
            <a:r>
              <a:rPr dirty="0"/>
              <a:t>Cyber hassles: Social media-induced stress (like guilt over friend requests or being unfriended) is linked to increased rates of upper respiratory infections.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Claim 3: Lack of Control Breeds Burnout</a:t>
            </a:r>
          </a:p>
        </p:txBody>
      </p:sp>
      <p:sp>
        <p:nvSpPr>
          <p:cNvPr id="3" name="Content Placeholder 2"/>
          <p:cNvSpPr>
            <a:spLocks noGrp="1"/>
          </p:cNvSpPr>
          <p:nvPr>
            <p:ph idx="1"/>
          </p:nvPr>
        </p:nvSpPr>
        <p:spPr/>
        <p:txBody>
          <a:bodyPr/>
          <a:lstStyle/>
          <a:p>
            <a:pPr lvl="0"/>
            <a:r>
              <a:rPr dirty="0"/>
              <a:t>Job strain combines excessive job demands with very little discretion in decision making or job control.</a:t>
            </a:r>
          </a:p>
          <a:p>
            <a:pPr lvl="0"/>
            <a:r>
              <a:rPr dirty="0"/>
              <a:t>Chronic exposure to this strain leads to job burnout, characterized by three dimensions:</a:t>
            </a:r>
          </a:p>
          <a:p>
            <a:pPr marL="685800" lvl="1" indent="-342900">
              <a:buAutoNum type="arabicPeriod"/>
            </a:pPr>
            <a:r>
              <a:rPr dirty="0"/>
              <a:t>Exhaustion (emotional resources are drained).</a:t>
            </a:r>
          </a:p>
          <a:p>
            <a:pPr marL="685800" lvl="1" indent="-342900">
              <a:buAutoNum type="arabicPeriod"/>
            </a:pPr>
            <a:r>
              <a:rPr dirty="0"/>
              <a:t>Depersonalization (a callous, cynical detachment from others).</a:t>
            </a:r>
          </a:p>
          <a:p>
            <a:pPr marL="685800" lvl="1" indent="-342900">
              <a:buAutoNum type="arabicPeriod"/>
            </a:pPr>
            <a:r>
              <a:rPr dirty="0"/>
              <a:t>Diminished personal accomplishment (feeling as though one has failed to influence anything).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Chronic Strain Beyond the Workplace</a:t>
            </a:r>
          </a:p>
        </p:txBody>
      </p:sp>
      <p:sp>
        <p:nvSpPr>
          <p:cNvPr id="3" name="Content Placeholder 2"/>
          <p:cNvSpPr>
            <a:spLocks noGrp="1"/>
          </p:cNvSpPr>
          <p:nvPr>
            <p:ph idx="1"/>
          </p:nvPr>
        </p:nvSpPr>
        <p:spPr/>
        <p:txBody>
          <a:bodyPr/>
          <a:lstStyle/>
          <a:p>
            <a:pPr lvl="0"/>
            <a:r>
              <a:rPr dirty="0"/>
              <a:t>Negative aspects of close relationships—such as frequent conflicts or a lack of emotional support—can be overwhelming and physically taxing.</a:t>
            </a:r>
          </a:p>
          <a:p>
            <a:pPr lvl="0"/>
            <a:r>
              <a:rPr dirty="0"/>
              <a:t>Prejudice and discrimination serve as unique, unpredictable, and uncontrollable chronic stressors.</a:t>
            </a:r>
          </a:p>
          <a:p>
            <a:pPr lvl="0"/>
            <a:r>
              <a:rPr dirty="0"/>
              <a:t>Repeated discrimination causes long-term accumulation of stress responses, leading to negative emotions and physical wear and tear on the body.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rPr dirty="0"/>
              <a:t>Topic 16: Health</a:t>
            </a:r>
          </a:p>
        </p:txBody>
      </p:sp>
      <p:sp>
        <p:nvSpPr>
          <p:cNvPr id="3" name="Subtitle 2"/>
          <p:cNvSpPr>
            <a:spLocks noGrp="1"/>
          </p:cNvSpPr>
          <p:nvPr>
            <p:ph type="subTitle" idx="1"/>
          </p:nvPr>
        </p:nvSpPr>
        <p:spPr/>
        <p:txBody>
          <a:bodyPr/>
          <a:lstStyle/>
          <a:p>
            <a:pPr marL="0" lvl="0" indent="0">
              <a:buNone/>
            </a:pPr>
            <a:br>
              <a:rPr dirty="0"/>
            </a:br>
            <a:br>
              <a:rPr dirty="0"/>
            </a:br>
            <a:endParaRPr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Topic 16: Health</a:t>
            </a:r>
          </a:p>
        </p:txBody>
      </p:sp>
      <p:sp>
        <p:nvSpPr>
          <p:cNvPr id="3" name="Content Placeholder 2"/>
          <p:cNvSpPr>
            <a:spLocks noGrp="1"/>
          </p:cNvSpPr>
          <p:nvPr>
            <p:ph idx="1"/>
          </p:nvPr>
        </p:nvSpPr>
        <p:spPr/>
        <p:txBody>
          <a:bodyPr>
            <a:normAutofit fontScale="92500" lnSpcReduction="20000"/>
          </a:bodyPr>
          <a:lstStyle/>
          <a:p>
            <a:pPr marL="0" lvl="0" indent="0">
              <a:spcBef>
                <a:spcPts val="3000"/>
              </a:spcBef>
              <a:buNone/>
            </a:pPr>
            <a:r>
              <a:rPr b="1" dirty="0"/>
              <a:t>Why this matters</a:t>
            </a:r>
          </a:p>
          <a:p>
            <a:pPr marL="0" lvl="0" indent="0">
              <a:buNone/>
            </a:pPr>
            <a:r>
              <a:rPr dirty="0"/>
              <a:t>Two people can go through the same stressful week and end up with very different patterns of coping, sleep, functioning, and health.</a:t>
            </a:r>
          </a:p>
          <a:p>
            <a:pPr marL="0" lvl="0" indent="0">
              <a:spcBef>
                <a:spcPts val="3000"/>
              </a:spcBef>
              <a:buNone/>
            </a:pPr>
            <a:r>
              <a:rPr b="1" dirty="0"/>
              <a:t>Learning targets</a:t>
            </a:r>
          </a:p>
          <a:p>
            <a:pPr marL="0" lvl="0" indent="0">
              <a:buNone/>
            </a:pPr>
            <a:r>
              <a:rPr dirty="0"/>
              <a:t>By the end of class, students will be able to:</a:t>
            </a:r>
          </a:p>
          <a:p>
            <a:pPr lvl="0"/>
            <a:r>
              <a:rPr dirty="0"/>
              <a:t>explain stress as a process involving appraisal, physiology, coping, and outcomes</a:t>
            </a:r>
          </a:p>
          <a:p>
            <a:pPr lvl="0"/>
            <a:r>
              <a:rPr dirty="0"/>
              <a:t>describe how coping, social support, and context can change health-related outcomes</a:t>
            </a:r>
          </a:p>
          <a:p>
            <a:pPr lvl="0"/>
            <a:r>
              <a:rPr dirty="0"/>
              <a:t>apply the stress-and-health framework to a realistic everyday situation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Today’s roadmap</a:t>
            </a:r>
          </a:p>
        </p:txBody>
      </p:sp>
      <p:sp>
        <p:nvSpPr>
          <p:cNvPr id="3" name="Content Placeholder 2"/>
          <p:cNvSpPr>
            <a:spLocks noGrp="1"/>
          </p:cNvSpPr>
          <p:nvPr>
            <p:ph idx="1"/>
          </p:nvPr>
        </p:nvSpPr>
        <p:spPr/>
        <p:txBody>
          <a:bodyPr/>
          <a:lstStyle/>
          <a:p>
            <a:pPr lvl="0"/>
            <a:r>
              <a:rPr dirty="0"/>
              <a:t>start with a stress puzzle</a:t>
            </a:r>
          </a:p>
          <a:p>
            <a:pPr lvl="0"/>
            <a:r>
              <a:rPr dirty="0"/>
              <a:t>build the stress-and-health model</a:t>
            </a:r>
          </a:p>
          <a:p>
            <a:pPr lvl="0"/>
            <a:r>
              <a:rPr dirty="0"/>
              <a:t>test coping fit</a:t>
            </a:r>
          </a:p>
          <a:p>
            <a:pPr lvl="0"/>
            <a:r>
              <a:rPr dirty="0"/>
              <a:t>apply the model to a realistic scenario</a:t>
            </a:r>
          </a:p>
          <a:p>
            <a:pPr lvl="0"/>
            <a:r>
              <a:rPr dirty="0"/>
              <a:t>close with a short exit ticket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this topic covers</a:t>
            </a:r>
          </a:p>
        </p:txBody>
      </p:sp>
      <p:sp>
        <p:nvSpPr>
          <p:cNvPr id="3" name="Content Placeholder 2"/>
          <p:cNvSpPr>
            <a:spLocks noGrp="1"/>
          </p:cNvSpPr>
          <p:nvPr>
            <p:ph idx="1"/>
          </p:nvPr>
        </p:nvSpPr>
        <p:spPr/>
        <p:txBody>
          <a:bodyPr/>
          <a:lstStyle/>
          <a:p>
            <a:pPr lvl="0"/>
            <a:r>
              <a:rPr dirty="0"/>
              <a:t>how stress processes relate to health</a:t>
            </a:r>
          </a:p>
          <a:p>
            <a:pPr lvl="0"/>
            <a:r>
              <a:rPr dirty="0"/>
              <a:t>how coping and social support can change outcomes</a:t>
            </a:r>
          </a:p>
          <a:p>
            <a:pPr lvl="0"/>
            <a:r>
              <a:rPr dirty="0"/>
              <a:t>how health behaviors and access shape risk and recovery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Health is multi-factor</a:t>
            </a:r>
          </a:p>
        </p:txBody>
      </p:sp>
      <p:sp>
        <p:nvSpPr>
          <p:cNvPr id="3" name="Content Placeholder 2"/>
          <p:cNvSpPr>
            <a:spLocks noGrp="1"/>
          </p:cNvSpPr>
          <p:nvPr>
            <p:ph idx="1"/>
          </p:nvPr>
        </p:nvSpPr>
        <p:spPr/>
        <p:txBody>
          <a:bodyPr/>
          <a:lstStyle/>
          <a:p>
            <a:pPr lvl="0"/>
            <a:r>
              <a:rPr dirty="0"/>
              <a:t>biology matters</a:t>
            </a:r>
          </a:p>
          <a:p>
            <a:pPr lvl="0"/>
            <a:r>
              <a:rPr dirty="0"/>
              <a:t>behavior matters</a:t>
            </a:r>
          </a:p>
          <a:p>
            <a:pPr lvl="0"/>
            <a:r>
              <a:rPr dirty="0"/>
              <a:t>stress processes matter</a:t>
            </a:r>
          </a:p>
          <a:p>
            <a:pPr lvl="0"/>
            <a:r>
              <a:rPr dirty="0"/>
              <a:t>context matters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Warm-up</a:t>
            </a:r>
          </a:p>
        </p:txBody>
      </p:sp>
      <p:sp>
        <p:nvSpPr>
          <p:cNvPr id="3" name="Content Placeholder 2"/>
          <p:cNvSpPr>
            <a:spLocks noGrp="1"/>
          </p:cNvSpPr>
          <p:nvPr>
            <p:ph idx="1"/>
          </p:nvPr>
        </p:nvSpPr>
        <p:spPr/>
        <p:txBody>
          <a:bodyPr/>
          <a:lstStyle/>
          <a:p>
            <a:pPr marL="0" lvl="0" indent="0">
              <a:buNone/>
            </a:pPr>
            <a:r>
              <a:rPr dirty="0"/>
              <a:t>Two students have the same bad week:</a:t>
            </a:r>
          </a:p>
          <a:p>
            <a:pPr lvl="0"/>
            <a:r>
              <a:rPr dirty="0"/>
              <a:t>too much work</a:t>
            </a:r>
          </a:p>
          <a:p>
            <a:pPr lvl="0"/>
            <a:r>
              <a:rPr dirty="0"/>
              <a:t>not enough sleep</a:t>
            </a:r>
          </a:p>
          <a:p>
            <a:pPr lvl="0"/>
            <a:r>
              <a:rPr dirty="0"/>
              <a:t>no extra time</a:t>
            </a:r>
          </a:p>
          <a:p>
            <a:pPr marL="0" lvl="0" indent="0">
              <a:buNone/>
            </a:pPr>
            <a:r>
              <a:rPr dirty="0"/>
              <a:t>By Friday, one is stressed but functioning.</a:t>
            </a:r>
            <a:br>
              <a:rPr dirty="0"/>
            </a:br>
            <a:r>
              <a:rPr dirty="0"/>
              <a:t>The other is stressed and unraveling.</a:t>
            </a:r>
          </a:p>
          <a:p>
            <a:pPr marL="0" lvl="0" indent="0">
              <a:buNone/>
            </a:pPr>
            <a:r>
              <a:rPr dirty="0"/>
              <a:t>What would psychology look at first to explain the difference?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 psychological view of health</a:t>
            </a:r>
          </a:p>
        </p:txBody>
      </p:sp>
      <p:sp>
        <p:nvSpPr>
          <p:cNvPr id="3" name="Content Placeholder 2"/>
          <p:cNvSpPr>
            <a:spLocks noGrp="1"/>
          </p:cNvSpPr>
          <p:nvPr>
            <p:ph idx="1"/>
          </p:nvPr>
        </p:nvSpPr>
        <p:spPr/>
        <p:txBody>
          <a:bodyPr/>
          <a:lstStyle/>
          <a:p>
            <a:pPr marL="0" lvl="0" indent="0">
              <a:buNone/>
            </a:pPr>
            <a:r>
              <a:rPr dirty="0"/>
              <a:t>Health is not just about what happens in the body.</a:t>
            </a:r>
          </a:p>
          <a:p>
            <a:pPr marL="0" lvl="0" indent="0">
              <a:buNone/>
            </a:pPr>
            <a:r>
              <a:rPr dirty="0"/>
              <a:t>Health is also shaped by:</a:t>
            </a:r>
          </a:p>
          <a:p>
            <a:pPr lvl="0"/>
            <a:r>
              <a:rPr dirty="0"/>
              <a:t>how people interpret demands</a:t>
            </a:r>
          </a:p>
          <a:p>
            <a:pPr lvl="0"/>
            <a:r>
              <a:rPr dirty="0"/>
              <a:t>how they respond to those demands</a:t>
            </a:r>
          </a:p>
          <a:p>
            <a:pPr lvl="0"/>
            <a:r>
              <a:rPr dirty="0"/>
              <a:t>what support they have</a:t>
            </a:r>
          </a:p>
          <a:p>
            <a:pPr lvl="0"/>
            <a:r>
              <a:rPr dirty="0"/>
              <a:t>what options and barriers their environment creates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Stress is a process</a:t>
            </a:r>
          </a:p>
        </p:txBody>
      </p:sp>
      <p:sp>
        <p:nvSpPr>
          <p:cNvPr id="3" name="Content Placeholder 2"/>
          <p:cNvSpPr>
            <a:spLocks noGrp="1"/>
          </p:cNvSpPr>
          <p:nvPr>
            <p:ph idx="1"/>
          </p:nvPr>
        </p:nvSpPr>
        <p:spPr/>
        <p:txBody>
          <a:bodyPr/>
          <a:lstStyle/>
          <a:p>
            <a:pPr marL="0" lvl="0" indent="0">
              <a:buNone/>
            </a:pPr>
            <a:r>
              <a:rPr dirty="0"/>
              <a:t>Psychologists do not treat stress as only an event or only a feeling.</a:t>
            </a:r>
          </a:p>
          <a:p>
            <a:pPr marL="0" lvl="0" indent="0">
              <a:buNone/>
            </a:pPr>
            <a:r>
              <a:rPr dirty="0"/>
              <a:t>A stress process usually includes:</a:t>
            </a:r>
          </a:p>
          <a:p>
            <a:pPr lvl="0"/>
            <a:r>
              <a:rPr dirty="0"/>
              <a:t>a stressor or demand</a:t>
            </a:r>
          </a:p>
          <a:p>
            <a:pPr lvl="0"/>
            <a:r>
              <a:rPr dirty="0"/>
              <a:t>an appraisal of meaning, control, and resources</a:t>
            </a:r>
          </a:p>
          <a:p>
            <a:pPr lvl="0"/>
            <a:r>
              <a:rPr dirty="0"/>
              <a:t>a physiological response</a:t>
            </a:r>
          </a:p>
          <a:p>
            <a:pPr lvl="0"/>
            <a:r>
              <a:rPr dirty="0"/>
              <a:t>coping responses</a:t>
            </a:r>
          </a:p>
          <a:p>
            <a:pPr lvl="0"/>
            <a:r>
              <a:rPr dirty="0"/>
              <a:t>short-term and long-term outcomes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The same stressor can lead to different outcomes</a:t>
            </a:r>
          </a:p>
        </p:txBody>
      </p:sp>
      <p:sp>
        <p:nvSpPr>
          <p:cNvPr id="3" name="Content Placeholder 2"/>
          <p:cNvSpPr>
            <a:spLocks noGrp="1"/>
          </p:cNvSpPr>
          <p:nvPr>
            <p:ph idx="1"/>
          </p:nvPr>
        </p:nvSpPr>
        <p:spPr/>
        <p:txBody>
          <a:bodyPr/>
          <a:lstStyle/>
          <a:p>
            <a:pPr marL="0" lvl="0" indent="0">
              <a:buNone/>
            </a:pPr>
            <a:r>
              <a:rPr dirty="0"/>
              <a:t>Two people can face the same demand and still end up with different outcomes because they may differ in:</a:t>
            </a:r>
          </a:p>
          <a:p>
            <a:pPr lvl="0"/>
            <a:r>
              <a:rPr dirty="0"/>
              <a:t>what the situation means to them</a:t>
            </a:r>
          </a:p>
          <a:p>
            <a:pPr lvl="0"/>
            <a:r>
              <a:rPr dirty="0"/>
              <a:t>how much control they think they have</a:t>
            </a:r>
          </a:p>
          <a:p>
            <a:pPr lvl="0"/>
            <a:r>
              <a:rPr dirty="0"/>
              <a:t>what resources they believe are available</a:t>
            </a:r>
          </a:p>
          <a:p>
            <a:pPr lvl="0"/>
            <a:r>
              <a:rPr dirty="0"/>
              <a:t>how they respond once stress begins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Appraisal shapes stress</a:t>
            </a:r>
          </a:p>
        </p:txBody>
      </p:sp>
      <p:sp>
        <p:nvSpPr>
          <p:cNvPr id="3" name="Content Placeholder 2"/>
          <p:cNvSpPr>
            <a:spLocks noGrp="1"/>
          </p:cNvSpPr>
          <p:nvPr>
            <p:ph idx="1"/>
          </p:nvPr>
        </p:nvSpPr>
        <p:spPr/>
        <p:txBody>
          <a:bodyPr/>
          <a:lstStyle/>
          <a:p>
            <a:pPr marL="0" lvl="0" indent="0">
              <a:buNone/>
            </a:pPr>
            <a:r>
              <a:rPr dirty="0"/>
              <a:t>Appraisal includes questions like:</a:t>
            </a:r>
          </a:p>
          <a:p>
            <a:pPr lvl="0"/>
            <a:r>
              <a:rPr dirty="0"/>
              <a:t>Is this a threat, a challenge, or something manageable?</a:t>
            </a:r>
          </a:p>
          <a:p>
            <a:pPr lvl="0"/>
            <a:r>
              <a:rPr dirty="0"/>
              <a:t>How much control do I have?</a:t>
            </a:r>
          </a:p>
          <a:p>
            <a:pPr lvl="0"/>
            <a:r>
              <a:rPr dirty="0"/>
              <a:t>What resources can I use?</a:t>
            </a:r>
          </a:p>
          <a:p>
            <a:pPr lvl="0"/>
            <a:r>
              <a:rPr dirty="0"/>
              <a:t>What is likely to happen next?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Acute and chronic stress are different</a:t>
            </a:r>
          </a:p>
        </p:txBody>
      </p:sp>
      <p:sp>
        <p:nvSpPr>
          <p:cNvPr id="3" name="Content Placeholder 2"/>
          <p:cNvSpPr>
            <a:spLocks noGrp="1"/>
          </p:cNvSpPr>
          <p:nvPr>
            <p:ph idx="1"/>
          </p:nvPr>
        </p:nvSpPr>
        <p:spPr/>
        <p:txBody>
          <a:bodyPr/>
          <a:lstStyle/>
          <a:p>
            <a:pPr lvl="0"/>
            <a:r>
              <a:rPr dirty="0"/>
              <a:t>acute stress can support short-term action</a:t>
            </a:r>
          </a:p>
          <a:p>
            <a:pPr lvl="0"/>
            <a:r>
              <a:rPr dirty="0"/>
              <a:t>chronic stress can increase long-term strain</a:t>
            </a:r>
          </a:p>
          <a:p>
            <a:pPr lvl="0"/>
            <a:r>
              <a:rPr dirty="0"/>
              <a:t>effects depend on duration, repetition, and context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Why the body matters in this lesson</a:t>
            </a:r>
          </a:p>
        </p:txBody>
      </p:sp>
      <p:sp>
        <p:nvSpPr>
          <p:cNvPr id="3" name="Content Placeholder 2"/>
          <p:cNvSpPr>
            <a:spLocks noGrp="1"/>
          </p:cNvSpPr>
          <p:nvPr>
            <p:ph idx="1"/>
          </p:nvPr>
        </p:nvSpPr>
        <p:spPr/>
        <p:txBody>
          <a:bodyPr/>
          <a:lstStyle/>
          <a:p>
            <a:pPr marL="0" lvl="0" indent="0">
              <a:buNone/>
            </a:pPr>
            <a:r>
              <a:rPr dirty="0"/>
              <a:t>Stress is psychological, but it is not only psychological.</a:t>
            </a:r>
          </a:p>
          <a:p>
            <a:pPr marL="0" lvl="0" indent="0">
              <a:buNone/>
            </a:pPr>
            <a:r>
              <a:rPr dirty="0"/>
              <a:t>To understand health outcomes, we also need to think about:</a:t>
            </a:r>
          </a:p>
          <a:p>
            <a:pPr lvl="0"/>
            <a:r>
              <a:rPr dirty="0"/>
              <a:t>rapid bodily activation</a:t>
            </a:r>
          </a:p>
          <a:p>
            <a:pPr lvl="0"/>
            <a:r>
              <a:rPr dirty="0"/>
              <a:t>slower hormonal signaling</a:t>
            </a:r>
          </a:p>
          <a:p>
            <a:pPr lvl="0"/>
            <a:r>
              <a:rPr dirty="0"/>
              <a:t>repeated activation over time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Sympathetic and HPA pathways</a:t>
            </a:r>
          </a:p>
        </p:txBody>
      </p:sp>
      <p:sp>
        <p:nvSpPr>
          <p:cNvPr id="3" name="Content Placeholder 2"/>
          <p:cNvSpPr>
            <a:spLocks noGrp="1"/>
          </p:cNvSpPr>
          <p:nvPr>
            <p:ph sz="half" idx="1"/>
          </p:nvPr>
        </p:nvSpPr>
        <p:spPr/>
        <p:txBody>
          <a:bodyPr/>
          <a:lstStyle/>
          <a:p>
            <a:pPr marL="0" lvl="0" indent="0">
              <a:spcBef>
                <a:spcPts val="3000"/>
              </a:spcBef>
              <a:buNone/>
            </a:pPr>
            <a:r>
              <a:rPr b="1" dirty="0"/>
              <a:t>Sympathetic pathway</a:t>
            </a:r>
          </a:p>
          <a:p>
            <a:pPr lvl="0"/>
            <a:r>
              <a:rPr dirty="0"/>
              <a:t>fast activation</a:t>
            </a:r>
          </a:p>
          <a:p>
            <a:pPr lvl="0"/>
            <a:r>
              <a:rPr dirty="0"/>
              <a:t>prepares immediate action</a:t>
            </a:r>
          </a:p>
          <a:p>
            <a:pPr lvl="0"/>
            <a:r>
              <a:rPr dirty="0"/>
              <a:t>short time scale</a:t>
            </a:r>
          </a:p>
        </p:txBody>
      </p:sp>
      <p:sp>
        <p:nvSpPr>
          <p:cNvPr id="4" name="Content Placeholder 3"/>
          <p:cNvSpPr>
            <a:spLocks noGrp="1"/>
          </p:cNvSpPr>
          <p:nvPr>
            <p:ph sz="half" idx="2"/>
          </p:nvPr>
        </p:nvSpPr>
        <p:spPr/>
        <p:txBody>
          <a:bodyPr/>
          <a:lstStyle/>
          <a:p>
            <a:pPr marL="0" lvl="0" indent="0">
              <a:spcBef>
                <a:spcPts val="3000"/>
              </a:spcBef>
              <a:buNone/>
            </a:pPr>
            <a:r>
              <a:rPr b="1" dirty="0"/>
              <a:t>HPA axis pathway</a:t>
            </a:r>
          </a:p>
          <a:p>
            <a:pPr lvl="0"/>
            <a:r>
              <a:rPr dirty="0"/>
              <a:t>slower stress pathway</a:t>
            </a:r>
          </a:p>
          <a:p>
            <a:pPr lvl="0"/>
            <a:r>
              <a:rPr dirty="0"/>
              <a:t>involves cortisol</a:t>
            </a:r>
          </a:p>
          <a:p>
            <a:pPr lvl="0"/>
            <a:r>
              <a:rPr dirty="0"/>
              <a:t>longer time scale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Cortisol requires caution</a:t>
            </a:r>
          </a:p>
        </p:txBody>
      </p:sp>
      <p:sp>
        <p:nvSpPr>
          <p:cNvPr id="3" name="Content Placeholder 2"/>
          <p:cNvSpPr>
            <a:spLocks noGrp="1"/>
          </p:cNvSpPr>
          <p:nvPr>
            <p:ph idx="1"/>
          </p:nvPr>
        </p:nvSpPr>
        <p:spPr/>
        <p:txBody>
          <a:bodyPr/>
          <a:lstStyle/>
          <a:p>
            <a:pPr marL="0" lvl="0" indent="0">
              <a:buNone/>
            </a:pPr>
            <a:r>
              <a:rPr dirty="0"/>
              <a:t>Cortisol is part of the body’s stress response, but it is not a simple “stress meter.”</a:t>
            </a:r>
          </a:p>
          <a:p>
            <a:pPr lvl="0"/>
            <a:r>
              <a:rPr dirty="0"/>
              <a:t>timing matters</a:t>
            </a:r>
          </a:p>
          <a:p>
            <a:pPr lvl="0"/>
            <a:r>
              <a:rPr dirty="0"/>
              <a:t>context matters</a:t>
            </a:r>
          </a:p>
          <a:p>
            <a:pPr lvl="0"/>
            <a:r>
              <a:rPr dirty="0"/>
              <a:t>a single reading does not explain the whole process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Allostatic load</a:t>
            </a:r>
          </a:p>
        </p:txBody>
      </p:sp>
      <p:sp>
        <p:nvSpPr>
          <p:cNvPr id="3" name="Content Placeholder 2"/>
          <p:cNvSpPr>
            <a:spLocks noGrp="1"/>
          </p:cNvSpPr>
          <p:nvPr>
            <p:ph idx="1"/>
          </p:nvPr>
        </p:nvSpPr>
        <p:spPr/>
        <p:txBody>
          <a:bodyPr/>
          <a:lstStyle/>
          <a:p>
            <a:pPr lvl="0"/>
            <a:r>
              <a:rPr dirty="0"/>
              <a:t>cumulative wear linked to repeated activation over time</a:t>
            </a:r>
          </a:p>
          <a:p>
            <a:pPr lvl="0"/>
            <a:r>
              <a:rPr dirty="0"/>
              <a:t>involves multiple systems, not one single marker</a:t>
            </a:r>
          </a:p>
          <a:p>
            <a:pPr lvl="0"/>
            <a:r>
              <a:rPr dirty="0"/>
              <a:t>depends on how it is measured and over what timescale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Psychoneuroimmunology</a:t>
            </a:r>
          </a:p>
        </p:txBody>
      </p:sp>
      <p:sp>
        <p:nvSpPr>
          <p:cNvPr id="3" name="Content Placeholder 2"/>
          <p:cNvSpPr>
            <a:spLocks noGrp="1"/>
          </p:cNvSpPr>
          <p:nvPr>
            <p:ph idx="1"/>
          </p:nvPr>
        </p:nvSpPr>
        <p:spPr/>
        <p:txBody>
          <a:bodyPr/>
          <a:lstStyle/>
          <a:p>
            <a:pPr marL="0" lvl="0" indent="0">
              <a:buNone/>
            </a:pPr>
            <a:r>
              <a:rPr dirty="0"/>
              <a:t>Psychologists study how stress-related processes connect with nervous, endocrine, and immune functioning.</a:t>
            </a:r>
          </a:p>
          <a:p>
            <a:pPr marL="0" lvl="0" indent="0">
              <a:buNone/>
            </a:pPr>
            <a:r>
              <a:rPr dirty="0"/>
              <a:t>Key idea:</a:t>
            </a:r>
          </a:p>
          <a:p>
            <a:pPr lvl="0"/>
            <a:r>
              <a:rPr dirty="0"/>
              <a:t>stress processes can influence immune-related outcomes</a:t>
            </a:r>
          </a:p>
          <a:p>
            <a:pPr lvl="0"/>
            <a:r>
              <a:rPr dirty="0"/>
              <a:t>the pathways are multi-factor</a:t>
            </a:r>
          </a:p>
          <a:p>
            <a:pPr lvl="0"/>
            <a:r>
              <a:rPr dirty="0"/>
              <a:t>strong conclusions require careful evidence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Coping changes outcomes</a:t>
            </a:r>
          </a:p>
        </p:txBody>
      </p:sp>
      <p:sp>
        <p:nvSpPr>
          <p:cNvPr id="3" name="Content Placeholder 2"/>
          <p:cNvSpPr>
            <a:spLocks noGrp="1"/>
          </p:cNvSpPr>
          <p:nvPr>
            <p:ph idx="1"/>
          </p:nvPr>
        </p:nvSpPr>
        <p:spPr/>
        <p:txBody>
          <a:bodyPr/>
          <a:lstStyle/>
          <a:p>
            <a:pPr marL="0" lvl="0" indent="0">
              <a:buNone/>
            </a:pPr>
            <a:r>
              <a:rPr dirty="0"/>
              <a:t>Coping is how a person responds to demands.</a:t>
            </a:r>
          </a:p>
          <a:p>
            <a:pPr marL="0" lvl="0" indent="0">
              <a:buNone/>
            </a:pPr>
            <a:r>
              <a:rPr dirty="0"/>
              <a:t>Coping can change:</a:t>
            </a:r>
          </a:p>
          <a:p>
            <a:pPr lvl="0"/>
            <a:r>
              <a:rPr dirty="0"/>
              <a:t>the situation itself</a:t>
            </a:r>
          </a:p>
          <a:p>
            <a:pPr lvl="0"/>
            <a:r>
              <a:rPr dirty="0"/>
              <a:t>the meaning of the situation</a:t>
            </a:r>
          </a:p>
          <a:p>
            <a:pPr lvl="0"/>
            <a:r>
              <a:rPr dirty="0"/>
              <a:t>the body’s response</a:t>
            </a:r>
          </a:p>
          <a:p>
            <a:pPr lvl="0"/>
            <a:r>
              <a:rPr dirty="0"/>
              <a:t>later health behavior</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Problem-focused coping</a:t>
            </a:r>
          </a:p>
        </p:txBody>
      </p:sp>
      <p:sp>
        <p:nvSpPr>
          <p:cNvPr id="3" name="Content Placeholder 2"/>
          <p:cNvSpPr>
            <a:spLocks noGrp="1"/>
          </p:cNvSpPr>
          <p:nvPr>
            <p:ph idx="1"/>
          </p:nvPr>
        </p:nvSpPr>
        <p:spPr/>
        <p:txBody>
          <a:bodyPr/>
          <a:lstStyle/>
          <a:p>
            <a:pPr lvl="0"/>
            <a:r>
              <a:rPr dirty="0"/>
              <a:t>targets the stressor or situation</a:t>
            </a:r>
          </a:p>
          <a:p>
            <a:pPr lvl="0"/>
            <a:r>
              <a:rPr dirty="0"/>
              <a:t>includes planning and action steps</a:t>
            </a:r>
          </a:p>
          <a:p>
            <a:pPr lvl="0"/>
            <a:r>
              <a:rPr dirty="0"/>
              <a:t>works best when some part of the situation can be changed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Emotion-focused coping</a:t>
            </a:r>
          </a:p>
        </p:txBody>
      </p:sp>
      <p:sp>
        <p:nvSpPr>
          <p:cNvPr id="3" name="Content Placeholder 2"/>
          <p:cNvSpPr>
            <a:spLocks noGrp="1"/>
          </p:cNvSpPr>
          <p:nvPr>
            <p:ph idx="1"/>
          </p:nvPr>
        </p:nvSpPr>
        <p:spPr/>
        <p:txBody>
          <a:bodyPr/>
          <a:lstStyle/>
          <a:p>
            <a:pPr lvl="0"/>
            <a:r>
              <a:rPr dirty="0"/>
              <a:t>targets emotion and meaning</a:t>
            </a:r>
          </a:p>
          <a:p>
            <a:pPr lvl="0"/>
            <a:r>
              <a:rPr dirty="0"/>
              <a:t>includes reappraisal, acceptance, and regulation strategies</a:t>
            </a:r>
          </a:p>
          <a:p>
            <a:pPr lvl="0"/>
            <a:r>
              <a:rPr dirty="0"/>
              <a:t>works best when the situation cannot be fully changed right now</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Coping effectiveness is context-dependent</a:t>
            </a:r>
          </a:p>
        </p:txBody>
      </p:sp>
      <p:sp>
        <p:nvSpPr>
          <p:cNvPr id="3" name="Content Placeholder 2"/>
          <p:cNvSpPr>
            <a:spLocks noGrp="1"/>
          </p:cNvSpPr>
          <p:nvPr>
            <p:ph idx="1"/>
          </p:nvPr>
        </p:nvSpPr>
        <p:spPr/>
        <p:txBody>
          <a:bodyPr/>
          <a:lstStyle/>
          <a:p>
            <a:pPr marL="0" lvl="0" indent="0">
              <a:buNone/>
            </a:pPr>
            <a:r>
              <a:rPr dirty="0"/>
              <a:t>A coping strategy is not universally good or bad.</a:t>
            </a:r>
          </a:p>
          <a:p>
            <a:pPr marL="0" lvl="0" indent="0">
              <a:buNone/>
            </a:pPr>
            <a:r>
              <a:rPr dirty="0"/>
              <a:t>What matters:</a:t>
            </a:r>
          </a:p>
          <a:p>
            <a:pPr lvl="0"/>
            <a:r>
              <a:rPr dirty="0"/>
              <a:t>controllability</a:t>
            </a:r>
          </a:p>
          <a:p>
            <a:pPr lvl="0"/>
            <a:r>
              <a:rPr dirty="0"/>
              <a:t>timing</a:t>
            </a:r>
          </a:p>
          <a:p>
            <a:pPr lvl="0"/>
            <a:r>
              <a:rPr dirty="0"/>
              <a:t>costs</a:t>
            </a:r>
          </a:p>
          <a:p>
            <a:pPr lvl="0"/>
            <a:r>
              <a:rPr dirty="0"/>
              <a:t>trade-offs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Check for understanding</a:t>
            </a:r>
          </a:p>
        </p:txBody>
      </p:sp>
      <p:sp>
        <p:nvSpPr>
          <p:cNvPr id="3" name="Content Placeholder 2"/>
          <p:cNvSpPr>
            <a:spLocks noGrp="1"/>
          </p:cNvSpPr>
          <p:nvPr>
            <p:ph idx="1"/>
          </p:nvPr>
        </p:nvSpPr>
        <p:spPr/>
        <p:txBody>
          <a:bodyPr>
            <a:normAutofit fontScale="92500" lnSpcReduction="20000"/>
          </a:bodyPr>
          <a:lstStyle/>
          <a:p>
            <a:pPr marL="0" lvl="0" indent="0">
              <a:buNone/>
            </a:pPr>
            <a:r>
              <a:rPr dirty="0"/>
              <a:t>Which kind of coping is the better fit?</a:t>
            </a:r>
          </a:p>
          <a:p>
            <a:pPr marL="0" lvl="0" indent="0">
              <a:spcBef>
                <a:spcPts val="3000"/>
              </a:spcBef>
              <a:buNone/>
            </a:pPr>
            <a:r>
              <a:rPr b="1" dirty="0"/>
              <a:t>Situation A</a:t>
            </a:r>
          </a:p>
          <a:p>
            <a:pPr marL="0" lvl="0" indent="0">
              <a:buNone/>
            </a:pPr>
            <a:r>
              <a:rPr dirty="0"/>
              <a:t>You forgot three deadlines and now your week is overloaded.</a:t>
            </a:r>
          </a:p>
          <a:p>
            <a:pPr marL="0" lvl="0" indent="0">
              <a:spcBef>
                <a:spcPts val="3000"/>
              </a:spcBef>
              <a:buNone/>
            </a:pPr>
            <a:r>
              <a:rPr b="1" dirty="0"/>
              <a:t>Situation B</a:t>
            </a:r>
          </a:p>
          <a:p>
            <a:pPr marL="0" lvl="0" indent="0">
              <a:buNone/>
            </a:pPr>
            <a:r>
              <a:rPr dirty="0"/>
              <a:t>A family member is in the hospital and you cannot change that today.</a:t>
            </a:r>
          </a:p>
          <a:p>
            <a:pPr marL="0" lvl="0" indent="0">
              <a:buNone/>
            </a:pPr>
            <a:r>
              <a:rPr dirty="0"/>
              <a:t>Think about which situation calls more for:</a:t>
            </a:r>
          </a:p>
          <a:p>
            <a:pPr lvl="0"/>
            <a:r>
              <a:rPr dirty="0"/>
              <a:t>problem-focused coping</a:t>
            </a:r>
          </a:p>
          <a:p>
            <a:pPr lvl="0"/>
            <a:r>
              <a:rPr dirty="0"/>
              <a:t>emotion-focused coping</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Student processing activity</a:t>
            </a:r>
          </a:p>
        </p:txBody>
      </p:sp>
      <p:sp>
        <p:nvSpPr>
          <p:cNvPr id="3" name="Content Placeholder 2"/>
          <p:cNvSpPr>
            <a:spLocks noGrp="1"/>
          </p:cNvSpPr>
          <p:nvPr>
            <p:ph idx="1"/>
          </p:nvPr>
        </p:nvSpPr>
        <p:spPr/>
        <p:txBody>
          <a:bodyPr>
            <a:normAutofit fontScale="92500"/>
          </a:bodyPr>
          <a:lstStyle/>
          <a:p>
            <a:pPr marL="0" lvl="0" indent="0">
              <a:spcBef>
                <a:spcPts val="3000"/>
              </a:spcBef>
              <a:buNone/>
            </a:pPr>
            <a:r>
              <a:rPr b="1" dirty="0"/>
              <a:t>Scenario</a:t>
            </a:r>
          </a:p>
          <a:p>
            <a:pPr marL="0" lvl="0" indent="0">
              <a:buNone/>
            </a:pPr>
            <a:r>
              <a:rPr dirty="0"/>
              <a:t>A student is working, has two major assignments due, is sleeping badly, and stops doing the routines that usually help.</a:t>
            </a:r>
          </a:p>
          <a:p>
            <a:pPr marL="0" lvl="0" indent="0">
              <a:buNone/>
            </a:pPr>
            <a:r>
              <a:rPr dirty="0"/>
              <a:t>Trace the likely chain:</a:t>
            </a:r>
          </a:p>
          <a:p>
            <a:pPr lvl="0"/>
            <a:r>
              <a:rPr dirty="0"/>
              <a:t>appraisal</a:t>
            </a:r>
          </a:p>
          <a:p>
            <a:pPr lvl="0"/>
            <a:r>
              <a:rPr dirty="0"/>
              <a:t>stress response</a:t>
            </a:r>
          </a:p>
          <a:p>
            <a:pPr lvl="0"/>
            <a:r>
              <a:rPr dirty="0"/>
              <a:t>coping choices</a:t>
            </a:r>
          </a:p>
          <a:p>
            <a:pPr lvl="0"/>
            <a:r>
              <a:rPr dirty="0"/>
              <a:t>sleep and activity changes</a:t>
            </a:r>
          </a:p>
          <a:p>
            <a:pPr lvl="0"/>
            <a:r>
              <a:rPr dirty="0"/>
              <a:t>recovery over time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Processing prompts</a:t>
            </a:r>
          </a:p>
        </p:txBody>
      </p:sp>
      <p:sp>
        <p:nvSpPr>
          <p:cNvPr id="3" name="Content Placeholder 2"/>
          <p:cNvSpPr>
            <a:spLocks noGrp="1"/>
          </p:cNvSpPr>
          <p:nvPr>
            <p:ph idx="1"/>
          </p:nvPr>
        </p:nvSpPr>
        <p:spPr/>
        <p:txBody>
          <a:bodyPr/>
          <a:lstStyle/>
          <a:p>
            <a:pPr marL="0" lvl="0" indent="0">
              <a:buNone/>
            </a:pPr>
            <a:r>
              <a:rPr dirty="0"/>
              <a:t>Identify:</a:t>
            </a:r>
          </a:p>
          <a:p>
            <a:pPr lvl="0"/>
            <a:r>
              <a:rPr dirty="0"/>
              <a:t>one likely appraisal</a:t>
            </a:r>
          </a:p>
          <a:p>
            <a:pPr lvl="0"/>
            <a:r>
              <a:rPr dirty="0"/>
              <a:t>one likely stress-response change</a:t>
            </a:r>
          </a:p>
          <a:p>
            <a:pPr lvl="0"/>
            <a:r>
              <a:rPr dirty="0"/>
              <a:t>one problem-focused coping option</a:t>
            </a:r>
          </a:p>
          <a:p>
            <a:pPr lvl="0"/>
            <a:r>
              <a:rPr dirty="0"/>
              <a:t>one emotion-focused coping option</a:t>
            </a:r>
          </a:p>
          <a:p>
            <a:pPr lvl="0"/>
            <a:r>
              <a:rPr dirty="0"/>
              <a:t>one support factor that could help</a:t>
            </a:r>
          </a:p>
          <a:p>
            <a:pPr lvl="0"/>
            <a:r>
              <a:rPr dirty="0"/>
              <a:t>one context barrier that could make healthy behavior harder</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Debrief and feedback</a:t>
            </a:r>
          </a:p>
        </p:txBody>
      </p:sp>
      <p:sp>
        <p:nvSpPr>
          <p:cNvPr id="3" name="Content Placeholder 2"/>
          <p:cNvSpPr>
            <a:spLocks noGrp="1"/>
          </p:cNvSpPr>
          <p:nvPr>
            <p:ph idx="1"/>
          </p:nvPr>
        </p:nvSpPr>
        <p:spPr/>
        <p:txBody>
          <a:bodyPr/>
          <a:lstStyle/>
          <a:p>
            <a:pPr marL="0" lvl="0" indent="0">
              <a:buNone/>
            </a:pPr>
            <a:r>
              <a:rPr dirty="0"/>
              <a:t>When groups share, listen for these common problems:</a:t>
            </a:r>
          </a:p>
          <a:p>
            <a:pPr lvl="0"/>
            <a:r>
              <a:rPr dirty="0"/>
              <a:t>treating stress as only a feeling</a:t>
            </a:r>
          </a:p>
          <a:p>
            <a:pPr lvl="0"/>
            <a:r>
              <a:rPr dirty="0"/>
              <a:t>assuming stress automatically causes disease</a:t>
            </a:r>
          </a:p>
          <a:p>
            <a:pPr lvl="0"/>
            <a:r>
              <a:rPr dirty="0"/>
              <a:t>acting like one coping style is always best</a:t>
            </a:r>
          </a:p>
          <a:p>
            <a:pPr lvl="0"/>
            <a:r>
              <a:rPr dirty="0"/>
              <a:t>treating biology as the whole explanation</a:t>
            </a:r>
          </a:p>
          <a:p>
            <a:pPr lvl="0"/>
            <a:r>
              <a:rPr dirty="0"/>
              <a:t>ignoring barriers and context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Common confusions to avoid</a:t>
            </a:r>
          </a:p>
        </p:txBody>
      </p:sp>
      <p:sp>
        <p:nvSpPr>
          <p:cNvPr id="3" name="Content Placeholder 2"/>
          <p:cNvSpPr>
            <a:spLocks noGrp="1"/>
          </p:cNvSpPr>
          <p:nvPr>
            <p:ph idx="1"/>
          </p:nvPr>
        </p:nvSpPr>
        <p:spPr/>
        <p:txBody>
          <a:bodyPr/>
          <a:lstStyle/>
          <a:p>
            <a:pPr lvl="0"/>
            <a:r>
              <a:rPr dirty="0"/>
              <a:t>stress is only a feeling</a:t>
            </a:r>
          </a:p>
          <a:p>
            <a:pPr lvl="0"/>
            <a:r>
              <a:rPr dirty="0"/>
              <a:t>stress automatically causes disease</a:t>
            </a:r>
          </a:p>
          <a:p>
            <a:pPr lvl="0"/>
            <a:r>
              <a:rPr dirty="0"/>
              <a:t>one coping style is always best</a:t>
            </a:r>
          </a:p>
          <a:p>
            <a:pPr lvl="0"/>
            <a:r>
              <a:rPr dirty="0"/>
              <a:t>biomarkers prove simple answers</a:t>
            </a:r>
          </a:p>
          <a:p>
            <a:pPr lvl="0"/>
            <a:r>
              <a:rPr dirty="0"/>
              <a:t>health is only personal responsibility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Social support can change outcomes</a:t>
            </a:r>
          </a:p>
        </p:txBody>
      </p:sp>
      <p:sp>
        <p:nvSpPr>
          <p:cNvPr id="3" name="Content Placeholder 2"/>
          <p:cNvSpPr>
            <a:spLocks noGrp="1"/>
          </p:cNvSpPr>
          <p:nvPr>
            <p:ph idx="1"/>
          </p:nvPr>
        </p:nvSpPr>
        <p:spPr/>
        <p:txBody>
          <a:bodyPr/>
          <a:lstStyle/>
          <a:p>
            <a:pPr marL="0" lvl="0" indent="0">
              <a:buNone/>
            </a:pPr>
            <a:r>
              <a:rPr dirty="0"/>
              <a:t>Social support can help through multiple pathways:</a:t>
            </a:r>
          </a:p>
          <a:p>
            <a:pPr lvl="0"/>
            <a:r>
              <a:rPr dirty="0"/>
              <a:t>increasing practical resources</a:t>
            </a:r>
          </a:p>
          <a:p>
            <a:pPr lvl="0"/>
            <a:r>
              <a:rPr dirty="0"/>
              <a:t>improving regulation</a:t>
            </a:r>
          </a:p>
          <a:p>
            <a:pPr lvl="0"/>
            <a:r>
              <a:rPr dirty="0"/>
              <a:t>helping people stay with useful behaviors</a:t>
            </a:r>
          </a:p>
          <a:p>
            <a:pPr lvl="0"/>
            <a:r>
              <a:rPr dirty="0"/>
              <a:t>reducing isolation during strain</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Resilience</a:t>
            </a:r>
          </a:p>
        </p:txBody>
      </p:sp>
      <p:sp>
        <p:nvSpPr>
          <p:cNvPr id="3" name="Content Placeholder 2"/>
          <p:cNvSpPr>
            <a:spLocks noGrp="1"/>
          </p:cNvSpPr>
          <p:nvPr>
            <p:ph idx="1"/>
          </p:nvPr>
        </p:nvSpPr>
        <p:spPr/>
        <p:txBody>
          <a:bodyPr/>
          <a:lstStyle/>
          <a:p>
            <a:pPr lvl="0"/>
            <a:r>
              <a:rPr dirty="0"/>
              <a:t>adaptation under adversity</a:t>
            </a:r>
          </a:p>
          <a:p>
            <a:pPr lvl="0"/>
            <a:r>
              <a:rPr dirty="0"/>
              <a:t>protective factors can reduce risk</a:t>
            </a:r>
          </a:p>
          <a:p>
            <a:pPr lvl="0"/>
            <a:r>
              <a:rPr dirty="0"/>
              <a:t>resilience is not the same as invulnerability or the absence of distress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Health behaviors</a:t>
            </a:r>
          </a:p>
        </p:txBody>
      </p:sp>
      <p:sp>
        <p:nvSpPr>
          <p:cNvPr id="3" name="Content Placeholder 2"/>
          <p:cNvSpPr>
            <a:spLocks noGrp="1"/>
          </p:cNvSpPr>
          <p:nvPr>
            <p:ph idx="1"/>
          </p:nvPr>
        </p:nvSpPr>
        <p:spPr/>
        <p:txBody>
          <a:bodyPr/>
          <a:lstStyle/>
          <a:p>
            <a:pPr marL="0" lvl="0" indent="0">
              <a:buNone/>
            </a:pPr>
            <a:r>
              <a:rPr dirty="0"/>
              <a:t>Stress often affects health through everyday patterns like:</a:t>
            </a:r>
          </a:p>
          <a:p>
            <a:pPr lvl="0"/>
            <a:r>
              <a:rPr dirty="0"/>
              <a:t>sleep and recovery</a:t>
            </a:r>
          </a:p>
          <a:p>
            <a:pPr lvl="0"/>
            <a:r>
              <a:rPr dirty="0"/>
              <a:t>physical activity</a:t>
            </a:r>
          </a:p>
          <a:p>
            <a:pPr lvl="0"/>
            <a:r>
              <a:rPr dirty="0"/>
              <a:t>nutrition patterns</a:t>
            </a:r>
          </a:p>
          <a:p>
            <a:pPr lvl="0"/>
            <a:r>
              <a:rPr dirty="0"/>
              <a:t>substance use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Adherence</a:t>
            </a:r>
          </a:p>
        </p:txBody>
      </p:sp>
      <p:sp>
        <p:nvSpPr>
          <p:cNvPr id="3" name="Content Placeholder 2"/>
          <p:cNvSpPr>
            <a:spLocks noGrp="1"/>
          </p:cNvSpPr>
          <p:nvPr>
            <p:ph idx="1"/>
          </p:nvPr>
        </p:nvSpPr>
        <p:spPr/>
        <p:txBody>
          <a:bodyPr/>
          <a:lstStyle/>
          <a:p>
            <a:pPr marL="0" lvl="0" indent="0">
              <a:buNone/>
            </a:pPr>
            <a:r>
              <a:rPr dirty="0"/>
              <a:t>Adherence means following a treatment or health plan over time.</a:t>
            </a:r>
          </a:p>
          <a:p>
            <a:pPr marL="0" lvl="0" indent="0">
              <a:buNone/>
            </a:pPr>
            <a:r>
              <a:rPr dirty="0"/>
              <a:t>Adherence can be shaped by:</a:t>
            </a:r>
          </a:p>
          <a:p>
            <a:pPr lvl="0"/>
            <a:r>
              <a:rPr dirty="0"/>
              <a:t>stress</a:t>
            </a:r>
          </a:p>
          <a:p>
            <a:pPr lvl="0"/>
            <a:r>
              <a:rPr dirty="0"/>
              <a:t>barriers</a:t>
            </a:r>
          </a:p>
          <a:p>
            <a:pPr lvl="0"/>
            <a:r>
              <a:rPr dirty="0"/>
              <a:t>support</a:t>
            </a:r>
          </a:p>
          <a:p>
            <a:pPr lvl="0"/>
            <a:r>
              <a:rPr dirty="0"/>
              <a:t>time and resources</a:t>
            </a:r>
          </a:p>
          <a:p>
            <a:pPr lvl="0"/>
            <a:r>
              <a:rPr dirty="0"/>
              <a:t>attention and memory</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Access and context matter</a:t>
            </a:r>
          </a:p>
        </p:txBody>
      </p:sp>
      <p:sp>
        <p:nvSpPr>
          <p:cNvPr id="3" name="Content Placeholder 2"/>
          <p:cNvSpPr>
            <a:spLocks noGrp="1"/>
          </p:cNvSpPr>
          <p:nvPr>
            <p:ph idx="1"/>
          </p:nvPr>
        </p:nvSpPr>
        <p:spPr/>
        <p:txBody>
          <a:bodyPr/>
          <a:lstStyle/>
          <a:p>
            <a:pPr marL="0" lvl="0" indent="0">
              <a:buNone/>
            </a:pPr>
            <a:r>
              <a:rPr dirty="0"/>
              <a:t>People do not make health choices under identical conditions.</a:t>
            </a:r>
          </a:p>
          <a:p>
            <a:pPr marL="0" lvl="0" indent="0">
              <a:buNone/>
            </a:pPr>
            <a:r>
              <a:rPr dirty="0"/>
              <a:t>Outcomes can be shaped by:</a:t>
            </a:r>
          </a:p>
          <a:p>
            <a:pPr lvl="0"/>
            <a:r>
              <a:rPr dirty="0"/>
              <a:t>cost and time constraints</a:t>
            </a:r>
          </a:p>
          <a:p>
            <a:pPr lvl="0"/>
            <a:r>
              <a:rPr dirty="0"/>
              <a:t>transportation and availability</a:t>
            </a:r>
          </a:p>
          <a:p>
            <a:pPr lvl="0"/>
            <a:r>
              <a:rPr dirty="0"/>
              <a:t>language access and trust</a:t>
            </a:r>
          </a:p>
          <a:p>
            <a:pPr lvl="0"/>
            <a:r>
              <a:rPr dirty="0"/>
              <a:t>competing responsibilities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Type A and hostility</a:t>
            </a:r>
          </a:p>
        </p:txBody>
      </p:sp>
      <p:sp>
        <p:nvSpPr>
          <p:cNvPr id="3" name="Content Placeholder 2"/>
          <p:cNvSpPr>
            <a:spLocks noGrp="1"/>
          </p:cNvSpPr>
          <p:nvPr>
            <p:ph idx="1"/>
          </p:nvPr>
        </p:nvSpPr>
        <p:spPr/>
        <p:txBody>
          <a:bodyPr/>
          <a:lstStyle/>
          <a:p>
            <a:pPr lvl="0"/>
            <a:r>
              <a:rPr dirty="0"/>
              <a:t>Type A is not a single reliable predictor of health outcomes</a:t>
            </a:r>
          </a:p>
          <a:p>
            <a:pPr lvl="0"/>
            <a:r>
              <a:rPr dirty="0"/>
              <a:t>hostility is often the more risk-relevant component</a:t>
            </a:r>
          </a:p>
          <a:p>
            <a:pPr lvl="0"/>
            <a:r>
              <a:rPr dirty="0"/>
              <a:t>evidence is mixed and context-dependent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Biomarkers require caution</a:t>
            </a:r>
          </a:p>
        </p:txBody>
      </p:sp>
      <p:sp>
        <p:nvSpPr>
          <p:cNvPr id="3" name="Content Placeholder 2"/>
          <p:cNvSpPr>
            <a:spLocks noGrp="1"/>
          </p:cNvSpPr>
          <p:nvPr>
            <p:ph idx="1"/>
          </p:nvPr>
        </p:nvSpPr>
        <p:spPr/>
        <p:txBody>
          <a:bodyPr/>
          <a:lstStyle/>
          <a:p>
            <a:pPr lvl="0"/>
            <a:r>
              <a:rPr dirty="0"/>
              <a:t>single markers are proxies, not complete explanations</a:t>
            </a:r>
          </a:p>
          <a:p>
            <a:pPr lvl="0"/>
            <a:r>
              <a:rPr dirty="0"/>
              <a:t>evidence is often correlational</a:t>
            </a:r>
          </a:p>
          <a:p>
            <a:pPr lvl="0"/>
            <a:r>
              <a:rPr dirty="0"/>
              <a:t>interpretation depends on design, timing, and context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Synthesis</a:t>
            </a:r>
          </a:p>
        </p:txBody>
      </p:sp>
      <p:sp>
        <p:nvSpPr>
          <p:cNvPr id="3" name="Content Placeholder 2"/>
          <p:cNvSpPr>
            <a:spLocks noGrp="1"/>
          </p:cNvSpPr>
          <p:nvPr>
            <p:ph idx="1"/>
          </p:nvPr>
        </p:nvSpPr>
        <p:spPr/>
        <p:txBody>
          <a:bodyPr/>
          <a:lstStyle/>
          <a:p>
            <a:pPr marL="0" lvl="0" indent="0">
              <a:buNone/>
            </a:pPr>
            <a:r>
              <a:rPr dirty="0"/>
              <a:t>What should stick after today?</a:t>
            </a:r>
          </a:p>
          <a:p>
            <a:pPr lvl="0"/>
            <a:r>
              <a:rPr dirty="0"/>
              <a:t>health is multi-factor</a:t>
            </a:r>
          </a:p>
          <a:p>
            <a:pPr lvl="0"/>
            <a:r>
              <a:rPr dirty="0"/>
              <a:t>stress is a process, not just an event or a feeling</a:t>
            </a:r>
          </a:p>
          <a:p>
            <a:pPr lvl="0"/>
            <a:r>
              <a:rPr dirty="0"/>
              <a:t>appraisal helps explain why the same stressor can lead to different outcomes</a:t>
            </a:r>
          </a:p>
          <a:p>
            <a:pPr lvl="0"/>
            <a:r>
              <a:rPr dirty="0"/>
              <a:t>coping works best when it fits the situation</a:t>
            </a:r>
          </a:p>
          <a:p>
            <a:pPr lvl="0"/>
            <a:r>
              <a:rPr dirty="0"/>
              <a:t>support, behavior, and context shape health over time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Closure</a:t>
            </a:r>
          </a:p>
        </p:txBody>
      </p:sp>
      <p:sp>
        <p:nvSpPr>
          <p:cNvPr id="3" name="Content Placeholder 2"/>
          <p:cNvSpPr>
            <a:spLocks noGrp="1"/>
          </p:cNvSpPr>
          <p:nvPr>
            <p:ph idx="1"/>
          </p:nvPr>
        </p:nvSpPr>
        <p:spPr/>
        <p:txBody>
          <a:bodyPr/>
          <a:lstStyle/>
          <a:p>
            <a:pPr marL="0" lvl="0" indent="0">
              <a:buNone/>
            </a:pPr>
            <a:r>
              <a:rPr dirty="0"/>
              <a:t>Health behavior unfolds over time.</a:t>
            </a:r>
          </a:p>
          <a:p>
            <a:pPr marL="0" lvl="0" indent="0">
              <a:buNone/>
            </a:pPr>
            <a:r>
              <a:rPr dirty="0"/>
              <a:t>Motivation helps explain why people start, sustain, or abandon behavior.</a:t>
            </a:r>
          </a:p>
          <a:p>
            <a:pPr marL="0" lvl="0" indent="0">
              <a:buNone/>
            </a:pPr>
            <a:r>
              <a:rPr dirty="0"/>
              <a:t>Next: needs, incentives, goals, and self-regulation.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Exit ticket</a:t>
            </a:r>
          </a:p>
        </p:txBody>
      </p:sp>
      <p:sp>
        <p:nvSpPr>
          <p:cNvPr id="3" name="Content Placeholder 2"/>
          <p:cNvSpPr>
            <a:spLocks noGrp="1"/>
          </p:cNvSpPr>
          <p:nvPr>
            <p:ph idx="1"/>
          </p:nvPr>
        </p:nvSpPr>
        <p:spPr/>
        <p:txBody>
          <a:bodyPr/>
          <a:lstStyle/>
          <a:p>
            <a:pPr marL="0" lvl="0" indent="0">
              <a:spcBef>
                <a:spcPts val="3000"/>
              </a:spcBef>
              <a:buNone/>
            </a:pPr>
            <a:r>
              <a:rPr b="1" dirty="0"/>
              <a:t>Two multiple-choice questions and one short response</a:t>
            </a:r>
          </a:p>
          <a:p>
            <a:pPr lvl="0"/>
            <a:r>
              <a:rPr dirty="0"/>
              <a:t>Which part of the stress process most directly involves how a person interprets meaning, control, and resources?</a:t>
            </a:r>
          </a:p>
          <a:p>
            <a:pPr lvl="0"/>
            <a:r>
              <a:rPr dirty="0"/>
              <a:t>Which coping approach is usually the better fit when a stressor cannot be changed right now?</a:t>
            </a:r>
          </a:p>
          <a:p>
            <a:pPr lvl="0"/>
            <a:r>
              <a:rPr dirty="0"/>
              <a:t>In 1 to 3 sentences, explain one way that context or support could change a health-related outcome during a stressful week.</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Chapter 13 — Health Psychology</a:t>
            </a:r>
          </a:p>
        </p:txBody>
      </p:sp>
      <p:sp>
        <p:nvSpPr>
          <p:cNvPr id="3" name="Subtitle 2"/>
          <p:cNvSpPr>
            <a:spLocks noGrp="1"/>
          </p:cNvSpPr>
          <p:nvPr>
            <p:ph type="subTitle" idx="1"/>
          </p:nvPr>
        </p:nvSpPr>
        <p:spPr/>
        <p:txBody>
          <a:bodyPr/>
          <a:lstStyle/>
          <a:p>
            <a:r>
              <a:rPr dirty="0"/>
              <a:t>PSY-132 • Teaching Slides (Student-facing)</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13.1 • 13.1.1</a:t>
            </a:r>
          </a:p>
          <a:p>
            <a:r>
              <a:rPr dirty="0"/>
              <a:t>Explain the biopsychosocial model of health</a:t>
            </a:r>
          </a:p>
        </p:txBody>
      </p:sp>
      <p:sp>
        <p:nvSpPr>
          <p:cNvPr id="3" name="Text Placeholder 2"/>
          <p:cNvSpPr>
            <a:spLocks noGrp="1"/>
          </p:cNvSpPr>
          <p:nvPr>
            <p:ph type="body" idx="1"/>
          </p:nvPr>
        </p:nvSpPr>
        <p:spPr/>
        <p:txBody>
          <a:bodyPr/>
          <a:lstStyle/>
          <a:p>
            <a:r>
              <a:rPr dirty="0"/>
              <a:t>Chapter 13 — Biopsychosocial and Behavioral Contributions to Health</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Biopsychosocial Model: Three Lenses</a:t>
            </a:r>
          </a:p>
        </p:txBody>
      </p:sp>
      <p:sp>
        <p:nvSpPr>
          <p:cNvPr id="3" name="Content Placeholder 2"/>
          <p:cNvSpPr>
            <a:spLocks noGrp="1"/>
          </p:cNvSpPr>
          <p:nvPr>
            <p:ph idx="1"/>
          </p:nvPr>
        </p:nvSpPr>
        <p:spPr/>
        <p:txBody>
          <a:bodyPr>
            <a:normAutofit lnSpcReduction="10000"/>
          </a:bodyPr>
          <a:lstStyle/>
          <a:p>
            <a:r>
              <a:rPr dirty="0"/>
              <a:t>Health outcomes arise from combined biological, psychological, and social influences (p. 412).</a:t>
            </a:r>
          </a:p>
          <a:p>
            <a:r>
              <a:rPr dirty="0"/>
              <a:t>Biological: genetic vulnerability, physiology, immune function (p. 413).</a:t>
            </a:r>
          </a:p>
          <a:p>
            <a:r>
              <a:rPr dirty="0"/>
              <a:t>Psychological: appraisals, emotions, coping, health behaviors (p. 413).</a:t>
            </a:r>
          </a:p>
          <a:p>
            <a:r>
              <a:rPr dirty="0"/>
              <a:t>Social: relationships, culture, socioeconomic conditions (p. 414).</a:t>
            </a:r>
          </a:p>
          <a:p>
            <a:r>
              <a:rPr dirty="0"/>
              <a:t>Levels interact; comprehensive care considers all three (p. 412).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Health is shaped by interacting biological, psychological, and social influences; effective explanation and care integrate all three (p. 412).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13.1 • 13.1.2</a:t>
            </a:r>
          </a:p>
          <a:p>
            <a:r>
              <a:rPr dirty="0"/>
              <a:t>Describe biological factors that influence health</a:t>
            </a:r>
          </a:p>
        </p:txBody>
      </p:sp>
      <p:sp>
        <p:nvSpPr>
          <p:cNvPr id="3" name="Text Placeholder 2"/>
          <p:cNvSpPr>
            <a:spLocks noGrp="1"/>
          </p:cNvSpPr>
          <p:nvPr>
            <p:ph type="body" idx="1"/>
          </p:nvPr>
        </p:nvSpPr>
        <p:spPr/>
        <p:txBody>
          <a:bodyPr/>
          <a:lstStyle/>
          <a:p>
            <a:r>
              <a:rPr dirty="0"/>
              <a:t>Chapter 13 — Biopsychosocial and Behavioral Contributions to Health</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Biological Influences</a:t>
            </a:r>
          </a:p>
        </p:txBody>
      </p:sp>
      <p:sp>
        <p:nvSpPr>
          <p:cNvPr id="3" name="Content Placeholder 2"/>
          <p:cNvSpPr>
            <a:spLocks noGrp="1"/>
          </p:cNvSpPr>
          <p:nvPr>
            <p:ph idx="1"/>
          </p:nvPr>
        </p:nvSpPr>
        <p:spPr/>
        <p:txBody>
          <a:bodyPr/>
          <a:lstStyle/>
          <a:p>
            <a:r>
              <a:rPr dirty="0"/>
              <a:t>Inherited vulnerabilities affect susceptibility to illness (p. 413).</a:t>
            </a:r>
          </a:p>
          <a:p>
            <a:r>
              <a:rPr dirty="0"/>
              <a:t>Cardiovascular, endocrine, and immune processes shape risk and recovery (p. 413).</a:t>
            </a:r>
          </a:p>
          <a:p>
            <a:r>
              <a:rPr dirty="0"/>
              <a:t>Gene-physiology interactions explain differences even in similar environments (p. 413).</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Genes and core bodily systems contribute to risk and recovery and interact with other levels of influence (p. 413).</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13.1 • 13.1.3</a:t>
            </a:r>
          </a:p>
          <a:p>
            <a:r>
              <a:rPr dirty="0"/>
              <a:t>Describe psychological factors that influence health</a:t>
            </a:r>
          </a:p>
        </p:txBody>
      </p:sp>
      <p:sp>
        <p:nvSpPr>
          <p:cNvPr id="3" name="Text Placeholder 2"/>
          <p:cNvSpPr>
            <a:spLocks noGrp="1"/>
          </p:cNvSpPr>
          <p:nvPr>
            <p:ph type="body" idx="1"/>
          </p:nvPr>
        </p:nvSpPr>
        <p:spPr/>
        <p:txBody>
          <a:bodyPr/>
          <a:lstStyle/>
          <a:p>
            <a:r>
              <a:rPr dirty="0"/>
              <a:t>Chapter 13 — Biopsychosocial and Behavioral Contributions to Health</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Psychological Influences</a:t>
            </a:r>
          </a:p>
        </p:txBody>
      </p:sp>
      <p:sp>
        <p:nvSpPr>
          <p:cNvPr id="3" name="Content Placeholder 2"/>
          <p:cNvSpPr>
            <a:spLocks noGrp="1"/>
          </p:cNvSpPr>
          <p:nvPr>
            <p:ph idx="1"/>
          </p:nvPr>
        </p:nvSpPr>
        <p:spPr/>
        <p:txBody>
          <a:bodyPr/>
          <a:lstStyle/>
          <a:p>
            <a:r>
              <a:rPr dirty="0"/>
              <a:t>Appraisals and beliefs guide health choices (diet, activity, sleep, care-seeking) (p. 413).</a:t>
            </a:r>
          </a:p>
          <a:p>
            <a:r>
              <a:rPr dirty="0"/>
              <a:t>Emotions and chronic stress alter physiological responses tied to risk/recovery (p. 413).</a:t>
            </a:r>
          </a:p>
          <a:p>
            <a:r>
              <a:rPr dirty="0"/>
              <a:t>Coping styles affect daily habits and adherence to treatment (p. 413).</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Thoughts, emotions, stress, and coping patterns shape health behaviors and physiological responses that affect outcomes (p. 413).</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13.1 • 13.1.4</a:t>
            </a:r>
          </a:p>
          <a:p>
            <a:r>
              <a:rPr dirty="0"/>
              <a:t>Describe social factors that influence health</a:t>
            </a:r>
          </a:p>
        </p:txBody>
      </p:sp>
      <p:sp>
        <p:nvSpPr>
          <p:cNvPr id="3" name="Text Placeholder 2"/>
          <p:cNvSpPr>
            <a:spLocks noGrp="1"/>
          </p:cNvSpPr>
          <p:nvPr>
            <p:ph type="body" idx="1"/>
          </p:nvPr>
        </p:nvSpPr>
        <p:spPr/>
        <p:txBody>
          <a:bodyPr/>
          <a:lstStyle/>
          <a:p>
            <a:r>
              <a:rPr dirty="0"/>
              <a:t>Chapter 13 — Biopsychosocial and Behavioral Contributions to Health</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Social Determinants of Health</a:t>
            </a:r>
          </a:p>
        </p:txBody>
      </p:sp>
      <p:sp>
        <p:nvSpPr>
          <p:cNvPr id="3" name="Content Placeholder 2"/>
          <p:cNvSpPr>
            <a:spLocks noGrp="1"/>
          </p:cNvSpPr>
          <p:nvPr>
            <p:ph idx="1"/>
          </p:nvPr>
        </p:nvSpPr>
        <p:spPr/>
        <p:txBody>
          <a:bodyPr/>
          <a:lstStyle/>
          <a:p>
            <a:r>
              <a:rPr dirty="0"/>
              <a:t>Supportive relationships buffer stress and promote healthy actions (p. 414).</a:t>
            </a:r>
          </a:p>
          <a:p>
            <a:r>
              <a:rPr dirty="0"/>
              <a:t>Cultural norms shape diet, activity, and care-seeking (p. 414).</a:t>
            </a:r>
          </a:p>
          <a:p>
            <a:r>
              <a:rPr dirty="0"/>
              <a:t>Socioeconomic status affects exposure to stressors and access to resources (p. 414).</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Relationships, culture, and socioeconomic conditions are key social determinants of behavior, stress exposure, and access to care (p. 414).</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13.1 • 13.1.5</a:t>
            </a:r>
          </a:p>
          <a:p>
            <a:r>
              <a:rPr dirty="0"/>
              <a:t>Identify health-related behaviors that influence health</a:t>
            </a:r>
          </a:p>
        </p:txBody>
      </p:sp>
      <p:sp>
        <p:nvSpPr>
          <p:cNvPr id="3" name="Text Placeholder 2"/>
          <p:cNvSpPr>
            <a:spLocks noGrp="1"/>
          </p:cNvSpPr>
          <p:nvPr>
            <p:ph type="body" idx="1"/>
          </p:nvPr>
        </p:nvSpPr>
        <p:spPr/>
        <p:txBody>
          <a:bodyPr/>
          <a:lstStyle/>
          <a:p>
            <a:r>
              <a:rPr dirty="0"/>
              <a:t>Chapter 13 — Biopsychosocial and Behavioral Contributions to Health</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Health Behaviors: Everyday Levers</a:t>
            </a:r>
          </a:p>
        </p:txBody>
      </p:sp>
      <p:sp>
        <p:nvSpPr>
          <p:cNvPr id="3" name="Content Placeholder 2"/>
          <p:cNvSpPr>
            <a:spLocks noGrp="1"/>
          </p:cNvSpPr>
          <p:nvPr>
            <p:ph idx="1"/>
          </p:nvPr>
        </p:nvSpPr>
        <p:spPr/>
        <p:txBody>
          <a:bodyPr/>
          <a:lstStyle/>
          <a:p>
            <a:r>
              <a:rPr dirty="0"/>
              <a:t>Key domains: nutrition, physical activity, sleep, substance use, adherence to medical advice (p. 416).</a:t>
            </a:r>
          </a:p>
          <a:p>
            <a:r>
              <a:rPr dirty="0"/>
              <a:t>Behavior change can prevent problems and support treatment once illness occurs (p. 416).</a:t>
            </a:r>
          </a:p>
          <a:p>
            <a:r>
              <a:rPr dirty="0"/>
              <a:t>Design environments/routines so healthy choices are easier to make (p. 416).</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Daily behaviors in diet, activity, sleep, substances, and adherence drive risk and recovery; design supports that make healthy choices easier (p. 416).</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13.2 • 13.2.1</a:t>
            </a:r>
          </a:p>
          <a:p>
            <a:r>
              <a:rPr dirty="0"/>
              <a:t>Differentiate among common types of stressors</a:t>
            </a:r>
          </a:p>
        </p:txBody>
      </p:sp>
      <p:sp>
        <p:nvSpPr>
          <p:cNvPr id="3" name="Text Placeholder 2"/>
          <p:cNvSpPr>
            <a:spLocks noGrp="1"/>
          </p:cNvSpPr>
          <p:nvPr>
            <p:ph type="body" idx="1"/>
          </p:nvPr>
        </p:nvSpPr>
        <p:spPr/>
        <p:txBody>
          <a:bodyPr/>
          <a:lstStyle/>
          <a:p>
            <a:r>
              <a:rPr dirty="0"/>
              <a:t>Chapter 13 — Stress and Health</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Types of Stressors</a:t>
            </a:r>
          </a:p>
        </p:txBody>
      </p:sp>
      <p:sp>
        <p:nvSpPr>
          <p:cNvPr id="3" name="Content Placeholder 2"/>
          <p:cNvSpPr>
            <a:spLocks noGrp="1"/>
          </p:cNvSpPr>
          <p:nvPr>
            <p:ph idx="1"/>
          </p:nvPr>
        </p:nvSpPr>
        <p:spPr/>
        <p:txBody>
          <a:bodyPr/>
          <a:lstStyle/>
          <a:p>
            <a:r>
              <a:rPr dirty="0"/>
              <a:t>Daily hassles (</a:t>
            </a:r>
            <a:r>
              <a:rPr dirty="0" err="1"/>
              <a:t>microstressors</a:t>
            </a:r>
            <a:r>
              <a:rPr dirty="0"/>
              <a:t>) accumulate and can meaningfully tax coping (p. 419).</a:t>
            </a:r>
          </a:p>
          <a:p>
            <a:r>
              <a:rPr dirty="0"/>
              <a:t>Major life events require substantial adjustment (e.g., moving, loss, role change) (p. 419).</a:t>
            </a:r>
          </a:p>
          <a:p>
            <a:r>
              <a:rPr dirty="0"/>
              <a:t>Catastrophic or extreme demands can overwhelm usual coping capacities (p. 419).</a:t>
            </a:r>
          </a:p>
          <a:p>
            <a:r>
              <a:rPr dirty="0"/>
              <a:t>Appraisal (predictability/control) helps determine whether a demand is experienced as stressful (p. 419).</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Stressors range from daily hassles to major and catastrophic events, and appraisal of predictability/control influences how stressful they feel (p. 419).</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13.2 • 13.2.2</a:t>
            </a:r>
          </a:p>
          <a:p>
            <a:r>
              <a:rPr dirty="0"/>
              <a:t>Describe typical responses to stressors</a:t>
            </a:r>
          </a:p>
        </p:txBody>
      </p:sp>
      <p:sp>
        <p:nvSpPr>
          <p:cNvPr id="3" name="Text Placeholder 2"/>
          <p:cNvSpPr>
            <a:spLocks noGrp="1"/>
          </p:cNvSpPr>
          <p:nvPr>
            <p:ph type="body" idx="1"/>
          </p:nvPr>
        </p:nvSpPr>
        <p:spPr/>
        <p:txBody>
          <a:bodyPr/>
          <a:lstStyle/>
          <a:p>
            <a:r>
              <a:rPr dirty="0"/>
              <a:t>Chapter 13 — Stress and Health</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We Respond to Stress</a:t>
            </a:r>
          </a:p>
        </p:txBody>
      </p:sp>
      <p:sp>
        <p:nvSpPr>
          <p:cNvPr id="3" name="Content Placeholder 2"/>
          <p:cNvSpPr>
            <a:spLocks noGrp="1"/>
          </p:cNvSpPr>
          <p:nvPr>
            <p:ph idx="1"/>
          </p:nvPr>
        </p:nvSpPr>
        <p:spPr/>
        <p:txBody>
          <a:bodyPr/>
          <a:lstStyle/>
          <a:p>
            <a:r>
              <a:rPr dirty="0"/>
              <a:t>Immediate response: increased arousal and narrowed attention to meet the demand (p. 421).</a:t>
            </a:r>
          </a:p>
          <a:p>
            <a:r>
              <a:rPr dirty="0"/>
              <a:t>Primary appraisal evaluates significance (threat/challenge); secondary appraisal evaluates resources/options (p. 421).</a:t>
            </a:r>
          </a:p>
          <a:p>
            <a:r>
              <a:rPr dirty="0"/>
              <a:t>Problem-focused coping aims to change the situation or its impact; emotion-focused coping manages distress when change is not immediately possible (p. 421).</a:t>
            </a:r>
          </a:p>
          <a:p>
            <a:r>
              <a:rPr dirty="0"/>
              <a:t>Strategy mix influences short-term strain and longer-term adjustment (p. 421).</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Stress responses include fast arousal and attention shifts, appraisals of demands and resources, and coping strategies that target problems and/or emotions (p. 421).</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13.2 • 13.2.3</a:t>
            </a:r>
          </a:p>
          <a:p>
            <a:r>
              <a:rPr dirty="0"/>
              <a:t>Summarize consequences of stress</a:t>
            </a:r>
          </a:p>
        </p:txBody>
      </p:sp>
      <p:sp>
        <p:nvSpPr>
          <p:cNvPr id="3" name="Text Placeholder 2"/>
          <p:cNvSpPr>
            <a:spLocks noGrp="1"/>
          </p:cNvSpPr>
          <p:nvPr>
            <p:ph type="body" idx="1"/>
          </p:nvPr>
        </p:nvSpPr>
        <p:spPr/>
        <p:txBody>
          <a:bodyPr/>
          <a:lstStyle/>
          <a:p>
            <a:r>
              <a:rPr dirty="0"/>
              <a:t>Chapter 13 — Stress and Health</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Stress Persists</a:t>
            </a:r>
          </a:p>
        </p:txBody>
      </p:sp>
      <p:sp>
        <p:nvSpPr>
          <p:cNvPr id="3" name="Content Placeholder 2"/>
          <p:cNvSpPr>
            <a:spLocks noGrp="1"/>
          </p:cNvSpPr>
          <p:nvPr>
            <p:ph idx="1"/>
          </p:nvPr>
        </p:nvSpPr>
        <p:spPr/>
        <p:txBody>
          <a:bodyPr/>
          <a:lstStyle/>
          <a:p>
            <a:r>
              <a:rPr dirty="0"/>
              <a:t>Chronic stress elevates physiological strain and increases vulnerability to illness (p. 423).</a:t>
            </a:r>
          </a:p>
          <a:p>
            <a:r>
              <a:rPr dirty="0"/>
              <a:t>Attention and persistence can falter, undermining performance and decision-making (p. 423).</a:t>
            </a:r>
          </a:p>
          <a:p>
            <a:r>
              <a:rPr dirty="0"/>
              <a:t>Wear-and-tear accumulates unless demands are reduced or coping and supports are strengthened (p. 423).</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Persistent stress increases physiological strain, impairs attention and persistence, and elevates illness risk unless demands and coping/supports are addressed (p. 423).</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13.2 • 13.2.4</a:t>
            </a:r>
          </a:p>
          <a:p>
            <a:r>
              <a:rPr dirty="0"/>
              <a:t>Describe three consequences of prolonged stress</a:t>
            </a:r>
          </a:p>
        </p:txBody>
      </p:sp>
      <p:sp>
        <p:nvSpPr>
          <p:cNvPr id="3" name="Text Placeholder 2"/>
          <p:cNvSpPr>
            <a:spLocks noGrp="1"/>
          </p:cNvSpPr>
          <p:nvPr>
            <p:ph type="body" idx="1"/>
          </p:nvPr>
        </p:nvSpPr>
        <p:spPr/>
        <p:txBody>
          <a:bodyPr/>
          <a:lstStyle/>
          <a:p>
            <a:r>
              <a:rPr dirty="0"/>
              <a:t>Chapter 13 — Stress and Health</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Consequences of Prolonged Stress</a:t>
            </a:r>
          </a:p>
        </p:txBody>
      </p:sp>
      <p:sp>
        <p:nvSpPr>
          <p:cNvPr id="3" name="Content Placeholder 2"/>
          <p:cNvSpPr>
            <a:spLocks noGrp="1"/>
          </p:cNvSpPr>
          <p:nvPr>
            <p:ph idx="1"/>
          </p:nvPr>
        </p:nvSpPr>
        <p:spPr/>
        <p:txBody>
          <a:bodyPr/>
          <a:lstStyle/>
          <a:p>
            <a:r>
              <a:rPr dirty="0"/>
              <a:t>Illness &amp; psychosomatic disorders: psychological factors can contribute to genuine bodily damage when strain persists (p. 419).</a:t>
            </a:r>
          </a:p>
          <a:p>
            <a:r>
              <a:rPr dirty="0"/>
              <a:t>Learned helplessness: extended exposure to uncontrollable demands leads to giving up and passivity (p. 419).</a:t>
            </a:r>
          </a:p>
          <a:p>
            <a:r>
              <a:rPr dirty="0"/>
              <a:t>Burnout: emotional exhaustion, depersonalization, and reduced effectiveness after long-term strain (p. 419).</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Prolonged stress is linked to illness/psychosomatic disorders, learned helplessness, and burnout (p. 419).</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13.3 • 13.3.1</a:t>
            </a:r>
          </a:p>
          <a:p>
            <a:r>
              <a:rPr dirty="0"/>
              <a:t>Recognize illness and explain how people identify that they are ill</a:t>
            </a:r>
          </a:p>
        </p:txBody>
      </p:sp>
      <p:sp>
        <p:nvSpPr>
          <p:cNvPr id="3" name="Text Placeholder 2"/>
          <p:cNvSpPr>
            <a:spLocks noGrp="1"/>
          </p:cNvSpPr>
          <p:nvPr>
            <p:ph type="body" idx="1"/>
          </p:nvPr>
        </p:nvSpPr>
        <p:spPr/>
        <p:txBody>
          <a:bodyPr/>
          <a:lstStyle/>
          <a:p>
            <a:r>
              <a:rPr dirty="0"/>
              <a:t>Chapter 13 — Improving Health with Treatment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How People Recognize Illness</a:t>
            </a:r>
          </a:p>
        </p:txBody>
      </p:sp>
      <p:sp>
        <p:nvSpPr>
          <p:cNvPr id="3" name="Content Placeholder 2"/>
          <p:cNvSpPr>
            <a:spLocks noGrp="1"/>
          </p:cNvSpPr>
          <p:nvPr>
            <p:ph idx="1"/>
          </p:nvPr>
        </p:nvSpPr>
        <p:spPr/>
        <p:txBody>
          <a:bodyPr/>
          <a:lstStyle/>
          <a:p>
            <a:r>
              <a:rPr dirty="0"/>
              <a:t>Noticing a deviation from one's usual bodily baseline is the starting point (p. 426).</a:t>
            </a:r>
          </a:p>
          <a:p>
            <a:r>
              <a:rPr dirty="0"/>
              <a:t>Interpretation follows: labeling symptoms, judging seriousness, and deciding if action is needed (p. 426).</a:t>
            </a:r>
          </a:p>
          <a:p>
            <a:r>
              <a:rPr dirty="0"/>
              <a:t>Expectations, prior experience, and input from others can speed or delay recognition (p. 426).</a:t>
            </a:r>
          </a:p>
          <a:p>
            <a:r>
              <a:rPr dirty="0"/>
              <a:t>Earlier recognition increases the chance of timely, effective responses (p. 426).</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Illness recognition involves noticing bodily changes and interpreting their meaning in light of experience and social input to decide if care is needed (p. 426).</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13.3 • 13.3.2</a:t>
            </a:r>
          </a:p>
          <a:p>
            <a:r>
              <a:rPr dirty="0"/>
              <a:t>Describe how people seek treatment and factors that influence help-seeking</a:t>
            </a:r>
          </a:p>
        </p:txBody>
      </p:sp>
      <p:sp>
        <p:nvSpPr>
          <p:cNvPr id="3" name="Text Placeholder 2"/>
          <p:cNvSpPr>
            <a:spLocks noGrp="1"/>
          </p:cNvSpPr>
          <p:nvPr>
            <p:ph type="body" idx="1"/>
          </p:nvPr>
        </p:nvSpPr>
        <p:spPr/>
        <p:txBody>
          <a:bodyPr/>
          <a:lstStyle/>
          <a:p>
            <a:r>
              <a:rPr dirty="0"/>
              <a:t>Chapter 13 — Improving Health with Treatment</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Help-Seeking: From Decision to Access</a:t>
            </a:r>
          </a:p>
        </p:txBody>
      </p:sp>
      <p:sp>
        <p:nvSpPr>
          <p:cNvPr id="3" name="Content Placeholder 2"/>
          <p:cNvSpPr>
            <a:spLocks noGrp="1"/>
          </p:cNvSpPr>
          <p:nvPr>
            <p:ph idx="1"/>
          </p:nvPr>
        </p:nvSpPr>
        <p:spPr/>
        <p:txBody>
          <a:bodyPr/>
          <a:lstStyle/>
          <a:p>
            <a:r>
              <a:rPr dirty="0"/>
              <a:t>People decide to seek care based on symptom interpretation and perceived urgency (p. 427).</a:t>
            </a:r>
          </a:p>
          <a:p>
            <a:r>
              <a:rPr dirty="0"/>
              <a:t>Practical barriers—time, transportation, and cost—often delay or prevent contact (p. 427).</a:t>
            </a:r>
          </a:p>
          <a:p>
            <a:r>
              <a:rPr dirty="0"/>
              <a:t>Concerns about stigma or treatment can also deter help-seeking (p. 427).</a:t>
            </a:r>
          </a:p>
          <a:p>
            <a:r>
              <a:rPr dirty="0"/>
              <a:t>Clear, respectful communication with providers supports accurate assessment and next steps (p. 427).</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People seek care when symptoms feel serious and access is feasible; practical barriers and stigma can delay contact, while clear communication improves next steps (p. 427).</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13.3 • 13.3.3</a:t>
            </a:r>
          </a:p>
          <a:p>
            <a:r>
              <a:rPr dirty="0"/>
              <a:t>Explain treatment adherence and ways to improve compliance</a:t>
            </a:r>
          </a:p>
        </p:txBody>
      </p:sp>
      <p:sp>
        <p:nvSpPr>
          <p:cNvPr id="3" name="Text Placeholder 2"/>
          <p:cNvSpPr>
            <a:spLocks noGrp="1"/>
          </p:cNvSpPr>
          <p:nvPr>
            <p:ph type="body" idx="1"/>
          </p:nvPr>
        </p:nvSpPr>
        <p:spPr/>
        <p:txBody>
          <a:bodyPr/>
          <a:lstStyle/>
          <a:p>
            <a:r>
              <a:rPr dirty="0"/>
              <a:t>Chapter 13 — Improving Health with Treatment</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Adherence: Following the Agreed Plan</a:t>
            </a:r>
          </a:p>
        </p:txBody>
      </p:sp>
      <p:sp>
        <p:nvSpPr>
          <p:cNvPr id="3" name="Content Placeholder 2"/>
          <p:cNvSpPr>
            <a:spLocks noGrp="1"/>
          </p:cNvSpPr>
          <p:nvPr>
            <p:ph idx="1"/>
          </p:nvPr>
        </p:nvSpPr>
        <p:spPr/>
        <p:txBody>
          <a:bodyPr/>
          <a:lstStyle/>
          <a:p>
            <a:r>
              <a:rPr dirty="0"/>
              <a:t>Adherence improves when people understand the plan, expect benefits, and can fit steps into daily routines (p. 428).</a:t>
            </a:r>
          </a:p>
          <a:p>
            <a:r>
              <a:rPr dirty="0"/>
              <a:t>Nonadherence rises with complex regimens, unclear instructions, costs/side effects, and weak reminders/support (p. 428).</a:t>
            </a:r>
          </a:p>
          <a:p>
            <a:r>
              <a:rPr dirty="0"/>
              <a:t>Simplifying schedules, clarifying instructions, adding reminders, and providing practical support increase follow-through (p. 428).</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Clear, simple, supported plans that fit daily life increase adherence; complexity, confusion, costs, and side effects undermine follow-through (p. 428).</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13.3 • 13.3.4</a:t>
            </a:r>
          </a:p>
          <a:p>
            <a:r>
              <a:rPr dirty="0"/>
              <a:t>Define what is meant by the term complementary and alternative medicine, and outline one main concern associated with this type of treatment</a:t>
            </a:r>
          </a:p>
        </p:txBody>
      </p:sp>
      <p:sp>
        <p:nvSpPr>
          <p:cNvPr id="3" name="Text Placeholder 2"/>
          <p:cNvSpPr>
            <a:spLocks noGrp="1"/>
          </p:cNvSpPr>
          <p:nvPr>
            <p:ph type="body" idx="1"/>
          </p:nvPr>
        </p:nvSpPr>
        <p:spPr/>
        <p:txBody>
          <a:bodyPr/>
          <a:lstStyle/>
          <a:p>
            <a:r>
              <a:rPr dirty="0"/>
              <a:t>Chapter 13 — Improving Health with Treatment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Complementary &amp; Alternative Medicine (CAM)</a:t>
            </a:r>
          </a:p>
        </p:txBody>
      </p:sp>
      <p:sp>
        <p:nvSpPr>
          <p:cNvPr id="3" name="Content Placeholder 2"/>
          <p:cNvSpPr>
            <a:spLocks noGrp="1"/>
          </p:cNvSpPr>
          <p:nvPr>
            <p:ph idx="1"/>
          </p:nvPr>
        </p:nvSpPr>
        <p:spPr/>
        <p:txBody>
          <a:bodyPr/>
          <a:lstStyle/>
          <a:p>
            <a:r>
              <a:rPr dirty="0"/>
              <a:t>CAM = holistic, tradition-rooted approaches used with or instead of conventional care (p. 426).</a:t>
            </a:r>
          </a:p>
          <a:p>
            <a:r>
              <a:rPr dirty="0"/>
              <a:t>Examples: acupuncture, chiropractic, massage, biofeedback, yoga, homeopathy, dietary supplements (p. 426).</a:t>
            </a:r>
          </a:p>
          <a:p>
            <a:r>
              <a:rPr dirty="0"/>
              <a:t>Main concern: many CAM modalities lack strong, well-controlled evidence for effectiveness (p. 426).</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CAM encompasses various tradition-based, holistic practices, but limited high-quality evidence is a key concern when judging effectiveness (p. 426).</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13.3 • 13.3.5</a:t>
            </a:r>
          </a:p>
          <a:p>
            <a:r>
              <a:rPr dirty="0"/>
              <a:t>Identify the forms that treatment noncompliance can take, describe four factors that contribute to treatment noncompliance, and outline the key to minimizing treatment noncompliance</a:t>
            </a:r>
          </a:p>
        </p:txBody>
      </p:sp>
      <p:sp>
        <p:nvSpPr>
          <p:cNvPr id="3" name="Text Placeholder 2"/>
          <p:cNvSpPr>
            <a:spLocks noGrp="1"/>
          </p:cNvSpPr>
          <p:nvPr>
            <p:ph type="body" idx="1"/>
          </p:nvPr>
        </p:nvSpPr>
        <p:spPr/>
        <p:txBody>
          <a:bodyPr/>
          <a:lstStyle/>
          <a:p>
            <a:r>
              <a:rPr dirty="0"/>
              <a:t>Chapter 13 — Improving Health with Treatment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Treatment Noncompliance: Forms, Causes, Remedy</a:t>
            </a:r>
          </a:p>
        </p:txBody>
      </p:sp>
      <p:sp>
        <p:nvSpPr>
          <p:cNvPr id="3" name="Content Placeholder 2"/>
          <p:cNvSpPr>
            <a:spLocks noGrp="1"/>
          </p:cNvSpPr>
          <p:nvPr>
            <p:ph idx="1"/>
          </p:nvPr>
        </p:nvSpPr>
        <p:spPr/>
        <p:txBody>
          <a:bodyPr/>
          <a:lstStyle/>
          <a:p>
            <a:r>
              <a:rPr dirty="0"/>
              <a:t>Forms: ignoring plans, misunderstanding instructions, forgetting steps, or mis-executing treatments (p. 426).</a:t>
            </a:r>
          </a:p>
          <a:p>
            <a:r>
              <a:rPr dirty="0"/>
              <a:t>Four contributors: cognitive limits, memory challenges, provider-patient relationship quality, and emotions (anxiety/depression) (p. 426).</a:t>
            </a:r>
          </a:p>
          <a:p>
            <a:r>
              <a:rPr dirty="0"/>
              <a:t>Key to minimizing: clear, respectful communication that builds trust, checks understanding, and assesses capacity to follow through (p. 426).</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Noncompliance takes the form of ignoring, misunderstanding, forgetting, or mis-executing; it stems from cognition, memory, relationships, and emotions, and is best reduced by clear, trust-building communication (p. 426).</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13.4 • 13.4.1</a:t>
            </a:r>
          </a:p>
          <a:p>
            <a:r>
              <a:rPr dirty="0"/>
              <a:t>Differentiate problem-focused and emotion-focused coping</a:t>
            </a:r>
          </a:p>
        </p:txBody>
      </p:sp>
      <p:sp>
        <p:nvSpPr>
          <p:cNvPr id="3" name="Text Placeholder 2"/>
          <p:cNvSpPr>
            <a:spLocks noGrp="1"/>
          </p:cNvSpPr>
          <p:nvPr>
            <p:ph type="body" idx="1"/>
          </p:nvPr>
        </p:nvSpPr>
        <p:spPr/>
        <p:txBody>
          <a:bodyPr/>
          <a:lstStyle/>
          <a:p>
            <a:r>
              <a:rPr dirty="0"/>
              <a:t>Chapter 13 — Improving Health Through Coping</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Two Families of Coping</a:t>
            </a:r>
          </a:p>
        </p:txBody>
      </p:sp>
      <p:sp>
        <p:nvSpPr>
          <p:cNvPr id="3" name="Content Placeholder 2"/>
          <p:cNvSpPr>
            <a:spLocks noGrp="1"/>
          </p:cNvSpPr>
          <p:nvPr>
            <p:ph idx="1"/>
          </p:nvPr>
        </p:nvSpPr>
        <p:spPr/>
        <p:txBody>
          <a:bodyPr>
            <a:normAutofit fontScale="92500" lnSpcReduction="10000"/>
          </a:bodyPr>
          <a:lstStyle/>
          <a:p>
            <a:r>
              <a:rPr dirty="0"/>
              <a:t>Coping falls into two broad classes: problem-focused and emotion-focused (pp. 430-431).</a:t>
            </a:r>
          </a:p>
          <a:p>
            <a:r>
              <a:rPr dirty="0"/>
              <a:t>Problem-focused coping: define the problem, generate options, plan and act to change demands (pp. 430-431).</a:t>
            </a:r>
          </a:p>
          <a:p>
            <a:r>
              <a:rPr dirty="0"/>
              <a:t>Emotion-focused coping: regulate distress via relaxation, reframing, support seeking, brief distraction (pp. 431-432).</a:t>
            </a:r>
          </a:p>
          <a:p>
            <a:r>
              <a:rPr dirty="0"/>
              <a:t>Fit rule: use problem-focused tactics when demands are changeable; use emotion-focused when they are not immediately alterable or while you prepare to act (pp. 430-432).</a:t>
            </a:r>
          </a:p>
          <a:p>
            <a:r>
              <a:rPr dirty="0"/>
              <a:t>In practice, people combine both—steady emotions to enable effective problem-solving (pp. 431-432).</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Problem-focused coping changes the stressor; emotion-focused coping manages distress—use the one that fits the situation, and combine as needed (pp. 430-432).</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13.4 • 13.4.2</a:t>
            </a:r>
          </a:p>
          <a:p>
            <a:r>
              <a:rPr dirty="0"/>
              <a:t>Describe physiological methods for coping with stress</a:t>
            </a:r>
          </a:p>
        </p:txBody>
      </p:sp>
      <p:sp>
        <p:nvSpPr>
          <p:cNvPr id="3" name="Text Placeholder 2"/>
          <p:cNvSpPr>
            <a:spLocks noGrp="1"/>
          </p:cNvSpPr>
          <p:nvPr>
            <p:ph type="body" idx="1"/>
          </p:nvPr>
        </p:nvSpPr>
        <p:spPr/>
        <p:txBody>
          <a:bodyPr/>
          <a:lstStyle/>
          <a:p>
            <a:r>
              <a:rPr dirty="0"/>
              <a:t>Chapter 13 — Improving Health Through Coping</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Lowering Arousal: Body-First Tools</a:t>
            </a:r>
          </a:p>
        </p:txBody>
      </p:sp>
      <p:sp>
        <p:nvSpPr>
          <p:cNvPr id="3" name="Content Placeholder 2"/>
          <p:cNvSpPr>
            <a:spLocks noGrp="1"/>
          </p:cNvSpPr>
          <p:nvPr>
            <p:ph idx="1"/>
          </p:nvPr>
        </p:nvSpPr>
        <p:spPr/>
        <p:txBody>
          <a:bodyPr/>
          <a:lstStyle/>
          <a:p>
            <a:r>
              <a:rPr dirty="0"/>
              <a:t>Relaxation training and paced breathing counter excess arousal and reduce tension (pp. 431-432).</a:t>
            </a:r>
          </a:p>
          <a:p>
            <a:r>
              <a:rPr dirty="0"/>
              <a:t>Mindfulness/meditation steady attention and interrupt runaway stress reactions (pp. 431-432).</a:t>
            </a:r>
          </a:p>
          <a:p>
            <a:r>
              <a:rPr dirty="0"/>
              <a:t>Regular physical activity improves mood and sleep and builds stress tolerance (pp. 431-432).</a:t>
            </a:r>
          </a:p>
          <a:p>
            <a:r>
              <a:rPr dirty="0"/>
              <a:t>Lower arousal preserves concentration and reduces wear-and-tear from chronic stress (pp. 431-432).</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Relaxation, breathing, meditation, and exercise lower arousal, protect attention, and reduce long-term strain (pp. 431-432).</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13.4 • 13.4.3</a:t>
            </a:r>
          </a:p>
          <a:p>
            <a:r>
              <a:rPr dirty="0"/>
              <a:t>Explain cognitive and behavioral coping tactics</a:t>
            </a:r>
          </a:p>
        </p:txBody>
      </p:sp>
      <p:sp>
        <p:nvSpPr>
          <p:cNvPr id="3" name="Text Placeholder 2"/>
          <p:cNvSpPr>
            <a:spLocks noGrp="1"/>
          </p:cNvSpPr>
          <p:nvPr>
            <p:ph type="body" idx="1"/>
          </p:nvPr>
        </p:nvSpPr>
        <p:spPr/>
        <p:txBody>
          <a:bodyPr/>
          <a:lstStyle/>
          <a:p>
            <a:r>
              <a:rPr dirty="0"/>
              <a:t>Chapter 13 — Improving Health Through Coping</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Thinking &amp; Doing: Tactics that Reduce Overload</a:t>
            </a:r>
          </a:p>
        </p:txBody>
      </p:sp>
      <p:sp>
        <p:nvSpPr>
          <p:cNvPr id="3" name="Content Placeholder 2"/>
          <p:cNvSpPr>
            <a:spLocks noGrp="1"/>
          </p:cNvSpPr>
          <p:nvPr>
            <p:ph idx="1"/>
          </p:nvPr>
        </p:nvSpPr>
        <p:spPr/>
        <p:txBody>
          <a:bodyPr/>
          <a:lstStyle/>
          <a:p>
            <a:r>
              <a:rPr dirty="0"/>
              <a:t>Cognitive tactics: check appraisals, replace distortions, reframe setbacks as specific and temporary (pp. 430-432).</a:t>
            </a:r>
          </a:p>
          <a:p>
            <a:r>
              <a:rPr dirty="0"/>
              <a:t>Behavioral tactics: prioritize, break big tasks into steps, schedule effort and recovery, seek feedback to refine skills (pp. 430-432).</a:t>
            </a:r>
          </a:p>
          <a:p>
            <a:r>
              <a:rPr dirty="0"/>
              <a:t>Together these tactics lower overload and increase perceived control (pp. 430-432).</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Accurate appraisals and practical steps—in combination—reduce overload and increase control (pp. 430-432).</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13.4 • 13.4.4</a:t>
            </a:r>
          </a:p>
          <a:p>
            <a:r>
              <a:rPr dirty="0"/>
              <a:t>Apply coping in everyday life with social support and planning</a:t>
            </a:r>
          </a:p>
        </p:txBody>
      </p:sp>
      <p:sp>
        <p:nvSpPr>
          <p:cNvPr id="3" name="Text Placeholder 2"/>
          <p:cNvSpPr>
            <a:spLocks noGrp="1"/>
          </p:cNvSpPr>
          <p:nvPr>
            <p:ph type="body" idx="1"/>
          </p:nvPr>
        </p:nvSpPr>
        <p:spPr/>
        <p:txBody>
          <a:bodyPr/>
          <a:lstStyle/>
          <a:p>
            <a:r>
              <a:rPr dirty="0"/>
              <a:t>Chapter 13 — Improving Health Through Coping</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Turn Coping into Habit: People + Plans</a:t>
            </a:r>
          </a:p>
        </p:txBody>
      </p:sp>
      <p:sp>
        <p:nvSpPr>
          <p:cNvPr id="3" name="Content Placeholder 2"/>
          <p:cNvSpPr>
            <a:spLocks noGrp="1"/>
          </p:cNvSpPr>
          <p:nvPr>
            <p:ph idx="1"/>
          </p:nvPr>
        </p:nvSpPr>
        <p:spPr/>
        <p:txBody>
          <a:bodyPr/>
          <a:lstStyle/>
          <a:p>
            <a:r>
              <a:rPr dirty="0"/>
              <a:t>Support seeking: ask for practical help, advice, and encouragement to share load and gain perspective (pp. 431-432).</a:t>
            </a:r>
          </a:p>
          <a:p>
            <a:r>
              <a:rPr dirty="0"/>
              <a:t>Assertive communication clarifies needs and boundaries, reducing conflict/ambiguity (pp. 431-432).</a:t>
            </a:r>
          </a:p>
          <a:p>
            <a:r>
              <a:rPr dirty="0"/>
              <a:t>Specific plans—what/when/where—raise follow-through and prevent chronic strain (pp. 431-432).</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Social support plus specific implementation plans convert coping into reliable, low-friction habits (pp. 431-432).</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13.5 • 13.5.1</a:t>
            </a:r>
          </a:p>
          <a:p>
            <a:r>
              <a:rPr dirty="0"/>
              <a:t>Apply quick "De-Stress!" steps for immediate stress relief</a:t>
            </a:r>
          </a:p>
        </p:txBody>
      </p:sp>
      <p:sp>
        <p:nvSpPr>
          <p:cNvPr id="3" name="Text Placeholder 2"/>
          <p:cNvSpPr>
            <a:spLocks noGrp="1"/>
          </p:cNvSpPr>
          <p:nvPr>
            <p:ph type="body" idx="1"/>
          </p:nvPr>
        </p:nvSpPr>
        <p:spPr/>
        <p:txBody>
          <a:bodyPr/>
          <a:lstStyle/>
          <a:p>
            <a:r>
              <a:rPr dirty="0"/>
              <a:t>Chapter 13 — Psychology and Your Skill Set: Stress Management</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De-Stress! Quick Reset</a:t>
            </a:r>
          </a:p>
        </p:txBody>
      </p:sp>
      <p:sp>
        <p:nvSpPr>
          <p:cNvPr id="3" name="Content Placeholder 2"/>
          <p:cNvSpPr>
            <a:spLocks noGrp="1"/>
          </p:cNvSpPr>
          <p:nvPr>
            <p:ph idx="1"/>
          </p:nvPr>
        </p:nvSpPr>
        <p:spPr/>
        <p:txBody>
          <a:bodyPr/>
          <a:lstStyle/>
          <a:p>
            <a:r>
              <a:rPr dirty="0"/>
              <a:t>Purpose: short, practical actions that quickly dial down tension so attention and choice return (p. 435).</a:t>
            </a:r>
          </a:p>
          <a:p>
            <a:r>
              <a:rPr dirty="0"/>
              <a:t>Design: easy-to-use steps you can repeat during the day to keep stress from spiraling (p. 435).</a:t>
            </a:r>
          </a:p>
          <a:p>
            <a:r>
              <a:rPr dirty="0"/>
              <a:t>Outcome: not instant pressure removal, but enough calm to plan and problem-solve effectively (p. 435).</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Use brief, repeatable steps to lower arousal in the moment so attention and choice return (p. 435).</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13.5 • 13.5.2</a:t>
            </a:r>
          </a:p>
          <a:p>
            <a:r>
              <a:rPr dirty="0"/>
              <a:t>Manage the bodily effects of stress</a:t>
            </a:r>
          </a:p>
        </p:txBody>
      </p:sp>
      <p:sp>
        <p:nvSpPr>
          <p:cNvPr id="3" name="Text Placeholder 2"/>
          <p:cNvSpPr>
            <a:spLocks noGrp="1"/>
          </p:cNvSpPr>
          <p:nvPr>
            <p:ph type="body" idx="1"/>
          </p:nvPr>
        </p:nvSpPr>
        <p:spPr/>
        <p:txBody>
          <a:bodyPr/>
          <a:lstStyle/>
          <a:p>
            <a:r>
              <a:rPr dirty="0"/>
              <a:t>Chapter 13 — Psychology and Your Skill Set: Stress Management</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Body-First: Calm the System</a:t>
            </a:r>
          </a:p>
        </p:txBody>
      </p:sp>
      <p:sp>
        <p:nvSpPr>
          <p:cNvPr id="3" name="Content Placeholder 2"/>
          <p:cNvSpPr>
            <a:spLocks noGrp="1"/>
          </p:cNvSpPr>
          <p:nvPr>
            <p:ph idx="1"/>
          </p:nvPr>
        </p:nvSpPr>
        <p:spPr/>
        <p:txBody>
          <a:bodyPr/>
          <a:lstStyle/>
          <a:p>
            <a:r>
              <a:rPr dirty="0"/>
              <a:t>Lowering excess arousal steadies attention and decision-making (p. 435).</a:t>
            </a:r>
          </a:p>
          <a:p>
            <a:r>
              <a:rPr dirty="0"/>
              <a:t>Simple, practical actions (e.g., paced breathing, brief relaxation) reduce tension fast (p. 435).</a:t>
            </a:r>
          </a:p>
          <a:p>
            <a:r>
              <a:rPr dirty="0"/>
              <a:t>Use body-calming as a foundation before planning or problem-solving (p. 435).</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Calming the body first improves focus and protects against cumulative strain (p. 435).</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13.5 • 13.5.3</a:t>
            </a:r>
          </a:p>
          <a:p>
            <a:r>
              <a:rPr dirty="0"/>
              <a:t>Modify ineffective behavior under stress</a:t>
            </a:r>
          </a:p>
        </p:txBody>
      </p:sp>
      <p:sp>
        <p:nvSpPr>
          <p:cNvPr id="3" name="Text Placeholder 2"/>
          <p:cNvSpPr>
            <a:spLocks noGrp="1"/>
          </p:cNvSpPr>
          <p:nvPr>
            <p:ph type="body" idx="1"/>
          </p:nvPr>
        </p:nvSpPr>
        <p:spPr/>
        <p:txBody>
          <a:bodyPr/>
          <a:lstStyle/>
          <a:p>
            <a:r>
              <a:rPr dirty="0"/>
              <a:t>Chapter 13 — Psychology and Your Skill Set: Stress Management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Shrink Overload: Change What You Do</a:t>
            </a:r>
          </a:p>
        </p:txBody>
      </p:sp>
      <p:sp>
        <p:nvSpPr>
          <p:cNvPr id="3" name="Content Placeholder 2"/>
          <p:cNvSpPr>
            <a:spLocks noGrp="1"/>
          </p:cNvSpPr>
          <p:nvPr>
            <p:ph idx="1"/>
          </p:nvPr>
        </p:nvSpPr>
        <p:spPr/>
        <p:txBody>
          <a:bodyPr/>
          <a:lstStyle/>
          <a:p>
            <a:r>
              <a:rPr dirty="0"/>
              <a:t>Adjust routines and workflow so demands feel smaller and steps are clearer (p. 436).</a:t>
            </a:r>
          </a:p>
          <a:p>
            <a:r>
              <a:rPr dirty="0"/>
              <a:t>Prefer small, specific changes you can repeat under pressure (p. 436).</a:t>
            </a:r>
          </a:p>
          <a:p>
            <a:r>
              <a:rPr dirty="0"/>
              <a:t>Aim: reduce avoidable overload and raise the odds that plans become action (p. 436).</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Small, sustainable behavior changes reduce overload and increase follow-through (p. 436).</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13.5 • 13.5.4</a:t>
            </a:r>
          </a:p>
          <a:p>
            <a:r>
              <a:rPr dirty="0"/>
              <a:t>Counteract upsetting thoughts</a:t>
            </a:r>
          </a:p>
        </p:txBody>
      </p:sp>
      <p:sp>
        <p:nvSpPr>
          <p:cNvPr id="3" name="Text Placeholder 2"/>
          <p:cNvSpPr>
            <a:spLocks noGrp="1"/>
          </p:cNvSpPr>
          <p:nvPr>
            <p:ph type="body" idx="1"/>
          </p:nvPr>
        </p:nvSpPr>
        <p:spPr/>
        <p:txBody>
          <a:bodyPr/>
          <a:lstStyle/>
          <a:p>
            <a:r>
              <a:rPr dirty="0"/>
              <a:t>Chapter 13 — Psychology and Your Skill Set: Stress Management</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Think Better Under Pressure</a:t>
            </a:r>
          </a:p>
        </p:txBody>
      </p:sp>
      <p:sp>
        <p:nvSpPr>
          <p:cNvPr id="3" name="Content Placeholder 2"/>
          <p:cNvSpPr>
            <a:spLocks noGrp="1"/>
          </p:cNvSpPr>
          <p:nvPr>
            <p:ph idx="1"/>
          </p:nvPr>
        </p:nvSpPr>
        <p:spPr/>
        <p:txBody>
          <a:bodyPr/>
          <a:lstStyle/>
          <a:p>
            <a:r>
              <a:rPr dirty="0"/>
              <a:t>Notice unhelpful appraisals that amplify distress (p. 436).</a:t>
            </a:r>
          </a:p>
          <a:p>
            <a:r>
              <a:rPr dirty="0"/>
              <a:t>Replace them with accurate, workable alternatives that support action (p. 436).</a:t>
            </a:r>
          </a:p>
          <a:p>
            <a:r>
              <a:rPr dirty="0"/>
              <a:t>Aim for balance—not forced positivity—so perspective returns (p. 436).</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Key Takeaway</a:t>
            </a:r>
          </a:p>
        </p:txBody>
      </p:sp>
      <p:sp>
        <p:nvSpPr>
          <p:cNvPr id="3" name="Content Placeholder 2"/>
          <p:cNvSpPr>
            <a:spLocks noGrp="1"/>
          </p:cNvSpPr>
          <p:nvPr>
            <p:ph idx="1"/>
          </p:nvPr>
        </p:nvSpPr>
        <p:spPr/>
        <p:txBody>
          <a:bodyPr/>
          <a:lstStyle/>
          <a:p>
            <a:r>
              <a:rPr dirty="0"/>
              <a:t>Use realistic, workable appraisals to lower distress and enable effective action (p. 436).</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Sources &amp; Credits</a:t>
            </a:r>
          </a:p>
        </p:txBody>
      </p:sp>
      <p:sp>
        <p:nvSpPr>
          <p:cNvPr id="3" name="Content Placeholder 2"/>
          <p:cNvSpPr>
            <a:spLocks noGrp="1"/>
          </p:cNvSpPr>
          <p:nvPr>
            <p:ph idx="1"/>
          </p:nvPr>
        </p:nvSpPr>
        <p:spPr/>
        <p:txBody>
          <a:bodyPr/>
          <a:lstStyle/>
          <a:p>
            <a:r>
              <a:rPr dirty="0"/>
              <a:t>Teaching bullets and notes auto-generated from A2 chapter13_clean.mjs (LO-aligned).</a:t>
            </a:r>
          </a:p>
          <a:p>
            <a:r>
              <a:rPr dirty="0"/>
              <a:t>Primary text anchor: Coon, Mitterer, &amp; Martini, Introduction to Psychology: Gateways to Mind and Behavior (16e), Chapter 13.</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4D2C-71C0-B711-4C87-BF90D2FD420C}"/>
              </a:ext>
            </a:extLst>
          </p:cNvPr>
          <p:cNvSpPr>
            <a:spLocks noGrp="1"/>
          </p:cNvSpPr>
          <p:nvPr>
            <p:ph type="ctrTitle"/>
          </p:nvPr>
        </p:nvSpPr>
        <p:spPr/>
        <p:txBody>
          <a:bodyPr/>
          <a:lstStyle/>
          <a:p>
            <a:r>
              <a:rPr lang="en-US" dirty="0"/>
              <a:t>Chapter 13: Health Psychology</a:t>
            </a:r>
          </a:p>
        </p:txBody>
      </p:sp>
      <p:sp>
        <p:nvSpPr>
          <p:cNvPr id="3" name="Subtitle 2">
            <a:extLst>
              <a:ext uri="{FF2B5EF4-FFF2-40B4-BE49-F238E27FC236}">
                <a16:creationId xmlns:a16="http://schemas.microsoft.com/office/drawing/2014/main" id="{93845686-A655-C539-7B94-E8BD47C8D18C}"/>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0281094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F4894-1B88-920F-E326-39F9B7FFDBBA}"/>
              </a:ext>
            </a:extLst>
          </p:cNvPr>
          <p:cNvSpPr>
            <a:spLocks noGrp="1"/>
          </p:cNvSpPr>
          <p:nvPr>
            <p:ph type="ctrTitle"/>
          </p:nvPr>
        </p:nvSpPr>
        <p:spPr/>
        <p:txBody>
          <a:bodyPr/>
          <a:lstStyle/>
          <a:p>
            <a:r>
              <a:rPr lang="en-US" dirty="0"/>
              <a:t>1</a:t>
            </a:r>
          </a:p>
        </p:txBody>
      </p:sp>
      <p:sp>
        <p:nvSpPr>
          <p:cNvPr id="3" name="Subtitle 2">
            <a:extLst>
              <a:ext uri="{FF2B5EF4-FFF2-40B4-BE49-F238E27FC236}">
                <a16:creationId xmlns:a16="http://schemas.microsoft.com/office/drawing/2014/main" id="{AC49349A-1C33-BFD3-49C3-2AD26A7E428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8201692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Medical vs Biopsychosocial Models</a:t>
            </a:r>
          </a:p>
        </p:txBody>
      </p:sp>
      <p:sp>
        <p:nvSpPr>
          <p:cNvPr id="3" name="Content Placeholder 2"/>
          <p:cNvSpPr>
            <a:spLocks noGrp="1"/>
          </p:cNvSpPr>
          <p:nvPr>
            <p:ph idx="1"/>
          </p:nvPr>
        </p:nvSpPr>
        <p:spPr/>
        <p:txBody>
          <a:bodyPr/>
          <a:lstStyle/>
          <a:p>
            <a:r>
              <a:rPr b="1" dirty="0"/>
              <a:t>Medical model:</a:t>
            </a:r>
            <a:r>
              <a:rPr dirty="0"/>
              <a:t> body as biological machine; illness needs physical treatment; mind and social context not central</a:t>
            </a:r>
          </a:p>
          <a:p>
            <a:r>
              <a:rPr b="1" dirty="0"/>
              <a:t>Biopsychosocial model:</a:t>
            </a:r>
            <a:r>
              <a:rPr dirty="0"/>
              <a:t> holistic view; health reflects biological, psychological, and social factors together</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Factors That Influence Health</a:t>
            </a:r>
          </a:p>
        </p:txBody>
      </p:sp>
      <p:sp>
        <p:nvSpPr>
          <p:cNvPr id="3" name="Content Placeholder 2"/>
          <p:cNvSpPr>
            <a:spLocks noGrp="1"/>
          </p:cNvSpPr>
          <p:nvPr>
            <p:ph idx="1"/>
          </p:nvPr>
        </p:nvSpPr>
        <p:spPr/>
        <p:txBody>
          <a:bodyPr/>
          <a:lstStyle/>
          <a:p>
            <a:r>
              <a:rPr b="1" dirty="0"/>
              <a:t>Biological:</a:t>
            </a:r>
            <a:r>
              <a:rPr dirty="0"/>
              <a:t> genetic and epigenetic influences; nervous, endocrine, cardiovascular, respiratory, digestive, reproductive, immune systems</a:t>
            </a:r>
          </a:p>
          <a:p>
            <a:r>
              <a:rPr b="1" dirty="0"/>
              <a:t>Psychological:</a:t>
            </a:r>
            <a:r>
              <a:rPr dirty="0"/>
              <a:t> attention, perceptions, cognitions, emotions, motivation; Type A and hardiness</a:t>
            </a:r>
          </a:p>
          <a:p>
            <a:r>
              <a:rPr b="1" dirty="0"/>
              <a:t>Social:</a:t>
            </a:r>
            <a:r>
              <a:rPr dirty="0"/>
              <a:t> social networks and poverty</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Behavioral Risk Factors</a:t>
            </a:r>
          </a:p>
        </p:txBody>
      </p:sp>
      <p:sp>
        <p:nvSpPr>
          <p:cNvPr id="3" name="Content Placeholder 2"/>
          <p:cNvSpPr>
            <a:spLocks noGrp="1"/>
          </p:cNvSpPr>
          <p:nvPr>
            <p:ph idx="1"/>
          </p:nvPr>
        </p:nvSpPr>
        <p:spPr/>
        <p:txBody>
          <a:bodyPr/>
          <a:lstStyle/>
          <a:p>
            <a:r>
              <a:rPr b="1" dirty="0"/>
              <a:t>Major risks:</a:t>
            </a:r>
            <a:r>
              <a:rPr dirty="0"/>
              <a:t> smoking, alcohol abuse, drug abuse, poor diet, insufficient exercise, risky sex</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Minimizing Behavioral Risks</a:t>
            </a:r>
          </a:p>
        </p:txBody>
      </p:sp>
      <p:sp>
        <p:nvSpPr>
          <p:cNvPr id="3" name="Content Placeholder 2"/>
          <p:cNvSpPr>
            <a:spLocks noGrp="1"/>
          </p:cNvSpPr>
          <p:nvPr>
            <p:ph idx="1"/>
          </p:nvPr>
        </p:nvSpPr>
        <p:spPr/>
        <p:txBody>
          <a:bodyPr/>
          <a:lstStyle/>
          <a:p>
            <a:r>
              <a:rPr b="1" dirty="0"/>
              <a:t>Lifestyle changes:</a:t>
            </a:r>
            <a:r>
              <a:rPr dirty="0"/>
              <a:t> tailor habits to risk patterns</a:t>
            </a:r>
          </a:p>
          <a:p>
            <a:r>
              <a:rPr b="1" dirty="0"/>
              <a:t>Early prevention:</a:t>
            </a:r>
            <a:r>
              <a:rPr dirty="0"/>
              <a:t> skills and education</a:t>
            </a:r>
          </a:p>
          <a:p>
            <a:r>
              <a:rPr b="1" dirty="0"/>
              <a:t>Community campaigns:</a:t>
            </a:r>
            <a:r>
              <a:rPr dirty="0"/>
              <a:t> shift norms and access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0AF49-D485-53DB-82D7-57DE36FD5E2A}"/>
              </a:ext>
            </a:extLst>
          </p:cNvPr>
          <p:cNvSpPr>
            <a:spLocks noGrp="1"/>
          </p:cNvSpPr>
          <p:nvPr>
            <p:ph type="ctrTitle"/>
          </p:nvPr>
        </p:nvSpPr>
        <p:spPr/>
        <p:txBody>
          <a:bodyPr/>
          <a:lstStyle/>
          <a:p>
            <a:r>
              <a:rPr lang="en-US" dirty="0"/>
              <a:t>2</a:t>
            </a:r>
          </a:p>
        </p:txBody>
      </p:sp>
      <p:sp>
        <p:nvSpPr>
          <p:cNvPr id="3" name="Subtitle 2">
            <a:extLst>
              <a:ext uri="{FF2B5EF4-FFF2-40B4-BE49-F238E27FC236}">
                <a16:creationId xmlns:a16="http://schemas.microsoft.com/office/drawing/2014/main" id="{8FED9FF5-611A-1254-8652-EE2CB5CEF2D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929775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Life Events and Hassles</a:t>
            </a:r>
          </a:p>
        </p:txBody>
      </p:sp>
      <p:sp>
        <p:nvSpPr>
          <p:cNvPr id="3" name="Content Placeholder 2"/>
          <p:cNvSpPr>
            <a:spLocks noGrp="1"/>
          </p:cNvSpPr>
          <p:nvPr>
            <p:ph idx="1"/>
          </p:nvPr>
        </p:nvSpPr>
        <p:spPr/>
        <p:txBody>
          <a:bodyPr/>
          <a:lstStyle/>
          <a:p>
            <a:r>
              <a:rPr b="1" dirty="0"/>
              <a:t>Stress:</a:t>
            </a:r>
            <a:r>
              <a:rPr dirty="0"/>
              <a:t> condition arising as we adjust or adapt; stressor challenges or threatens</a:t>
            </a:r>
          </a:p>
          <a:p>
            <a:r>
              <a:rPr b="1" dirty="0"/>
              <a:t>Life events:</a:t>
            </a:r>
            <a:r>
              <a:rPr dirty="0"/>
              <a:t> larger-scale changes; raise long-range risk</a:t>
            </a:r>
          </a:p>
          <a:p>
            <a:r>
              <a:rPr b="1" dirty="0"/>
              <a:t>Hassles:</a:t>
            </a:r>
            <a:r>
              <a:rPr dirty="0"/>
              <a:t> ongoing </a:t>
            </a:r>
            <a:r>
              <a:rPr dirty="0" err="1"/>
              <a:t>microstressors</a:t>
            </a:r>
            <a:r>
              <a:rPr dirty="0"/>
              <a:t>; track current health via intensity and severity</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Appraisals and What Guides Them</a:t>
            </a:r>
          </a:p>
        </p:txBody>
      </p:sp>
      <p:sp>
        <p:nvSpPr>
          <p:cNvPr id="3" name="Content Placeholder 2"/>
          <p:cNvSpPr>
            <a:spLocks noGrp="1"/>
          </p:cNvSpPr>
          <p:nvPr>
            <p:ph idx="1"/>
          </p:nvPr>
        </p:nvSpPr>
        <p:spPr/>
        <p:txBody>
          <a:bodyPr/>
          <a:lstStyle/>
          <a:p>
            <a:r>
              <a:rPr b="1" dirty="0"/>
              <a:t>Primary appraisal:</a:t>
            </a:r>
            <a:r>
              <a:rPr dirty="0"/>
              <a:t> positive, neutral, or threat; threat intensifies stress</a:t>
            </a:r>
          </a:p>
          <a:p>
            <a:r>
              <a:rPr b="1" dirty="0"/>
              <a:t>Secondary appraisal:</a:t>
            </a:r>
            <a:r>
              <a:rPr dirty="0"/>
              <a:t> evaluate resources and select a plan</a:t>
            </a:r>
          </a:p>
          <a:p>
            <a:r>
              <a:rPr b="1" dirty="0"/>
              <a:t>Guiding factors:</a:t>
            </a:r>
            <a:r>
              <a:rPr dirty="0"/>
              <a:t> perceived control, perceived competence, unpredictability, pressure</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General Adaptation Syndrome</a:t>
            </a:r>
          </a:p>
        </p:txBody>
      </p:sp>
      <p:sp>
        <p:nvSpPr>
          <p:cNvPr id="3" name="Content Placeholder 2"/>
          <p:cNvSpPr>
            <a:spLocks noGrp="1"/>
          </p:cNvSpPr>
          <p:nvPr>
            <p:ph idx="1"/>
          </p:nvPr>
        </p:nvSpPr>
        <p:spPr/>
        <p:txBody>
          <a:bodyPr/>
          <a:lstStyle/>
          <a:p>
            <a:r>
              <a:rPr b="1" dirty="0"/>
              <a:t>Stages:</a:t>
            </a:r>
            <a:r>
              <a:rPr dirty="0"/>
              <a:t> alarm → resistance → exhaustion</a:t>
            </a:r>
          </a:p>
          <a:p>
            <a:r>
              <a:rPr b="1" dirty="0"/>
              <a:t>Note:</a:t>
            </a:r>
            <a:r>
              <a:rPr dirty="0"/>
              <a:t> prolonged strain mirrors some psychosomatic patterns</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Consequences of Prolonged Stress</a:t>
            </a:r>
          </a:p>
        </p:txBody>
      </p:sp>
      <p:sp>
        <p:nvSpPr>
          <p:cNvPr id="3" name="Content Placeholder 2"/>
          <p:cNvSpPr>
            <a:spLocks noGrp="1"/>
          </p:cNvSpPr>
          <p:nvPr>
            <p:ph idx="1"/>
          </p:nvPr>
        </p:nvSpPr>
        <p:spPr/>
        <p:txBody>
          <a:bodyPr/>
          <a:lstStyle/>
          <a:p>
            <a:r>
              <a:rPr b="1" dirty="0"/>
              <a:t>Illness/psychosomatic damage:</a:t>
            </a:r>
            <a:r>
              <a:rPr dirty="0"/>
              <a:t> psychological factors contribute to bodily harm</a:t>
            </a:r>
          </a:p>
          <a:p>
            <a:r>
              <a:rPr b="1" dirty="0"/>
              <a:t>Learned helplessness:</a:t>
            </a:r>
            <a:r>
              <a:rPr dirty="0"/>
              <a:t> reduced motivation and coping</a:t>
            </a:r>
          </a:p>
          <a:p>
            <a:r>
              <a:rPr b="1" dirty="0"/>
              <a:t>Burnout:</a:t>
            </a:r>
            <a:r>
              <a:rPr dirty="0"/>
              <a:t> exhaustion, cynicism, reduced effectiveness</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683-9793-0CEE-2EE7-30F7BFC68265}"/>
              </a:ext>
            </a:extLst>
          </p:cNvPr>
          <p:cNvSpPr>
            <a:spLocks noGrp="1"/>
          </p:cNvSpPr>
          <p:nvPr>
            <p:ph type="ctrTitle"/>
          </p:nvPr>
        </p:nvSpPr>
        <p:spPr/>
        <p:txBody>
          <a:bodyPr>
            <a:normAutofit/>
          </a:bodyPr>
          <a:lstStyle/>
          <a:p>
            <a:r>
              <a:rPr lang="en-US" dirty="0"/>
              <a:t>3</a:t>
            </a:r>
          </a:p>
        </p:txBody>
      </p:sp>
    </p:spTree>
    <p:extLst>
      <p:ext uri="{BB962C8B-B14F-4D97-AF65-F5344CB8AC3E}">
        <p14:creationId xmlns:p14="http://schemas.microsoft.com/office/powerpoint/2010/main" val="1449701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Somatic Symptom Disorder</a:t>
            </a:r>
          </a:p>
        </p:txBody>
      </p:sp>
      <p:sp>
        <p:nvSpPr>
          <p:cNvPr id="3" name="Content Placeholder 2"/>
          <p:cNvSpPr>
            <a:spLocks noGrp="1"/>
          </p:cNvSpPr>
          <p:nvPr>
            <p:ph idx="1"/>
          </p:nvPr>
        </p:nvSpPr>
        <p:spPr/>
        <p:txBody>
          <a:bodyPr/>
          <a:lstStyle/>
          <a:p>
            <a:r>
              <a:rPr b="1" dirty="0"/>
              <a:t>Also called:</a:t>
            </a:r>
            <a:r>
              <a:rPr dirty="0"/>
              <a:t> hypochondriasis</a:t>
            </a:r>
          </a:p>
          <a:p>
            <a:r>
              <a:rPr b="1" dirty="0"/>
              <a:t>Core process:</a:t>
            </a:r>
            <a:r>
              <a:rPr dirty="0"/>
              <a:t> anxiety converted into belief of physical illness</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a:pPr>
            <a:r>
              <a:rPr dirty="0"/>
              <a:t>Recognizing Illness: Bio, Psych, and Social</a:t>
            </a:r>
          </a:p>
        </p:txBody>
      </p:sp>
      <p:sp>
        <p:nvSpPr>
          <p:cNvPr id="3" name="Content Placeholder 2"/>
          <p:cNvSpPr>
            <a:spLocks noGrp="1"/>
          </p:cNvSpPr>
          <p:nvPr>
            <p:ph idx="1"/>
          </p:nvPr>
        </p:nvSpPr>
        <p:spPr/>
        <p:txBody>
          <a:bodyPr/>
          <a:lstStyle/>
          <a:p>
            <a:r>
              <a:rPr b="1" dirty="0"/>
              <a:t>Biological:</a:t>
            </a:r>
            <a:r>
              <a:rPr dirty="0"/>
              <a:t> valued organs, pain, mobility drive seriousness</a:t>
            </a:r>
          </a:p>
          <a:p>
            <a:r>
              <a:rPr b="1" dirty="0"/>
              <a:t>Psychological:</a:t>
            </a:r>
            <a:r>
              <a:rPr dirty="0"/>
              <a:t> personality (e.g., neuroticism), stress, emotion</a:t>
            </a:r>
          </a:p>
          <a:p>
            <a:r>
              <a:rPr b="1" dirty="0"/>
              <a:t>Social:</a:t>
            </a:r>
            <a:r>
              <a:rPr dirty="0"/>
              <a:t> lay referral networks and Internet influence interpretation</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Deciding to Seek Treatment</a:t>
            </a:r>
          </a:p>
        </p:txBody>
      </p:sp>
      <p:sp>
        <p:nvSpPr>
          <p:cNvPr id="3" name="Content Placeholder 2"/>
          <p:cNvSpPr>
            <a:spLocks noGrp="1"/>
          </p:cNvSpPr>
          <p:nvPr>
            <p:ph idx="1"/>
          </p:nvPr>
        </p:nvSpPr>
        <p:spPr/>
        <p:txBody>
          <a:bodyPr/>
          <a:lstStyle/>
          <a:p>
            <a:r>
              <a:rPr b="1" dirty="0"/>
              <a:t>Four influences:</a:t>
            </a:r>
            <a:r>
              <a:rPr dirty="0"/>
              <a:t> sex, income, age, culture</a:t>
            </a:r>
          </a:p>
          <a:p>
            <a:r>
              <a:rPr b="1" dirty="0"/>
              <a:t>Impact:</a:t>
            </a:r>
            <a:r>
              <a:rPr dirty="0"/>
              <a:t> shape likelihood, timing, and type of care sought</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a:pPr>
            <a:r>
              <a:rPr dirty="0"/>
              <a:t>Complementary and Alternative Medicine (CAM)</a:t>
            </a:r>
          </a:p>
        </p:txBody>
      </p:sp>
      <p:sp>
        <p:nvSpPr>
          <p:cNvPr id="3" name="Content Placeholder 2"/>
          <p:cNvSpPr>
            <a:spLocks noGrp="1"/>
          </p:cNvSpPr>
          <p:nvPr>
            <p:ph idx="1"/>
          </p:nvPr>
        </p:nvSpPr>
        <p:spPr/>
        <p:txBody>
          <a:bodyPr/>
          <a:lstStyle/>
          <a:p>
            <a:r>
              <a:rPr b="1" dirty="0"/>
              <a:t>Definition:</a:t>
            </a:r>
            <a:r>
              <a:rPr dirty="0"/>
              <a:t> holistic approaches rooted in long-standing traditions</a:t>
            </a:r>
          </a:p>
          <a:p>
            <a:r>
              <a:rPr b="1" dirty="0"/>
              <a:t>Examples:</a:t>
            </a:r>
            <a:r>
              <a:rPr dirty="0"/>
              <a:t> homeopathy/supplements, acupuncture, chiropractic, massage, biofeedback, yoga</a:t>
            </a:r>
          </a:p>
          <a:p>
            <a:r>
              <a:rPr b="1" dirty="0"/>
              <a:t>Concern:</a:t>
            </a:r>
            <a:r>
              <a:rPr dirty="0"/>
              <a:t> limited strong evidence on effectiveness</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a:pPr>
            <a:r>
              <a:rPr dirty="0"/>
              <a:t>Treatment Noncompliance and How to Reduce It</a:t>
            </a:r>
          </a:p>
        </p:txBody>
      </p:sp>
      <p:sp>
        <p:nvSpPr>
          <p:cNvPr id="3" name="Content Placeholder 2"/>
          <p:cNvSpPr>
            <a:spLocks noGrp="1"/>
          </p:cNvSpPr>
          <p:nvPr>
            <p:ph idx="1"/>
          </p:nvPr>
        </p:nvSpPr>
        <p:spPr/>
        <p:txBody>
          <a:bodyPr/>
          <a:lstStyle/>
          <a:p>
            <a:r>
              <a:rPr b="1" dirty="0"/>
              <a:t>Forms:</a:t>
            </a:r>
            <a:r>
              <a:rPr dirty="0"/>
              <a:t> ignoring, misunderstanding, forgetting, incorrect execution</a:t>
            </a:r>
          </a:p>
          <a:p>
            <a:r>
              <a:rPr b="1" dirty="0"/>
              <a:t>Contributors:</a:t>
            </a:r>
            <a:r>
              <a:rPr dirty="0"/>
              <a:t> cognitive factors, memory, provider–patient relationship, emotions (anxiety, depression)</a:t>
            </a:r>
          </a:p>
          <a:p>
            <a:r>
              <a:rPr b="1" dirty="0"/>
              <a:t>Key:</a:t>
            </a:r>
            <a:r>
              <a:rPr dirty="0"/>
              <a:t> communication and interpersonal skills that build trust and ensure understanding</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BABD-BBD4-CCFF-CCF7-CD8042FD6FA1}"/>
              </a:ext>
            </a:extLst>
          </p:cNvPr>
          <p:cNvSpPr>
            <a:spLocks noGrp="1"/>
          </p:cNvSpPr>
          <p:nvPr>
            <p:ph type="ctrTitle"/>
          </p:nvPr>
        </p:nvSpPr>
        <p:spPr/>
        <p:txBody>
          <a:bodyPr>
            <a:normAutofit/>
          </a:bodyPr>
          <a:lstStyle/>
          <a:p>
            <a:r>
              <a:rPr lang="en-US" dirty="0"/>
              <a:t>4</a:t>
            </a:r>
          </a:p>
        </p:txBody>
      </p:sp>
      <p:sp>
        <p:nvSpPr>
          <p:cNvPr id="3" name="Subtitle 2">
            <a:extLst>
              <a:ext uri="{FF2B5EF4-FFF2-40B4-BE49-F238E27FC236}">
                <a16:creationId xmlns:a16="http://schemas.microsoft.com/office/drawing/2014/main" id="{D264141D-F93A-C972-04A8-550EC9582E4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5398620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Three Families of Coping</a:t>
            </a:r>
          </a:p>
        </p:txBody>
      </p:sp>
      <p:sp>
        <p:nvSpPr>
          <p:cNvPr id="3" name="Content Placeholder 2"/>
          <p:cNvSpPr>
            <a:spLocks noGrp="1"/>
          </p:cNvSpPr>
          <p:nvPr>
            <p:ph idx="1"/>
          </p:nvPr>
        </p:nvSpPr>
        <p:spPr/>
        <p:txBody>
          <a:bodyPr/>
          <a:lstStyle/>
          <a:p>
            <a:r>
              <a:rPr b="1" dirty="0"/>
              <a:t>Problem-focused:</a:t>
            </a:r>
            <a:r>
              <a:rPr dirty="0"/>
              <a:t> manage or remedy the situation</a:t>
            </a:r>
          </a:p>
          <a:p>
            <a:r>
              <a:rPr b="1" dirty="0"/>
              <a:t>Emotion-focused:</a:t>
            </a:r>
            <a:r>
              <a:rPr dirty="0"/>
              <a:t> regulate emotional responses (includes defense mechanisms)</a:t>
            </a:r>
          </a:p>
          <a:p>
            <a:r>
              <a:rPr b="1" dirty="0"/>
              <a:t>Relationship-focused:</a:t>
            </a:r>
            <a:r>
              <a:rPr dirty="0"/>
              <a:t> empathy, compromise, social support</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Traumatic Stress: Effects and Coping</a:t>
            </a:r>
          </a:p>
        </p:txBody>
      </p:sp>
      <p:sp>
        <p:nvSpPr>
          <p:cNvPr id="3" name="Content Placeholder 2"/>
          <p:cNvSpPr>
            <a:spLocks noGrp="1"/>
          </p:cNvSpPr>
          <p:nvPr>
            <p:ph idx="1"/>
          </p:nvPr>
        </p:nvSpPr>
        <p:spPr/>
        <p:txBody>
          <a:bodyPr/>
          <a:lstStyle/>
          <a:p>
            <a:r>
              <a:rPr b="1" dirty="0"/>
              <a:t>Effects:</a:t>
            </a:r>
            <a:r>
              <a:rPr dirty="0"/>
              <a:t> physical (e.g., hypertension) and psychological (e.g., anxiety, vulnerability)</a:t>
            </a:r>
          </a:p>
          <a:p>
            <a:r>
              <a:rPr b="1" dirty="0"/>
              <a:t>Coping:</a:t>
            </a:r>
            <a:r>
              <a:rPr dirty="0"/>
              <a:t> talk to others (including professionals), engage in enjoyable activities, allow time to heal</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Acculturation Patterns and Stress</a:t>
            </a:r>
          </a:p>
        </p:txBody>
      </p:sp>
      <p:sp>
        <p:nvSpPr>
          <p:cNvPr id="3" name="Content Placeholder 2"/>
          <p:cNvSpPr>
            <a:spLocks noGrp="1"/>
          </p:cNvSpPr>
          <p:nvPr>
            <p:ph idx="1"/>
          </p:nvPr>
        </p:nvSpPr>
        <p:spPr/>
        <p:txBody>
          <a:bodyPr/>
          <a:lstStyle/>
          <a:p>
            <a:r>
              <a:rPr b="1" dirty="0"/>
              <a:t>Integration:</a:t>
            </a:r>
            <a:r>
              <a:rPr dirty="0"/>
              <a:t> low acculturative stress</a:t>
            </a:r>
          </a:p>
          <a:p>
            <a:r>
              <a:rPr b="1" dirty="0"/>
              <a:t>Separation:</a:t>
            </a:r>
            <a:r>
              <a:rPr dirty="0"/>
              <a:t> high acculturative stress</a:t>
            </a:r>
          </a:p>
          <a:p>
            <a:r>
              <a:rPr b="1" dirty="0"/>
              <a:t>Assimilation:</a:t>
            </a:r>
            <a:r>
              <a:rPr dirty="0"/>
              <a:t> moderate acculturative stress</a:t>
            </a:r>
          </a:p>
          <a:p>
            <a:r>
              <a:rPr b="1" dirty="0"/>
              <a:t>Marginalization:</a:t>
            </a:r>
            <a:r>
              <a:rPr dirty="0"/>
              <a:t> high acculturative stress</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sz="3600"/>
            </a:pPr>
            <a:r>
              <a:rPr dirty="0"/>
              <a:t>College Blues: Contributors and Coping</a:t>
            </a:r>
          </a:p>
        </p:txBody>
      </p:sp>
      <p:sp>
        <p:nvSpPr>
          <p:cNvPr id="3" name="Content Placeholder 2"/>
          <p:cNvSpPr>
            <a:spLocks noGrp="1"/>
          </p:cNvSpPr>
          <p:nvPr>
            <p:ph idx="1"/>
          </p:nvPr>
        </p:nvSpPr>
        <p:spPr/>
        <p:txBody>
          <a:bodyPr/>
          <a:lstStyle/>
          <a:p>
            <a:r>
              <a:rPr b="1" dirty="0"/>
              <a:t>Contributors:</a:t>
            </a:r>
            <a:r>
              <a:rPr dirty="0"/>
              <a:t> career pressure, isolation, grades, relationship problems, unmet expectations</a:t>
            </a:r>
          </a:p>
          <a:p>
            <a:r>
              <a:rPr b="1" dirty="0"/>
              <a:t>Coping:</a:t>
            </a:r>
            <a:r>
              <a:rPr dirty="0"/>
              <a:t> problem-focused (schedule, steady work); emotion-focused (challenge self-critical thoughts); relationship-focused (seek support/pro help)</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A113-05FE-2F9B-6FFA-4C6C72DF6399}"/>
              </a:ext>
            </a:extLst>
          </p:cNvPr>
          <p:cNvSpPr>
            <a:spLocks noGrp="1"/>
          </p:cNvSpPr>
          <p:nvPr>
            <p:ph type="ctrTitle"/>
          </p:nvPr>
        </p:nvSpPr>
        <p:spPr/>
        <p:txBody>
          <a:bodyPr>
            <a:normAutofit/>
          </a:bodyPr>
          <a:lstStyle/>
          <a:p>
            <a:r>
              <a:rPr lang="en-US" dirty="0"/>
              <a:t>5</a:t>
            </a:r>
          </a:p>
        </p:txBody>
      </p:sp>
      <p:sp>
        <p:nvSpPr>
          <p:cNvPr id="3" name="Subtitle 2">
            <a:extLst>
              <a:ext uri="{FF2B5EF4-FFF2-40B4-BE49-F238E27FC236}">
                <a16:creationId xmlns:a16="http://schemas.microsoft.com/office/drawing/2014/main" id="{2F617FE2-A938-39B3-71AE-72CF762494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2515039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Three Effects Triggered by Stress</a:t>
            </a:r>
          </a:p>
        </p:txBody>
      </p:sp>
      <p:sp>
        <p:nvSpPr>
          <p:cNvPr id="3" name="Content Placeholder 2"/>
          <p:cNvSpPr>
            <a:spLocks noGrp="1"/>
          </p:cNvSpPr>
          <p:nvPr>
            <p:ph idx="1"/>
          </p:nvPr>
        </p:nvSpPr>
        <p:spPr/>
        <p:txBody>
          <a:bodyPr/>
          <a:lstStyle/>
          <a:p>
            <a:r>
              <a:rPr b="1" dirty="0"/>
              <a:t>Categories:</a:t>
            </a:r>
            <a:r>
              <a:rPr dirty="0"/>
              <a:t> bodily effects; ineffective behavior; upsetting thoughts</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600"/>
            </a:pPr>
            <a:r>
              <a:rPr dirty="0"/>
              <a:t>Planning Interventions for Each Effect</a:t>
            </a:r>
          </a:p>
        </p:txBody>
      </p:sp>
      <p:sp>
        <p:nvSpPr>
          <p:cNvPr id="3" name="Content Placeholder 2"/>
          <p:cNvSpPr>
            <a:spLocks noGrp="1"/>
          </p:cNvSpPr>
          <p:nvPr>
            <p:ph idx="1"/>
          </p:nvPr>
        </p:nvSpPr>
        <p:spPr/>
        <p:txBody>
          <a:bodyPr/>
          <a:lstStyle/>
          <a:p>
            <a:r>
              <a:rPr b="1" dirty="0"/>
              <a:t>Bodily:</a:t>
            </a:r>
            <a:r>
              <a:rPr dirty="0"/>
              <a:t> exercise, meditation, progressive relaxation, guided imagery</a:t>
            </a:r>
          </a:p>
          <a:p>
            <a:r>
              <a:rPr b="1" dirty="0"/>
              <a:t>Behavior:</a:t>
            </a:r>
            <a:r>
              <a:rPr dirty="0"/>
              <a:t> slow down, get organized, balance work and relaxation, accept limits, seek social support, write about feelings</a:t>
            </a:r>
          </a:p>
          <a:p>
            <a:r>
              <a:rPr b="1" dirty="0"/>
              <a:t>Thoughts:</a:t>
            </a:r>
            <a:r>
              <a:rPr dirty="0"/>
              <a:t> use coping statements to reduce upsetting thoughts</a:t>
            </a:r>
          </a:p>
        </p:txBody>
      </p:sp>
    </p:spTree>
  </p:cSld>
  <p:clrMapOvr>
    <a:masterClrMapping/>
  </p:clrMapOvr>
</p:sld>
</file>

<file path=ppt/theme/theme1.xml><?xml version="1.0" encoding="utf-8"?>
<a:theme xmlns:a="http://schemas.openxmlformats.org/drawingml/2006/main" name="nord_white">
  <a:themeElements>
    <a:clrScheme name="Nord_2">
      <a:dk1>
        <a:srgbClr val="000000"/>
      </a:dk1>
      <a:lt1>
        <a:srgbClr val="FFFFFF"/>
      </a:lt1>
      <a:dk2>
        <a:srgbClr val="4C5669"/>
      </a:dk2>
      <a:lt2>
        <a:srgbClr val="FBFCFF"/>
      </a:lt2>
      <a:accent1>
        <a:srgbClr val="5E81AC"/>
      </a:accent1>
      <a:accent2>
        <a:srgbClr val="88C0D0"/>
      </a:accent2>
      <a:accent3>
        <a:srgbClr val="8FBCBB"/>
      </a:accent3>
      <a:accent4>
        <a:srgbClr val="A3BE8C"/>
      </a:accent4>
      <a:accent5>
        <a:srgbClr val="EBCB8B"/>
      </a:accent5>
      <a:accent6>
        <a:srgbClr val="BF6169"/>
      </a:accent6>
      <a:hlink>
        <a:srgbClr val="88C0D0"/>
      </a:hlink>
      <a:folHlink>
        <a:srgbClr val="5C687F"/>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ord_white" id="{B4046918-7291-7249-9F2B-BE8EF208251D}" vid="{DBB77738-17AF-9B49-A600-39B3B59A7E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nord_white</Template>
  <TotalTime>0</TotalTime>
  <Words>17138</Words>
  <Application>Microsoft Macintosh PowerPoint</Application>
  <PresentationFormat>On-screen Show (16:9)</PresentationFormat>
  <Paragraphs>1766</Paragraphs>
  <Slides>192</Slides>
  <Notes>191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192</vt:i4>
      </vt:variant>
    </vt:vector>
  </HeadingPairs>
  <TitlesOfParts>
    <vt:vector size="197" baseType="lpstr">
      <vt:lpstr>Arial</vt:lpstr>
      <vt:lpstr>Calibri</vt:lpstr>
      <vt:lpstr>News Gothic MT</vt:lpstr>
      <vt:lpstr>Trade Gothic Next Rounded</vt:lpstr>
      <vt:lpstr>nord_white</vt:lpstr>
      <vt:lpstr>PowerPoint Presentation</vt:lpstr>
      <vt:lpstr>PowerPoint Presentation</vt:lpstr>
      <vt:lpstr>PowerPoint Presentation</vt:lpstr>
      <vt:lpstr>Topic 16: Health</vt:lpstr>
      <vt:lpstr>Topic 16: Health</vt:lpstr>
      <vt:lpstr>Today’s roadmap</vt:lpstr>
      <vt:lpstr>What this topic covers</vt:lpstr>
      <vt:lpstr>Health is multi-factor</vt:lpstr>
      <vt:lpstr>Warm-up</vt:lpstr>
      <vt:lpstr>A psychological view of health</vt:lpstr>
      <vt:lpstr>Stress is a process</vt:lpstr>
      <vt:lpstr>The same stressor can lead to different outcomes</vt:lpstr>
      <vt:lpstr>Appraisal shapes stress</vt:lpstr>
      <vt:lpstr>Acute and chronic stress are different</vt:lpstr>
      <vt:lpstr>Why the body matters in this lesson</vt:lpstr>
      <vt:lpstr>Sympathetic and HPA pathways</vt:lpstr>
      <vt:lpstr>Cortisol requires caution</vt:lpstr>
      <vt:lpstr>Allostatic load</vt:lpstr>
      <vt:lpstr>Psychoneuroimmunology</vt:lpstr>
      <vt:lpstr>Coping changes outcomes</vt:lpstr>
      <vt:lpstr>Problem-focused coping</vt:lpstr>
      <vt:lpstr>Emotion-focused coping</vt:lpstr>
      <vt:lpstr>Coping effectiveness is context-dependent</vt:lpstr>
      <vt:lpstr>Check for understanding</vt:lpstr>
      <vt:lpstr>Student processing activity</vt:lpstr>
      <vt:lpstr>Processing prompts</vt:lpstr>
      <vt:lpstr>Debrief and feedback</vt:lpstr>
      <vt:lpstr>Common confusions to avoid</vt:lpstr>
      <vt:lpstr>Social support can change outcomes</vt:lpstr>
      <vt:lpstr>Resilience</vt:lpstr>
      <vt:lpstr>Health behaviors</vt:lpstr>
      <vt:lpstr>Adherence</vt:lpstr>
      <vt:lpstr>Access and context matter</vt:lpstr>
      <vt:lpstr>Type A and hostility</vt:lpstr>
      <vt:lpstr>Biomarkers require caution</vt:lpstr>
      <vt:lpstr>Synthesis</vt:lpstr>
      <vt:lpstr>Closure</vt:lpstr>
      <vt:lpstr>Exit ticket</vt:lpstr>
      <vt:lpstr>Stress and Health</vt:lpstr>
      <vt:lpstr>What this topic covers</vt:lpstr>
      <vt:lpstr>Health is multi-factor</vt:lpstr>
      <vt:lpstr>Cognitive Appraisal Shapes Stress</vt:lpstr>
      <vt:lpstr>Eustress vs. Distress</vt:lpstr>
      <vt:lpstr>Sympathetic and HPA Pathways</vt:lpstr>
      <vt:lpstr>General Adaptation Syndrome</vt:lpstr>
      <vt:lpstr>Psychoneuroimmunology</vt:lpstr>
      <vt:lpstr>Stress and the Cardiovascular System</vt:lpstr>
      <vt:lpstr>Coping Strategies</vt:lpstr>
      <vt:lpstr>The Power of Control and Social Support</vt:lpstr>
      <vt:lpstr>```markdown</vt:lpstr>
      <vt:lpstr>Can Emotions Kill?</vt:lpstr>
      <vt:lpstr>Claim 1: Stress is a Process</vt:lpstr>
      <vt:lpstr>Claim 2: The Power of Appraisal</vt:lpstr>
      <vt:lpstr>Claim 3: Eustress vs. Distress</vt:lpstr>
      <vt:lpstr>The Bear on the Trail</vt:lpstr>
      <vt:lpstr>Claim 1: An Automatic Alarm System</vt:lpstr>
      <vt:lpstr>Claim 2: The Three-Stage Process</vt:lpstr>
      <vt:lpstr>Claim 3: Suppressing Our Biological Shields</vt:lpstr>
      <vt:lpstr>```markdown</vt:lpstr>
      <vt:lpstr>What Triggers the Alarm?</vt:lpstr>
      <vt:lpstr>Claim 1: Major Life Changes Tax the Body</vt:lpstr>
      <vt:lpstr>Claim 2: The Danger of Daily Hassles</vt:lpstr>
      <vt:lpstr>Claim 3: Lack of Control Breeds Burnout</vt:lpstr>
      <vt:lpstr>Chronic Strain Beyond the Workplace</vt:lpstr>
      <vt:lpstr>Topic 16: Health</vt:lpstr>
      <vt:lpstr>Topic 16: Health</vt:lpstr>
      <vt:lpstr>Today’s roadmap</vt:lpstr>
      <vt:lpstr>What this topic covers</vt:lpstr>
      <vt:lpstr>Health is multi-factor</vt:lpstr>
      <vt:lpstr>Warm-up</vt:lpstr>
      <vt:lpstr>A psychological view of health</vt:lpstr>
      <vt:lpstr>Stress is a process</vt:lpstr>
      <vt:lpstr>The same stressor can lead to different outcomes</vt:lpstr>
      <vt:lpstr>Appraisal shapes stress</vt:lpstr>
      <vt:lpstr>Acute and chronic stress are different</vt:lpstr>
      <vt:lpstr>Why the body matters in this lesson</vt:lpstr>
      <vt:lpstr>Sympathetic and HPA pathways</vt:lpstr>
      <vt:lpstr>Cortisol requires caution</vt:lpstr>
      <vt:lpstr>Allostatic load</vt:lpstr>
      <vt:lpstr>Psychoneuroimmunology</vt:lpstr>
      <vt:lpstr>Coping changes outcomes</vt:lpstr>
      <vt:lpstr>Problem-focused coping</vt:lpstr>
      <vt:lpstr>Emotion-focused coping</vt:lpstr>
      <vt:lpstr>Coping effectiveness is context-dependent</vt:lpstr>
      <vt:lpstr>Check for understanding</vt:lpstr>
      <vt:lpstr>Student processing activity</vt:lpstr>
      <vt:lpstr>Processing prompts</vt:lpstr>
      <vt:lpstr>Debrief and feedback</vt:lpstr>
      <vt:lpstr>Common confusions to avoid</vt:lpstr>
      <vt:lpstr>Social support can change outcomes</vt:lpstr>
      <vt:lpstr>Resilience</vt:lpstr>
      <vt:lpstr>Health behaviors</vt:lpstr>
      <vt:lpstr>Adherence</vt:lpstr>
      <vt:lpstr>Access and context matter</vt:lpstr>
      <vt:lpstr>Type A and hostility</vt:lpstr>
      <vt:lpstr>Biomarkers require caution</vt:lpstr>
      <vt:lpstr>Synthesis</vt:lpstr>
      <vt:lpstr>Closure</vt:lpstr>
      <vt:lpstr>Exit ticket</vt:lpstr>
      <vt:lpstr>Chapter 13 — Health Psychology</vt:lpstr>
      <vt:lpstr>13.1 • 13.1.1 Explain the biopsychosocial model of health</vt:lpstr>
      <vt:lpstr>Biopsychosocial Model: Three Lenses</vt:lpstr>
      <vt:lpstr>Key Takeaway</vt:lpstr>
      <vt:lpstr>13.1 • 13.1.2 Describe biological factors that influence health</vt:lpstr>
      <vt:lpstr>Biological Influences</vt:lpstr>
      <vt:lpstr>Key Takeaway</vt:lpstr>
      <vt:lpstr>13.1 • 13.1.3 Describe psychological factors that influence health</vt:lpstr>
      <vt:lpstr>Psychological Influences</vt:lpstr>
      <vt:lpstr>Key Takeaway</vt:lpstr>
      <vt:lpstr>13.1 • 13.1.4 Describe social factors that influence health</vt:lpstr>
      <vt:lpstr>Social Determinants of Health</vt:lpstr>
      <vt:lpstr>Key Takeaway</vt:lpstr>
      <vt:lpstr>13.1 • 13.1.5 Identify health-related behaviors that influence health</vt:lpstr>
      <vt:lpstr>Health Behaviors: Everyday Levers</vt:lpstr>
      <vt:lpstr>Key Takeaway</vt:lpstr>
      <vt:lpstr>13.2 • 13.2.1 Differentiate among common types of stressors</vt:lpstr>
      <vt:lpstr>Types of Stressors</vt:lpstr>
      <vt:lpstr>Key Takeaway</vt:lpstr>
      <vt:lpstr>13.2 • 13.2.2 Describe typical responses to stressors</vt:lpstr>
      <vt:lpstr>How We Respond to Stress</vt:lpstr>
      <vt:lpstr>Key Takeaway</vt:lpstr>
      <vt:lpstr>13.2 • 13.2.3 Summarize consequences of stress</vt:lpstr>
      <vt:lpstr>When Stress Persists</vt:lpstr>
      <vt:lpstr>Key Takeaway</vt:lpstr>
      <vt:lpstr>13.2 • 13.2.4 Describe three consequences of prolonged stress</vt:lpstr>
      <vt:lpstr>Consequences of Prolonged Stress</vt:lpstr>
      <vt:lpstr>Key Takeaway</vt:lpstr>
      <vt:lpstr>13.3 • 13.3.1 Recognize illness and explain how people identify that they are ill</vt:lpstr>
      <vt:lpstr>How People Recognize Illness</vt:lpstr>
      <vt:lpstr>Key Takeaway</vt:lpstr>
      <vt:lpstr>13.3 • 13.3.2 Describe how people seek treatment and factors that influence help-seeking</vt:lpstr>
      <vt:lpstr>Help-Seeking: From Decision to Access</vt:lpstr>
      <vt:lpstr>Key Takeaway</vt:lpstr>
      <vt:lpstr>13.3 • 13.3.3 Explain treatment adherence and ways to improve compliance</vt:lpstr>
      <vt:lpstr>Adherence: Following the Agreed Plan</vt:lpstr>
      <vt:lpstr>Key Takeaway</vt:lpstr>
      <vt:lpstr>13.3 • 13.3.4 Define what is meant by the term complementary and alternative medicine, and outline one main concern associated with this type of treatment</vt:lpstr>
      <vt:lpstr>Complementary &amp; Alternative Medicine (CAM)</vt:lpstr>
      <vt:lpstr>Key Takeaway</vt:lpstr>
      <vt:lpstr>13.3 • 13.3.5 Identify the forms that treatment noncompliance can take, describe four factors that contribute to treatment noncompliance, and outline the key to minimizing treatment noncompliance</vt:lpstr>
      <vt:lpstr>Treatment Noncompliance: Forms, Causes, Remedy</vt:lpstr>
      <vt:lpstr>Key Takeaway</vt:lpstr>
      <vt:lpstr>13.4 • 13.4.1 Differentiate problem-focused and emotion-focused coping</vt:lpstr>
      <vt:lpstr>Two Families of Coping</vt:lpstr>
      <vt:lpstr>Key Takeaway</vt:lpstr>
      <vt:lpstr>13.4 • 13.4.2 Describe physiological methods for coping with stress</vt:lpstr>
      <vt:lpstr>Lowering Arousal: Body-First Tools</vt:lpstr>
      <vt:lpstr>Key Takeaway</vt:lpstr>
      <vt:lpstr>13.4 • 13.4.3 Explain cognitive and behavioral coping tactics</vt:lpstr>
      <vt:lpstr>Thinking &amp; Doing: Tactics that Reduce Overload</vt:lpstr>
      <vt:lpstr>Key Takeaway</vt:lpstr>
      <vt:lpstr>13.4 • 13.4.4 Apply coping in everyday life with social support and planning</vt:lpstr>
      <vt:lpstr>Turn Coping into Habit: People + Plans</vt:lpstr>
      <vt:lpstr>Key Takeaway</vt:lpstr>
      <vt:lpstr>13.5 • 13.5.1 Apply quick "De-Stress!" steps for immediate stress relief</vt:lpstr>
      <vt:lpstr>De-Stress! Quick Reset</vt:lpstr>
      <vt:lpstr>Key Takeaway</vt:lpstr>
      <vt:lpstr>13.5 • 13.5.2 Manage the bodily effects of stress</vt:lpstr>
      <vt:lpstr>Body-First: Calm the System</vt:lpstr>
      <vt:lpstr>Key Takeaway</vt:lpstr>
      <vt:lpstr>13.5 • 13.5.3 Modify ineffective behavior under stress</vt:lpstr>
      <vt:lpstr>Shrink Overload: Change What You Do</vt:lpstr>
      <vt:lpstr>Key Takeaway</vt:lpstr>
      <vt:lpstr>13.5 • 13.5.4 Counteract upsetting thoughts</vt:lpstr>
      <vt:lpstr>Think Better Under Pressure</vt:lpstr>
      <vt:lpstr>Key Takeaway</vt:lpstr>
      <vt:lpstr>Sources &amp; Credits</vt:lpstr>
      <vt:lpstr>Chapter 13: Health Psychology</vt:lpstr>
      <vt:lpstr>1</vt:lpstr>
      <vt:lpstr>Medical vs Biopsychosocial Models</vt:lpstr>
      <vt:lpstr>Factors That Influence Health</vt:lpstr>
      <vt:lpstr>Behavioral Risk Factors</vt:lpstr>
      <vt:lpstr>Minimizing Behavioral Risks</vt:lpstr>
      <vt:lpstr>2</vt:lpstr>
      <vt:lpstr>Life Events and Hassles</vt:lpstr>
      <vt:lpstr>Appraisals and What Guides Them</vt:lpstr>
      <vt:lpstr>General Adaptation Syndrome</vt:lpstr>
      <vt:lpstr>Consequences of Prolonged Stress</vt:lpstr>
      <vt:lpstr>3</vt:lpstr>
      <vt:lpstr>Somatic Symptom Disorder</vt:lpstr>
      <vt:lpstr>Recognizing Illness: Bio, Psych, and Social</vt:lpstr>
      <vt:lpstr>Deciding to Seek Treatment</vt:lpstr>
      <vt:lpstr>Complementary and Alternative Medicine (CAM)</vt:lpstr>
      <vt:lpstr>Treatment Noncompliance and How to Reduce It</vt:lpstr>
      <vt:lpstr>4</vt:lpstr>
      <vt:lpstr>Three Families of Coping</vt:lpstr>
      <vt:lpstr>Traumatic Stress: Effects and Coping</vt:lpstr>
      <vt:lpstr>Acculturation Patterns and Stress</vt:lpstr>
      <vt:lpstr>College Blues: Contributors and Coping</vt:lpstr>
      <vt:lpstr>5</vt:lpstr>
      <vt:lpstr>Three Effects Triggered by Stress</vt:lpstr>
      <vt:lpstr>Planning Interventions for Each Effect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and Health</dc:title>
  <dc:creator/>
  <cp:keywords/>
  <cp:lastModifiedBy>Kristen McConkey</cp:lastModifiedBy>
  <cp:revision>1</cp:revision>
  <dcterms:created xsi:type="dcterms:W3CDTF">2026-03-24T05:53:48Z</dcterms:created>
  <dcterms:modified xsi:type="dcterms:W3CDTF">2026-03-24T06:20:05Z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lide-number">
    <vt:lpwstr>True</vt:lpwstr>
  </property>
  <property fmtid="{D5CDD505-2E9C-101B-9397-08002B2CF9AE}" pid="8" name="toc-title">
    <vt:lpwstr>Table of contents</vt:lpwstr>
  </property>
</Properties>
</file>