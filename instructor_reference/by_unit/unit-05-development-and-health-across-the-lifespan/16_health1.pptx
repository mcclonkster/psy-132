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notesMaster" Target="notesMasters/notesMaster1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Today we are using health psychology to explain why the same stressful life conditions can lead to different patterns of coping, behavior, and health.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Start with why this matters before we build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Students already know that stress can feel bad. The more useful question is why the same kind of stress can produce different outcomes across people and across time. - This lesson is about explaining that difference with a psychological model rather than with vague advice.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Two students have the same deadlines. One asks for help, sleeps enough, and recovers. The other stays stuck, sleeps badly, and starts skipping routines that usually help. - Two patients receive the same diagnosis. One has stable support and flexible time. The other has transportation barriers and high stress at home. - Two people both know sleep matters. One has stable habits and a predictable schedule. The other has night shifts, stress cues, and late-night scrolling loops.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make the targets visible so students know what they are trying to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These targets tell students that today is not just vocabulary. They will explain, compare, apply, and evaluate.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Next, give a quick roadmap so the lesson has visible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is the map for the class. We will start with the frame, move into stress, then coping and behavior, and end with evidence evaluation.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Start the frame with the core claim of health psychology.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Health psychology does not reduce health to the body alone and it does not reduce health to mindset alone. The model is biopsychosocial because outcomes reflect multiple interacting layers.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Sleep problems can involve stress, habits, schedule, environment, and body-level arousal. - High blood pressure can involve biology, chronic strain, activity, nutrition, medication use, and access to care. - Pain can involve tissue damage, fear, expectation, attention, stress, and support.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if health is biopsychosocial, biology matters less. - Correction: biology still matters. The model says biology is one part of a larger causal picture.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Move from the broad frame to a short problem students can think about before more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Give students brief individual think time first, then partner talk. - Listen for appraisal, control, coping, support, habits, barriers, and time under strain.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Debrief script - If students say personality, push for mechanism. Ask what changed in the process. - If students say stress level, ask what might have changed that level.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turn that puzzle into the core stress claim for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Students often treat stress as just a feeling word. Health psychology treats it as a response pattern that includes appraisal, body activation, coping, and later outcomes.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You notice a message from a professor and your attention narrows immediately. - You hear bad news and your body reacts before you have a full plan. - You stay keyed up for hours after a stressful event because the system did not shut down quickly.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stress is only whatever someone reports feeling. - Correction: subjective feeling matters, but stress also involves body response and behavior over time.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Once stress is framed as a response, the next distinction is short-term versus chronic activation.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Short-term stress can help people mobilize for a challenge. Chronic stress is different because the system stays activated or gets repeatedly reactivated.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One deadline this afternoon versus nonstop overload for weeks. - A single public-speaking moment versus ongoing caregiving stress. - One difficult exam versus living with unstable housing and daily uncertainty.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all stress is harmful. - Correction: short-term activation can be useful. The problem is repeated, prolonged, or poorly recovered activation.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Students now need the main levers that help explain why stress outcomes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These are four major levers in the stress process. They do not explain everything, but they help explain why the same demand can land differently.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A message from a professor can feel manageable or threatening. - A problem with a clear next step feels different from a problem with no clear action. - A student with social support has more usable resources than a student facing the same week alone. - One rough day is not the same as months of overload.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Start with appraisal because it is often the first psychological shift in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Appraisal is the interpretation step. Students do not need a jargon-heavy definition. They need to understand that appraisal shapes how the demand is read.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“Can we talk after class?” can be interpreted as manageable or as a threat. - A hard class can be read as a challenge or as proof that failure is coming. - A new symptom can be read as annoying, scary, or urgent.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appraisal is just positive thinking. - Correction: appraisal is not denial. It is the way a person interprets meaning, control, and resources.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Perceived control is important enough to separate from appraisal for 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People do not need full control for control to matter. Even partial control can change what happens next.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You can email a professor and make a plan. - You cannot change that a family member is in the hospital today. - You can control bedtime cues more than you can control your exam schedule.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if you cannot control everything, control does not matter. - Correction: even partial control can reduce strain and expand coping choices.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Check this distinction before adding body-level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Correct answer - The missed deadline usually offers more immediate control.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wrong answers - Wrong pattern: choosing the medical update because it feels more important. - Why it fails: importance and controllability are not the same thing.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Debrief script - Control is about what can be changed or acted on, not about how serious the situation feels.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connect appraisal and control to the body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slide is a bridge. Students do not need a physiology lecture. They need a reason that body-level material belongs in a health lesson.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Compare the two broad pathway patterns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Keep this simple. Students need the contrast, not a memorized anatomy chain. - The sympathetic pathway is the quick mobilization pattern. The HPA axis is a slower hormonal pathway that helps regulate stress over time.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Sudden alarm response versus staying activated through an ongoing stressful week. - Immediate jolt before a presentation versus slower wear during ongoing overload.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these are separate from psychology. - Correction: these are part of the stress process that psychology is trying to explain.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Cortisol is the part most likely to be misunderstood, so correct that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Students often learn cortisol as if one number gives a complete answer. That is too simple. Timing matters, context matters, and one reading does not explain the whole stress story.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Morning and evening readings are not interchangeable. - A stressful exam week is not the same as chronic strain over months. - One lab measure does not explain someone’s whole health pattern.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high cortisol always means more stress and low cortisol always means less stress. - Correction: interpretation depends on timing, context, and the broader pattern.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Move from one signal to the bigger long-term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is the student-facing version of allostatic load. The key idea is repeated strain across time, not one dramatic moment.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One rough day versus weeks of bad sleep and nonstop overload. - Daily stress plus limited recovery time. - Chronic strain plus low support and few options.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one bad event explains long-term wear. - Correction: repeated activation and limited recovery are the main idea.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connect stress to health outcomes without overstating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The point is not that stress automatically causes a specific disease. The point is that stress can influence multiple pathways that matter for health.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Poor sleep after chronic strain - More avoidance or substance use during overload - Harder recovery when stress and barriers pile up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if stress affects health, stress directly causes disease in a simple one-step way. - Correction: the links are real, but they are multi-step and multi-factor.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Once the strain starts, coping helps determine the next part of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Coping is not one thing. It changes the situation, the experience, or the downstream consequences.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Making a plan - Calming down enough to think clearly - Avoiding a task and creating later cost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Start with the kind of coping that tries to reduce the problem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Problem-focused coping is a good fit when part of the situation is controllable.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Email the professor. - Break the task into steps. - Ask a friend for help with transportation. - Reduce task load for the week.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problem-focused coping is always best. - Correction: it depends on whether the situation can actually be changed.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contrast that with coping that reduces emotional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Emotion-focused coping is not automatically avoidance. It can be necessary when the situation cannot be fixed immediately and a person still needs to function.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Acceptance during an uncontrollable situation - Reappraisal before acting - Calming strategies that reduce panic enough to think clearly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emotion-focused coping is weak or irrational. - Correction: it can be highly effective when the stressor is not currently controllable.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Add one more layer because some coping feels good now but creates later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is a major reality check for students. Some responses reduce distress in the moment but create worse outcomes later.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Procrastination - Numbing with substances - Doomscrolling late at night - Skipping sleep to keep working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if it lowers stress right now, it is effective coping. - Correction: some responses reduce distress now while increasing cost later.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Use a quick check to sort these coping types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Correct answer - Make a plan reduces the problem. - Calm down before acting reduces the emotional impact. - Avoid it tonight and deal with it later may create later cost.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wrong answers - Wrong pattern: calling all three “good coping.” - Why it fails: usefulness depends on fit and on later cost.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Debrief script - Ask which response is best only after asking what kind of situation it is and what cost it creates later.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Next, widen the lens from coping inside the person to support and life context around the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These factors can buffer strain, expand options, and change how hard it is for chronic stress to affect the body and behavior over time.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A ride to the clinic changes adherence. - Flexible work hours change sleep and recovery. - A supportive friend changes coping options during overload.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support helps everyone in exactly the same way. - Correction: support helps through different pathways and does not work identically in every case.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apply that logic to everyday health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Students often moralize health behavior. This slide corrects that. Knowledge matters, but behavior is shaped by cues, routines, barriers, stress, and context.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Knowing sleep matters but getting pulled into a late-night cue-routine loop - Knowing medication matters but missing doses during overload - Wanting to exercise but lacking time, safety, or transportation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if people know better, they should do better. - Correction: behavior is shaped by much more than knowledge or willpower.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Show one simple mechanism with a concrete habit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Keep this simple and concrete. A habit loop is useful here because it explains how stress and environment shape repeated behavior.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Cue: stress at night. Routine: endless scrolling. Consequence: short-term relief and worse sleep. - Cue: stress after class. Routine: quick walk and breathing. Consequence: less arousal and clearer thinking. - Cue: medication near the coffee maker. Routine: take medication. Consequence: more stable adherence.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Move from everyday routines to the formal health-behavior term students may encounter.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Adherence means following a treatment or health plan over time. It is not just a willpower issue. It reflects barriers, overload, support, and habit structure.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Missing medication during a chaotic week - Missing physical therapy when transportation falls through - Skipping appointments because time and stress pile up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nonadherence means the person does not care. - Correction: nonadherence often reflects strain, barriers, forgetfulness, cost, or unstable routines.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add one belief-related example that also teaches scientific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Placebo and expectation effects show that beliefs can change symptoms and outcomes. This does not mean symptoms are fake. It means expectation can shape experience and response.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People report less pain when they expect a treatment to help. - Expectation can change symptom perception and comfort. - Belief can alter outcomes without proving that every treatment claim is valid.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placebo means it was all in someone’s head. - Correction: placebo effects are real effects of expectation and context, not proof that symptoms were imaginary.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That is exactly why strong health claims need strong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Expectation effects are one reason controlled studies matter. Without controls, improvement can be misread as proof of a treatment effect when other explanations are possible.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People improve because they expected improvement. - People improve because symptoms naturally fluctuate. - People improve because the comparison group was different at baseline.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End the concept build with a short framework students can actually use on health headlines.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is the scientific-literacy payoff. Students should learn a short set of questions they can actually use outside class.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 bank - Did the study show a link or test a cause? - Was the effect tiny or meaningful? - Did the study address access, baseline risk, and stress exposure?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confusion - Wrong idea: if a headline says “linked to,” it proved cause. - Correction: correlation is not causation, and even good studies still need careful interpretation.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students are ready to apply the full model in a realistic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scenario is intentionally ordinary. The goal is not drama. The goal is to trace a realistic stress-and-health chain.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Give the group a clear output structure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Students should produce one specific answer for each line, not a vague paragraph. - Push for mechanism, not just labels.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Debrief script - Ask groups to compare where they agreed and where their chains differed.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After the activity, bring the class back together for comparison and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Use this to surface different interpretations before correcting them. - Ask which part of the chain seemed most important in each group’s answer.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Then correct the predictable errors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These are the predictable misunderstandings for this lesson. - Keep correction concise and tied to what students actually said.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Close by pulling the model back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slide is the lesson in compressed form. If students leave with four usable ideas, these are the four.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Ask one final applied question before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41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Ask for answers using the lesson model: appraisal, control, body response, coping, support, habit loops, and context.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Now connect this lesson to the next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track - This bridge works because today’s lesson showed that health behavior is not just knowledge. It is behavior over time under stress, cues, and constraints.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Transition - End with an exit ticket that checks both content and evidence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44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Correct answer - A response that targets the problem best fits a controllable stressor. - Asking whether the result is correlational or causal is the first step in checking a headline.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Common wrong answers - Wrong pattern: choosing the response that feels best immediately without considering control or later cost. - Why it fails: coping fit depends on what can change and what happens later. - Wrong pattern: focusing only on whether the finding sounds believable. - Why it fails: plausibility is not the same as evidence quality.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Debrief script - Collect responses individually. Use them to see whether students can apply both the stress model and the evidence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Topic 16: Health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Stress, Coping, Behavior, and Evidence</a:t>
            </a:r>
            <a:br/>
            <a:br/>
            <a:r>
              <a:rPr/>
              <a:t>Kristen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 16: Health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same stressful week can lead to very different outcomes.</a:t>
            </a:r>
          </a:p>
          <a:p>
            <a:pPr lvl="0"/>
            <a:r>
              <a:rPr/>
              <a:t>One person stabilizes.</a:t>
            </a:r>
          </a:p>
          <a:p>
            <a:pPr lvl="0"/>
            <a:r>
              <a:rPr/>
              <a:t>Another spirals.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 stress as a process involving appraisal, body response, coping, and outcomes.</a:t>
            </a:r>
          </a:p>
          <a:p>
            <a:pPr lvl="0"/>
            <a:r>
              <a:rPr/>
              <a:t>Compare coping responses by fit and by later cost.</a:t>
            </a:r>
          </a:p>
          <a:p>
            <a:pPr lvl="0"/>
            <a:r>
              <a:rPr/>
              <a:t>Apply the model to a realistic stress-and-health situation.</a:t>
            </a:r>
          </a:p>
          <a:p>
            <a:pPr lvl="0"/>
            <a:r>
              <a:rPr/>
              <a:t>Evaluate a simple health claim more carefully.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Roadmap and context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 psychology and the biopsychosocial model</a:t>
            </a:r>
          </a:p>
          <a:p>
            <a:pPr lvl="0"/>
            <a:r>
              <a:rPr/>
              <a:t>Stress over time</a:t>
            </a:r>
          </a:p>
          <a:p>
            <a:pPr lvl="0"/>
            <a:r>
              <a:rPr/>
              <a:t>Coping, support, and health behavior</a:t>
            </a:r>
          </a:p>
          <a:p>
            <a:pPr lvl="0"/>
            <a:r>
              <a:rPr/>
              <a:t>Better questions for health claims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psychology uses a biopsychosocial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 and illness reflect:</a:t>
            </a:r>
          </a:p>
          <a:p>
            <a:pPr lvl="1"/>
            <a:r>
              <a:rPr/>
              <a:t>biology</a:t>
            </a:r>
          </a:p>
          <a:p>
            <a:pPr lvl="1"/>
            <a:r>
              <a:rPr/>
              <a:t>behavior</a:t>
            </a:r>
          </a:p>
          <a:p>
            <a:pPr lvl="1"/>
            <a:r>
              <a:rPr/>
              <a:t>thoughts and emotions</a:t>
            </a:r>
          </a:p>
          <a:p>
            <a:pPr lvl="1"/>
            <a:r>
              <a:rPr/>
              <a:t>social conditions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Retrieval or warm-up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students have the same bad week:</a:t>
            </a:r>
          </a:p>
          <a:p>
            <a:pPr lvl="0"/>
            <a:r>
              <a:rPr/>
              <a:t>too much work</a:t>
            </a:r>
          </a:p>
          <a:p>
            <a:pPr lvl="0"/>
            <a:r>
              <a:rPr/>
              <a:t>not enough sleep</a:t>
            </a:r>
          </a:p>
          <a:p>
            <a:pPr lvl="0"/>
            <a:r>
              <a:rPr/>
              <a:t>no extra time</a:t>
            </a:r>
          </a:p>
          <a:p>
            <a:pPr lvl="0" indent="0" marL="0">
              <a:buNone/>
            </a:pPr>
            <a:r>
              <a:rPr/>
              <a:t>By Friday:</a:t>
            </a:r>
          </a:p>
          <a:p>
            <a:pPr lvl="0"/>
            <a:r>
              <a:rPr/>
              <a:t>one is stressed but functioning</a:t>
            </a:r>
          </a:p>
          <a:p>
            <a:pPr lvl="0"/>
            <a:r>
              <a:rPr/>
              <a:t>one is stressed and unraveling</a:t>
            </a:r>
          </a:p>
          <a:p>
            <a:pPr lvl="0" indent="0" marL="0">
              <a:buNone/>
            </a:pPr>
            <a:r>
              <a:rPr/>
              <a:t>What would psychology look at first to explain the difference?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Concept build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is not only a feeling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Stress is a body-and-mind response to demands.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Short-term and chronic stress are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Short-term stress</a:t>
            </a:r>
          </a:p>
          <a:p>
            <a:pPr lvl="0"/>
            <a:r>
              <a:rPr/>
              <a:t>can support action</a:t>
            </a:r>
          </a:p>
          <a:p>
            <a:pPr lvl="0"/>
            <a:r>
              <a:rPr/>
              <a:t>brief activation</a:t>
            </a:r>
          </a:p>
          <a:p>
            <a:pPr lvl="0"/>
            <a:r>
              <a:rPr/>
              <a:t>recovery matters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Chronic stress</a:t>
            </a:r>
          </a:p>
          <a:p>
            <a:pPr lvl="0"/>
            <a:r>
              <a:rPr/>
              <a:t>repeated or sustained activation</a:t>
            </a:r>
          </a:p>
          <a:p>
            <a:pPr lvl="0"/>
            <a:r>
              <a:rPr/>
              <a:t>harder recovery</a:t>
            </a:r>
          </a:p>
          <a:p>
            <a:pPr lvl="0"/>
            <a:r>
              <a:rPr/>
              <a:t>greater long-term strain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changes stress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appraisal</a:t>
            </a:r>
          </a:p>
          <a:p>
            <a:pPr lvl="0"/>
            <a:r>
              <a:rPr/>
              <a:t>perceived control</a:t>
            </a:r>
          </a:p>
          <a:p>
            <a:pPr lvl="0"/>
            <a:r>
              <a:rPr/>
              <a:t>available resources</a:t>
            </a:r>
          </a:p>
          <a:p>
            <a:pPr lvl="0"/>
            <a:r>
              <a:rPr/>
              <a:t>time under strain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Appraisal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does this mean?</a:t>
            </a:r>
          </a:p>
          <a:p>
            <a:pPr lvl="0"/>
            <a:r>
              <a:rPr/>
              <a:t>How much control do I have?</a:t>
            </a:r>
          </a:p>
          <a:p>
            <a:pPr lvl="0"/>
            <a:r>
              <a:rPr/>
              <a:t>What resources can I use?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Perceived control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Control changes stress intensity.</a:t>
            </a:r>
          </a:p>
          <a:p>
            <a:pPr lvl="0"/>
            <a:r>
              <a:rPr/>
              <a:t>Control changes coping options.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situation gives a person more usable control right now?</a:t>
            </a:r>
          </a:p>
          <a:p>
            <a:pPr lvl="0"/>
            <a:r>
              <a:rPr/>
              <a:t>a missed deadline that can still be addressed</a:t>
            </a:r>
          </a:p>
          <a:p>
            <a:pPr lvl="0"/>
            <a:r>
              <a:rPr/>
              <a:t>a medical update that cannot be changed today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body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Stress affects action now.</a:t>
            </a:r>
          </a:p>
          <a:p>
            <a:pPr lvl="0"/>
            <a:r>
              <a:rPr/>
              <a:t>Stress can also create strain over time.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Fast and slower stress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Sympathetic pathway</a:t>
            </a:r>
          </a:p>
          <a:p>
            <a:pPr lvl="0"/>
            <a:r>
              <a:rPr/>
              <a:t>faster activation</a:t>
            </a:r>
          </a:p>
          <a:p>
            <a:pPr lvl="0"/>
            <a:r>
              <a:rPr/>
              <a:t>prepares immediate action</a:t>
            </a:r>
          </a:p>
          <a:p>
            <a:pPr lvl="0"/>
            <a:r>
              <a:rPr/>
              <a:t>short time scale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HPA axis</a:t>
            </a:r>
          </a:p>
          <a:p>
            <a:pPr lvl="0"/>
            <a:r>
              <a:rPr/>
              <a:t>slower stress pathway</a:t>
            </a:r>
          </a:p>
          <a:p>
            <a:pPr lvl="0"/>
            <a:r>
              <a:rPr/>
              <a:t>involves cortisol</a:t>
            </a:r>
          </a:p>
          <a:p>
            <a:pPr lvl="0"/>
            <a:r>
              <a:rPr/>
              <a:t>longer time scale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Cortisol needs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Cortisol is part of stress response.</a:t>
            </a:r>
          </a:p>
          <a:p>
            <a:pPr lvl="0"/>
            <a:r>
              <a:rPr/>
              <a:t>It is not a simple stress meter.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Chronic activation can create wear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repeated activation</a:t>
            </a:r>
          </a:p>
          <a:p>
            <a:pPr lvl="0"/>
            <a:r>
              <a:rPr/>
              <a:t>harder recovery</a:t>
            </a:r>
          </a:p>
          <a:p>
            <a:pPr lvl="0"/>
            <a:r>
              <a:rPr/>
              <a:t>cumulative wear over time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and health links are real but 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Stress can shape:</a:t>
            </a:r>
          </a:p>
          <a:p>
            <a:pPr lvl="1"/>
            <a:r>
              <a:rPr/>
              <a:t>sleep and recovery</a:t>
            </a:r>
          </a:p>
          <a:p>
            <a:pPr lvl="1"/>
            <a:r>
              <a:rPr/>
              <a:t>attention and decisions</a:t>
            </a:r>
          </a:p>
          <a:p>
            <a:pPr lvl="1"/>
            <a:r>
              <a:rPr/>
              <a:t>health behavior</a:t>
            </a:r>
          </a:p>
          <a:p>
            <a:pPr lvl="1"/>
            <a:r>
              <a:rPr/>
              <a:t>immune-related outcomes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Coping changes the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Coping can change:</a:t>
            </a:r>
          </a:p>
          <a:p>
            <a:pPr lvl="1"/>
            <a:r>
              <a:rPr/>
              <a:t>the problem</a:t>
            </a:r>
          </a:p>
          <a:p>
            <a:pPr lvl="1"/>
            <a:r>
              <a:rPr/>
              <a:t>the emotional impact</a:t>
            </a:r>
          </a:p>
          <a:p>
            <a:pPr lvl="1"/>
            <a:r>
              <a:rPr/>
              <a:t>what happens next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Problem-focused 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 the problem</a:t>
            </a:r>
          </a:p>
          <a:p>
            <a:pPr lvl="0"/>
            <a:r>
              <a:rPr/>
              <a:t>best when something can change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Emotion-focused 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 distress</a:t>
            </a:r>
          </a:p>
          <a:p>
            <a:pPr lvl="0"/>
            <a:r>
              <a:rPr/>
              <a:t>best when the stressor cannot change right now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coping helps now but costs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short-term relief</a:t>
            </a:r>
          </a:p>
          <a:p>
            <a:pPr lvl="0"/>
            <a:r>
              <a:rPr/>
              <a:t>long-term cost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stressful situation, three responses:</a:t>
            </a:r>
          </a:p>
          <a:p>
            <a:pPr lvl="0"/>
            <a:r>
              <a:rPr/>
              <a:t>make a plan</a:t>
            </a:r>
          </a:p>
          <a:p>
            <a:pPr lvl="0"/>
            <a:r>
              <a:rPr/>
              <a:t>calm down before acting</a:t>
            </a:r>
          </a:p>
          <a:p>
            <a:pPr lvl="0"/>
            <a:r>
              <a:rPr/>
              <a:t>avoid it tonight and deal with it later</a:t>
            </a:r>
          </a:p>
          <a:p>
            <a:pPr lvl="0" indent="0" marL="0">
              <a:buNone/>
            </a:pPr>
            <a:r>
              <a:rPr/>
              <a:t>Which response:</a:t>
            </a:r>
          </a:p>
          <a:p>
            <a:pPr lvl="0"/>
            <a:r>
              <a:rPr/>
              <a:t>reduces the problem</a:t>
            </a:r>
          </a:p>
          <a:p>
            <a:pPr lvl="0"/>
            <a:r>
              <a:rPr/>
              <a:t>reduces the emotional impact</a:t>
            </a:r>
          </a:p>
          <a:p>
            <a:pPr lvl="0"/>
            <a:r>
              <a:rPr/>
              <a:t>may create later cost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Support, control, and context change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social support</a:t>
            </a:r>
          </a:p>
          <a:p>
            <a:pPr lvl="0"/>
            <a:r>
              <a:rPr/>
              <a:t>perceived control</a:t>
            </a:r>
          </a:p>
          <a:p>
            <a:pPr lvl="0"/>
            <a:r>
              <a:rPr/>
              <a:t>life context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behavior is not just willpower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behavior reflects:</a:t>
            </a:r>
          </a:p>
          <a:p>
            <a:pPr lvl="1"/>
            <a:r>
              <a:rPr/>
              <a:t>learning</a:t>
            </a:r>
          </a:p>
          <a:p>
            <a:pPr lvl="1"/>
            <a:r>
              <a:rPr/>
              <a:t>environment</a:t>
            </a:r>
          </a:p>
          <a:p>
            <a:pPr lvl="1"/>
            <a:r>
              <a:rPr/>
              <a:t>habit loops</a:t>
            </a:r>
          </a:p>
          <a:p>
            <a:pPr lvl="1"/>
            <a:r>
              <a:rPr/>
              <a:t>stress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Habit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cue</a:t>
            </a:r>
          </a:p>
          <a:p>
            <a:pPr lvl="0"/>
            <a:r>
              <a:rPr/>
              <a:t>routine</a:t>
            </a:r>
          </a:p>
          <a:p>
            <a:pPr lvl="0"/>
            <a:r>
              <a:rPr/>
              <a:t>consequence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Adherence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Adherence is shaped by:</a:t>
            </a:r>
          </a:p>
          <a:p>
            <a:pPr lvl="1"/>
            <a:r>
              <a:rPr/>
              <a:t>stress</a:t>
            </a:r>
          </a:p>
          <a:p>
            <a:pPr lvl="1"/>
            <a:r>
              <a:rPr/>
              <a:t>barriers</a:t>
            </a:r>
          </a:p>
          <a:p>
            <a:pPr lvl="1"/>
            <a:r>
              <a:rPr/>
              <a:t>memory</a:t>
            </a:r>
          </a:p>
          <a:p>
            <a:pPr lvl="1"/>
            <a:r>
              <a:rPr/>
              <a:t>support</a:t>
            </a:r>
          </a:p>
          <a:p>
            <a:pPr lvl="1"/>
            <a:r>
              <a:rPr/>
              <a:t>routine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Beliefs can change symptoms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expectation matters</a:t>
            </a:r>
          </a:p>
          <a:p>
            <a:pPr lvl="0"/>
            <a:r>
              <a:rPr/>
              <a:t>placebo effects are real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health claims need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good comparisons matter</a:t>
            </a:r>
          </a:p>
          <a:p>
            <a:pPr lvl="0"/>
            <a:r>
              <a:rPr/>
              <a:t>replication matters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evaluate a health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Ask:</a:t>
            </a:r>
          </a:p>
          <a:p>
            <a:pPr lvl="0"/>
            <a:r>
              <a:rPr/>
              <a:t>correlation or causation</a:t>
            </a:r>
          </a:p>
          <a:p>
            <a:pPr lvl="0"/>
            <a:r>
              <a:rPr/>
              <a:t>effect size</a:t>
            </a:r>
          </a:p>
          <a:p>
            <a:pPr lvl="0"/>
            <a:r>
              <a:rPr/>
              <a:t>confounds addressed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Student processing activity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Processing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student is:</a:t>
            </a:r>
          </a:p>
          <a:p>
            <a:pPr lvl="0"/>
            <a:r>
              <a:rPr/>
              <a:t>working many hours</a:t>
            </a:r>
          </a:p>
          <a:p>
            <a:pPr lvl="0"/>
            <a:r>
              <a:rPr/>
              <a:t>behind on two assignments</a:t>
            </a:r>
          </a:p>
          <a:p>
            <a:pPr lvl="0"/>
            <a:r>
              <a:rPr/>
              <a:t>sleeping badly</a:t>
            </a:r>
          </a:p>
          <a:p>
            <a:pPr lvl="0"/>
            <a:r>
              <a:rPr/>
              <a:t>skipping routines that usually help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Identify:</a:t>
            </a:r>
          </a:p>
          <a:p>
            <a:pPr lvl="0"/>
            <a:r>
              <a:rPr/>
              <a:t>one biopsychosocial factor</a:t>
            </a:r>
          </a:p>
          <a:p>
            <a:pPr lvl="0"/>
            <a:r>
              <a:rPr/>
              <a:t>one likely appraisal</a:t>
            </a:r>
          </a:p>
          <a:p>
            <a:pPr lvl="0"/>
            <a:r>
              <a:rPr/>
              <a:t>one body-level stress effect</a:t>
            </a:r>
          </a:p>
          <a:p>
            <a:pPr lvl="0"/>
            <a:r>
              <a:rPr/>
              <a:t>one coping response</a:t>
            </a:r>
          </a:p>
          <a:p>
            <a:pPr lvl="0"/>
            <a:r>
              <a:rPr/>
              <a:t>one possible later cost</a:t>
            </a:r>
          </a:p>
          <a:p>
            <a:pPr lvl="0"/>
            <a:r>
              <a:rPr/>
              <a:t>one support or context factor</a:t>
            </a:r>
          </a:p>
          <a:p>
            <a:pPr lvl="0"/>
            <a:r>
              <a:rPr/>
              <a:t>one health behavior effect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Debrief and feedback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did your group predict first?</a:t>
            </a:r>
          </a:p>
          <a:p>
            <a:pPr lvl="0"/>
            <a:r>
              <a:rPr/>
              <a:t>Where did your chains differ?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 to correct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stress is not only a feeling</a:t>
            </a:r>
          </a:p>
          <a:p>
            <a:pPr lvl="0"/>
            <a:r>
              <a:rPr/>
              <a:t>relief now is not always better later</a:t>
            </a:r>
          </a:p>
          <a:p>
            <a:pPr lvl="0"/>
            <a:r>
              <a:rPr/>
              <a:t>health behavior is not just willpower</a:t>
            </a:r>
          </a:p>
          <a:p>
            <a:pPr lvl="0"/>
            <a:r>
              <a:rPr/>
              <a:t>beliefs matter, but that does not prove every claim</a:t>
            </a:r>
          </a:p>
          <a:p>
            <a:pPr lvl="0"/>
            <a:r>
              <a:rPr/>
              <a:t>support does not work the same way in every case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Synthesis or application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 reflects body, behavior, mind, and context.</a:t>
            </a:r>
          </a:p>
          <a:p>
            <a:pPr lvl="0"/>
            <a:r>
              <a:rPr/>
              <a:t>Chronic strain changes the picture.</a:t>
            </a:r>
          </a:p>
          <a:p>
            <a:pPr lvl="0"/>
            <a:r>
              <a:rPr/>
              <a:t>Coping, support, and habits shape outcomes.</a:t>
            </a:r>
          </a:p>
          <a:p>
            <a:pPr lvl="0"/>
            <a:r>
              <a:rPr/>
              <a:t>Good health claims need good evidence.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Applied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can the same stressful life conditions produce different health outcomes?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Closure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to Topic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 behavior unfolds over time.</a:t>
            </a:r>
          </a:p>
          <a:p>
            <a:pPr lvl="0"/>
            <a:r>
              <a:rPr/>
              <a:t>Motivation helps explain starting, persisting, and stopping.</a:t>
            </a:r>
          </a:p>
          <a:p>
            <a:pPr lvl="0"/>
            <a:r>
              <a:rPr/>
              <a:t>Next: needs, incentives, goals, and self-regulation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Exit ticket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Which response best fits a controllable stressor?</a:t>
            </a:r>
          </a:p>
          <a:p>
            <a:pPr lvl="0"/>
            <a:r>
              <a:rPr/>
              <a:t>Which question best checks whether a headline proved cause?</a:t>
            </a:r>
          </a:p>
          <a:p>
            <a:pPr lvl="0"/>
            <a:r>
              <a:rPr/>
              <a:t>In 1 to 3 sentences, explain one way support, control, or context could change a health outcome during a stressful week.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16: Health</dc:title>
  <dc:creator>Kristen</dc:creator>
  <cp:keywords/>
  <dcterms:created xsi:type="dcterms:W3CDTF">2026-03-24T06:18:35Z</dcterms:created>
  <dcterms:modified xsi:type="dcterms:W3CDTF">2026-03-24T06:18:35Z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2026-03-24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igin">
    <vt:lpwstr>chat</vt:lpwstr>
  </property>
  <property fmtid="{D5CDD505-2E9C-101B-9397-08002B2CF9AE}" pid="12" name="slide-number">
    <vt:lpwstr>True</vt:lpwstr>
  </property>
  <property fmtid="{D5CDD505-2E9C-101B-9397-08002B2CF9AE}" pid="13" name="subtitle">
    <vt:lpwstr>Stress, Coping, Behavior, and Evidence</vt:lpwstr>
  </property>
  <property fmtid="{D5CDD505-2E9C-101B-9397-08002B2CF9AE}" pid="14" name="toc-title">
    <vt:lpwstr>Table of contents</vt:lpwstr>
  </property>
</Properties>
</file>