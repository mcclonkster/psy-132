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### How psychologists explain why behavior starts, changes, and continues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Three students all turn in their work on time.</a:t>
            </a:r>
          </a:p>
          <a:p>
            <a:pPr/>
            <a:r>
              <a:t>One enjoys the class</a:t>
            </a:r>
          </a:p>
          <a:p>
            <a:pPr/>
            <a:r>
              <a:t>One is afraid of failing</a:t>
            </a:r>
          </a:p>
          <a:p>
            <a:pPr/>
            <a:r>
              <a:t>One keeps procrastinating, then panic-finishes</a:t>
            </a:r>
          </a:p>
          <a:p>
            <a:pPr/>
            <a:r>
              <a:t>Think: 1 minute</a:t>
            </a:r>
          </a:p>
          <a:p>
            <a:pPr/>
            <a:r>
              <a:t>Pair: 2 minutes</a:t>
            </a:r>
          </a:p>
          <a:p>
            <a:pPr/>
            <a:r>
              <a:t>Share: 2 responses</a:t>
            </a:r>
          </a:p>
          <a:p>
            <a:pPr/>
            <a:r>
              <a:t>Question:</a:t>
            </a:r>
          </a:p>
          <a:p>
            <a:pPr/>
            <a:r>
              <a:t>Are these the same kind of motivation?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behavior can come from different reasons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Turning work in on time does not automatically mean:</a:t>
            </a:r>
          </a:p>
          <a:p>
            <a:pPr/>
            <a:r>
              <a:t>interest</a:t>
            </a:r>
          </a:p>
          <a:p>
            <a:pPr/>
            <a:r>
              <a:t>confidence</a:t>
            </a:r>
          </a:p>
          <a:p>
            <a:pPr/>
            <a:r>
              <a:t>healthy motivation</a:t>
            </a:r>
          </a:p>
          <a:p>
            <a:pPr/>
            <a:r>
              <a:t>low stress</a:t>
            </a:r>
          </a:p>
          <a:p>
            <a:pPr/>
            <a:r>
              <a:t>strong 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helps explain why people start, choose, and keep doing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Motivation is the process that:</a:t>
            </a:r>
          </a:p>
          <a:p>
            <a:pPr/>
            <a:r>
              <a:t>energizes behavior</a:t>
            </a:r>
          </a:p>
          <a:p>
            <a:pPr/>
            <a:r>
              <a:t>directs behavior</a:t>
            </a:r>
          </a:p>
          <a:p>
            <a:pPr/>
            <a:r>
              <a:t>sustains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is not a trait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Motivation is not the same as:</a:t>
            </a:r>
          </a:p>
          <a:p>
            <a:pPr/>
            <a:r>
              <a:t>being a “motivated person”</a:t>
            </a:r>
          </a:p>
          <a:p>
            <a:pPr/>
            <a:r>
              <a:t>having stronger character</a:t>
            </a:r>
          </a:p>
          <a:p>
            <a:pPr/>
            <a:r>
              <a:t>caring more than everyone else</a:t>
            </a:r>
          </a:p>
          <a:p>
            <a:pPr/>
            <a:r>
              <a:t>having more willpower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is not the same as 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 student may:</a:t>
            </a:r>
          </a:p>
          <a:p>
            <a:pPr/>
            <a:r>
              <a:t>understand the material but not start</a:t>
            </a:r>
          </a:p>
          <a:p>
            <a:pPr/>
            <a:r>
              <a:t>care about the outcome but still avoid the task</a:t>
            </a:r>
          </a:p>
          <a:p>
            <a:pPr/>
            <a:r>
              <a:t>want success but not believe success is possible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barrier here?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 student avoids starting a paper because they think:</a:t>
            </a:r>
          </a:p>
          <a:p>
            <a:pPr/>
            <a:r>
              <a:t>“I am bad at this anyway.”</a:t>
            </a:r>
          </a:p>
          <a:p>
            <a:pPr/>
            <a:r>
              <a:t>What seems most central?</a:t>
            </a:r>
          </a:p>
          <a:p>
            <a:pPr/>
            <a:r>
              <a:t>low motivation</a:t>
            </a:r>
          </a:p>
          <a:p>
            <a:pPr/>
            <a:r>
              <a:t>low ability</a:t>
            </a:r>
          </a:p>
          <a:p>
            <a:pPr/>
            <a:r>
              <a:t>low confidence</a:t>
            </a:r>
          </a:p>
          <a:p>
            <a:pPr/>
            <a:r>
              <a:t>some combination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behavior can come from more than one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Studying for an exam might be driven by:</a:t>
            </a:r>
          </a:p>
          <a:p>
            <a:pPr/>
            <a:r>
              <a:t>interest</a:t>
            </a:r>
          </a:p>
          <a:p>
            <a:pPr/>
            <a:r>
              <a:t>fear</a:t>
            </a:r>
          </a:p>
          <a:p>
            <a:pPr/>
            <a:r>
              <a:t>grades</a:t>
            </a:r>
          </a:p>
          <a:p>
            <a:pPr/>
            <a:r>
              <a:t>habit</a:t>
            </a:r>
          </a:p>
          <a:p>
            <a:pPr/>
            <a:r>
              <a:t>confidence</a:t>
            </a:r>
          </a:p>
          <a:p>
            <a:pPr/>
            <a:r>
              <a:t>pressure</a:t>
            </a:r>
          </a:p>
          <a:p>
            <a:pPr/>
            <a:r>
              <a:t>future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better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Instead of asking:</a:t>
            </a:r>
          </a:p>
          <a:p>
            <a:pPr/>
            <a:r>
              <a:t>“Is this person motivated?”</a:t>
            </a:r>
          </a:p>
          <a:p>
            <a:pPr/>
            <a:r>
              <a:t>Ask:</a:t>
            </a:r>
          </a:p>
          <a:p>
            <a:pPr/>
            <a:r>
              <a:t>“What is driving this behavior?”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 can be shaped by what is happening inside a person and around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Behavior can be shaped by:</a:t>
            </a:r>
          </a:p>
          <a:p>
            <a:pPr/>
            <a:r>
              <a:t>internal states</a:t>
            </a:r>
          </a:p>
          <a:p>
            <a:pPr/>
            <a:r>
              <a:t>external incentives</a:t>
            </a:r>
          </a:p>
          <a:p>
            <a:pPr/>
            <a:r>
              <a:t>Many behaviors involve both.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useful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b="1"/>
              <a:t>Need → Drive → Response → Goal</a:t>
            </a:r>
          </a:p>
          <a:p>
            <a:pPr/>
            <a:r>
              <a:t>Need: something is out of balance</a:t>
            </a:r>
          </a:p>
          <a:p>
            <a:pPr/>
            <a:r>
              <a:t>Drive: internal push</a:t>
            </a:r>
          </a:p>
          <a:p>
            <a:pPr/>
            <a:r>
              <a:t>Response: behavior</a:t>
            </a:r>
          </a:p>
          <a:p>
            <a:pPr/>
            <a:r>
              <a:t>Goal: reduce the need or satisfy the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 theory and homeostasis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Drive theory helps explain how internal imbalance can push behavior.</a:t>
            </a:r>
          </a:p>
          <a:p>
            <a:pPr/>
            <a:r>
              <a:t>Homeostasis refers to the body’s tendency to maintain internal balance.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Biology matters, but it does not explain behavior all by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Hunger shows that motivation can be shaped by:</a:t>
            </a:r>
          </a:p>
          <a:p>
            <a:pPr/>
            <a:r>
              <a:t>body signals</a:t>
            </a:r>
          </a:p>
          <a:p>
            <a:pPr/>
            <a:r>
              <a:t>internal balance</a:t>
            </a:r>
          </a:p>
          <a:p>
            <a:pPr/>
            <a:r>
              <a:t>cues in the environment</a:t>
            </a:r>
          </a:p>
          <a:p>
            <a:pPr/>
            <a:r>
              <a:t>learning and habits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shaping this behavior?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You already ate.</a:t>
            </a:r>
          </a:p>
          <a:p>
            <a:pPr/>
            <a:r>
              <a:t>Then someone opens hot fries near you.</a:t>
            </a:r>
          </a:p>
          <a:p>
            <a:pPr/>
            <a:r>
              <a:t>Now you want some.</a:t>
            </a:r>
          </a:p>
          <a:p>
            <a:pPr/>
            <a:r>
              <a:t>What seems to be shaping the behavior?</a:t>
            </a:r>
          </a:p>
          <a:p>
            <a:pPr/>
            <a:r>
              <a:t>internal state</a:t>
            </a:r>
          </a:p>
          <a:p>
            <a:pPr/>
            <a:r>
              <a:t>external cue</a:t>
            </a:r>
          </a:p>
          <a:p>
            <a:pPr/>
            <a:r>
              <a:t>both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Intrinsic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Intrinsic motivation means the activity itself matters.</a:t>
            </a:r>
          </a:p>
          <a:p>
            <a:pPr/>
            <a:r>
              <a:t>Examples:</a:t>
            </a:r>
          </a:p>
          <a:p>
            <a:pPr/>
            <a:r>
              <a:t>interest</a:t>
            </a:r>
          </a:p>
          <a:p>
            <a:pPr/>
            <a:r>
              <a:t>enjoyment</a:t>
            </a:r>
          </a:p>
          <a:p>
            <a:pPr/>
            <a:r>
              <a:t>challenge</a:t>
            </a:r>
          </a:p>
          <a:p>
            <a:pPr/>
            <a:r>
              <a:t>personal meaning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Extrinsic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Extrinsic motivation means the activity is a way to get something else.</a:t>
            </a:r>
          </a:p>
          <a:p>
            <a:pPr/>
            <a:r>
              <a:t>Examples:</a:t>
            </a:r>
          </a:p>
          <a:p>
            <a:pPr/>
            <a:r>
              <a:t>grades</a:t>
            </a:r>
          </a:p>
          <a:p>
            <a:pPr/>
            <a:r>
              <a:t>money</a:t>
            </a:r>
          </a:p>
          <a:p>
            <a:pPr/>
            <a:r>
              <a:t>approval</a:t>
            </a:r>
          </a:p>
          <a:p>
            <a:pPr/>
            <a:r>
              <a:t>avoiding punishment</a:t>
            </a:r>
          </a:p>
          <a:p>
            <a:pPr/>
            <a:r>
              <a:t>getting it over with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Rewards can help, but they can also change why someone is doing something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Rewards can:</a:t>
            </a:r>
          </a:p>
          <a:p>
            <a:pPr/>
            <a:r>
              <a:t>support action</a:t>
            </a:r>
          </a:p>
          <a:p>
            <a:pPr/>
            <a:r>
              <a:t>do very little</a:t>
            </a:r>
          </a:p>
          <a:p>
            <a:pPr/>
            <a:r>
              <a:t>backfire</a:t>
            </a:r>
          </a:p>
          <a:p>
            <a:pPr/>
            <a:r>
              <a:t>What matters is what kind of motivation they create or replace.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 reward can shift behavior from:</a:t>
            </a:r>
          </a:p>
          <a:p>
            <a:pPr/>
            <a:r>
              <a:t>“I do this because I value or enjoy it”</a:t>
            </a:r>
          </a:p>
          <a:p>
            <a:pPr/>
            <a:r>
              <a:t>to</a:t>
            </a:r>
          </a:p>
          <a:p>
            <a:pPr/>
            <a:r>
              <a:t>“I do this because I get something for it”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Would the reward likely:</a:t>
            </a:r>
          </a:p>
          <a:p>
            <a:pPr/>
            <a:r>
              <a:t>support action</a:t>
            </a:r>
          </a:p>
          <a:p>
            <a:pPr/>
            <a:r>
              <a:t>have little effect</a:t>
            </a:r>
          </a:p>
          <a:p>
            <a:pPr/>
            <a:r>
              <a:t>weaken interest</a:t>
            </a:r>
          </a:p>
          <a:p>
            <a:pPr/>
            <a:r>
              <a:t>Examples:</a:t>
            </a:r>
          </a:p>
          <a:p>
            <a:pPr/>
            <a:r>
              <a:t>paying for a hobby someone already loves</a:t>
            </a:r>
          </a:p>
          <a:p>
            <a:pPr/>
            <a:r>
              <a:t>encouraging practice on a hard skill</a:t>
            </a:r>
          </a:p>
          <a:p>
            <a:pPr/>
            <a:r>
              <a:t>offering a small reward to start an unpleasant task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Pressure can help performance or hurt it, depending on the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More activation is not always better.</a:t>
            </a:r>
          </a:p>
          <a:p>
            <a:pPr/>
            <a:r>
              <a:t>Sometimes pressure helps.</a:t>
            </a:r>
          </a:p>
          <a:p>
            <a:pPr/>
            <a:r>
              <a:t>Sometimes pressure interferes.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Arousal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 general:</a:t>
            </a:r>
          </a:p>
          <a:p>
            <a:pPr/>
            <a:r>
              <a:t>too little arousal can lower focus</a:t>
            </a:r>
          </a:p>
          <a:p>
            <a:pPr/>
            <a:r>
              <a:t>too much arousal can disrupt performance</a:t>
            </a:r>
          </a:p>
          <a:p>
            <a:pPr/>
            <a:r>
              <a:t>the most effective level depends on the task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demands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Higher activation may help with:</a:t>
            </a:r>
          </a:p>
          <a:p>
            <a:pPr/>
            <a:r>
              <a:t>simple tasks</a:t>
            </a:r>
          </a:p>
          <a:p>
            <a:pPr/>
            <a:r>
              <a:t>familiar tasks</a:t>
            </a:r>
          </a:p>
          <a:p>
            <a:pPr/>
            <a:r>
              <a:t>repetitive tasks</a:t>
            </a:r>
          </a:p>
          <a:p>
            <a:pPr/>
            <a:r>
              <a:t>Lower or moderate activation may help with:</a:t>
            </a:r>
          </a:p>
          <a:p>
            <a:pPr/>
            <a:r>
              <a:t>difficult tasks</a:t>
            </a:r>
          </a:p>
          <a:p>
            <a:pPr/>
            <a:r>
              <a:t>complex tasks</a:t>
            </a:r>
          </a:p>
          <a:p>
            <a:pPr/>
            <a:r>
              <a:t>unfamiliar tasks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task is more likely to suffer under very high pressure?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folding laundry</a:t>
            </a:r>
          </a:p>
          <a:p>
            <a:pPr/>
            <a:r>
              <a:t>solving a hard exam problem</a:t>
            </a:r>
          </a:p>
          <a:p>
            <a:pPr/>
            <a:r>
              <a:t>both</a:t>
            </a:r>
          </a:p>
          <a:p>
            <a:pPr/>
            <a:r>
              <a:t>depends on the person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Believing you can do something affects whether you actually do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People sometimes care deeply</a:t>
            </a:r>
          </a:p>
          <a:p>
            <a:pPr/>
            <a:r>
              <a:t>and still do not act.</a:t>
            </a:r>
          </a:p>
          <a:p>
            <a:pPr/>
            <a:r>
              <a:t>Why?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Self-efficacy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Self-efficacy is a person’s belief that they can do what the task requires.</a:t>
            </a:r>
          </a:p>
          <a:p>
            <a:pPr/>
            <a:r>
              <a:t>It answers:</a:t>
            </a:r>
          </a:p>
          <a:p>
            <a:pPr/>
            <a:r>
              <a:t>“Can I do this?”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Self-efficacy is not self-esteem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Self-efficacy: belief about capability for a task</a:t>
            </a:r>
          </a:p>
          <a:p>
            <a:pPr/>
            <a:r>
              <a:t>Self-esteem: broader evaluation of self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looks like low motivation may be something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What may look like low motivation may actually be:</a:t>
            </a:r>
          </a:p>
          <a:p>
            <a:pPr/>
            <a:r>
              <a:t>low confidence</a:t>
            </a:r>
          </a:p>
          <a:p>
            <a:pPr/>
            <a:r>
              <a:t>overload</a:t>
            </a:r>
          </a:p>
          <a:p>
            <a:pPr/>
            <a:r>
              <a:t>unclear next step</a:t>
            </a:r>
          </a:p>
          <a:p>
            <a:pPr/>
            <a:r>
              <a:t>fear of failure</a:t>
            </a:r>
          </a:p>
          <a:p>
            <a:pPr/>
            <a:r>
              <a:t>poor reward structure</a:t>
            </a:r>
          </a:p>
          <a:p>
            <a:pPr/>
            <a:r>
              <a:t>too much pressure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seems most relevant?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Think of a task you avoided recently.</a:t>
            </a:r>
          </a:p>
          <a:p>
            <a:pPr/>
            <a:r>
              <a:t>What seems most relevant?</a:t>
            </a:r>
          </a:p>
          <a:p>
            <a:pPr/>
            <a:r>
              <a:t>low interest</a:t>
            </a:r>
          </a:p>
          <a:p>
            <a:pPr/>
            <a:r>
              <a:t>weak reward</a:t>
            </a:r>
          </a:p>
          <a:p>
            <a:pPr/>
            <a:r>
              <a:t>too much pressure</a:t>
            </a:r>
          </a:p>
          <a:p>
            <a:pPr/>
            <a:r>
              <a:t>low confidence</a:t>
            </a:r>
          </a:p>
          <a:p>
            <a:pPr/>
            <a:r>
              <a:t>unclear next step</a:t>
            </a:r>
          </a:p>
          <a:p>
            <a:pPr/>
            <a:r>
              <a:t>some combination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motivation includes both basic needs and growth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Maslow offers a broad way to organize needs:</a:t>
            </a:r>
          </a:p>
          <a:p>
            <a:pPr/>
            <a:r>
              <a:t>physiological</a:t>
            </a:r>
          </a:p>
          <a:p>
            <a:pPr/>
            <a:r>
              <a:t>safety</a:t>
            </a:r>
          </a:p>
          <a:p>
            <a:pPr/>
            <a:r>
              <a:t>belonging</a:t>
            </a:r>
          </a:p>
          <a:p>
            <a:pPr/>
            <a:r>
              <a:t>esteem</a:t>
            </a:r>
          </a:p>
          <a:p>
            <a:pPr/>
            <a:r>
              <a:t>self-actualization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Maslow is useful, not a rulebook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Maslow is useful for:</a:t>
            </a:r>
          </a:p>
          <a:p>
            <a:pPr/>
            <a:r>
              <a:t>organizing kinds of needs</a:t>
            </a:r>
          </a:p>
          <a:p>
            <a:pPr/>
            <a:r>
              <a:t>seeing motivation as broader than reward and punishment</a:t>
            </a:r>
          </a:p>
          <a:p>
            <a:pPr/>
            <a:r>
              <a:t>recognizing the importance of belonging and esteem</a:t>
            </a:r>
          </a:p>
          <a:p>
            <a:pPr/>
            <a:r>
              <a:t>Maslow is not:</a:t>
            </a:r>
          </a:p>
          <a:p>
            <a:pPr/>
            <a:r>
              <a:t>a rigid staircase</a:t>
            </a:r>
          </a:p>
          <a:p>
            <a:pPr/>
            <a:r>
              <a:t>a complete theory of behavior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Better questions lead to better explanations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Instead of saying:</a:t>
            </a:r>
          </a:p>
          <a:p>
            <a:pPr/>
            <a:r>
              <a:t>“They are lazy”</a:t>
            </a:r>
          </a:p>
          <a:p>
            <a:pPr/>
            <a:r>
              <a:t>“They just do not care”</a:t>
            </a:r>
          </a:p>
          <a:p>
            <a:pPr/>
            <a:r>
              <a:t>“They are motivated”</a:t>
            </a:r>
          </a:p>
          <a:p>
            <a:pPr/>
            <a:r>
              <a:t>Ask:</a:t>
            </a:r>
          </a:p>
          <a:p>
            <a:pPr/>
            <a:r>
              <a:t>What need is operating?</a:t>
            </a:r>
          </a:p>
          <a:p>
            <a:pPr/>
            <a:r>
              <a:t>What incentive is present?</a:t>
            </a:r>
          </a:p>
          <a:p>
            <a:pPr/>
            <a:r>
              <a:t>Is arousal helping or hurting?</a:t>
            </a:r>
          </a:p>
          <a:p>
            <a:pPr/>
            <a:r>
              <a:t>Does the person believe they can succeed?</a:t>
            </a:r>
          </a:p>
          <a:p>
            <a:pPr/>
            <a:r>
              <a:t>What is the context doing?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written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Complete this sentence:</a:t>
            </a:r>
          </a:p>
          <a:p>
            <a:pPr/>
            <a:r>
              <a:t>One idea from today that changes how I think about behavior is...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Motivation is not a fixed trait.</a:t>
            </a:r>
          </a:p>
          <a:p>
            <a:pPr/>
            <a:r>
              <a:t>It is a changeable process shaped by:</a:t>
            </a:r>
          </a:p>
          <a:p>
            <a:pPr/>
            <a:r>
              <a:t>needs</a:t>
            </a:r>
          </a:p>
          <a:p>
            <a:pPr/>
            <a:r>
              <a:t>incentives</a:t>
            </a:r>
          </a:p>
          <a:p>
            <a:pPr/>
            <a:r>
              <a:t>arousal</a:t>
            </a:r>
          </a:p>
          <a:p>
            <a:pPr/>
            <a:r>
              <a:t>beliefs about capability</a:t>
            </a:r>
          </a:p>
          <a:p>
            <a:pPr/>
            <a:r>
              <a:t>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