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notesMaster" Target="notesMasters/notesMaster1.xml" /><Relationship Id="rId33" Type="http://schemas.openxmlformats.org/officeDocument/2006/relationships/viewProps" Target="viewProps.xml" /><Relationship Id="rId32" Type="http://schemas.openxmlformats.org/officeDocument/2006/relationships/presProps" Target="presProps.xml" /><Relationship Id="rId1" Type="http://schemas.openxmlformats.org/officeDocument/2006/relationships/slideMaster" Target="slideMasters/slideMaster1.xml" /><Relationship Id="rId35" Type="http://schemas.openxmlformats.org/officeDocument/2006/relationships/tableStyles" Target="tableStyles.xml" /><Relationship Id="rId3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Script: Open with the big framing question: “Why do people do what they do?” Tell students that today’s goal is to use motivation theories as tools for explanation, not just to collect vocabulary.</a:t>
            </a:r>
          </a:p>
          <a:p>
            <a:pPr lvl="0" indent="0" marL="0">
              <a:buNone/>
            </a:pPr>
          </a:p>
          <a:p>
            <a:pPr lvl="0"/>
            <a:r>
              <a:rPr/>
              <a:t>Recurring examples for instructor planning: exam-day student; social decision student.</a:t>
            </a:r>
          </a:p>
          <a:p>
            <a:pPr lvl="0" indent="0" marL="0">
              <a:buNone/>
            </a:pPr>
          </a:p>
          <a:p>
            <a:pPr lvl="0"/>
            <a:r>
              <a:rPr/>
              <a:t>Instructor move: Have everyone silently think of one recent behavior they chose on purpose: studying, procrastinating, eating, texting a friend, joining a group, skipping sleep, or practicing a skill.</a:t>
            </a:r>
          </a:p>
          <a:p>
            <a:pPr lvl="0" indent="0" marL="0">
              <a:buNone/>
            </a:pPr>
          </a:p>
          <a:p>
            <a:pPr lvl="0"/>
            <a:r>
              <a:rPr/>
              <a:t>Time: 30–45 seconds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Script: Preview the flow briefly. Tell students that the lesson uses a small number of recurring examples so they can compare theories instead of starting over on every slide.</a:t>
            </a:r>
          </a:p>
          <a:p>
            <a:pPr lvl="0" indent="0" marL="0">
              <a:buNone/>
            </a:pPr>
          </a:p>
          <a:p>
            <a:pPr lvl="0"/>
            <a:r>
              <a:rPr/>
              <a:t>Instructor move: Tell students, “Your job today is to explain behavior with more than one lens.”</a:t>
            </a:r>
          </a:p>
          <a:p>
            <a:pPr lvl="0" indent="0" marL="0">
              <a:buNone/>
            </a:pPr>
          </a:p>
          <a:p>
            <a:pPr lvl="0"/>
            <a:r>
              <a:rPr/>
              <a:t>Time: 30–45 seconds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Script: Say the target plainly, then rephrase it in plain language: “By the end, you should be able to explain a behavior, make a prediction, and say what evidence would matter.”</a:t>
            </a:r>
          </a:p>
          <a:p>
            <a:pPr lvl="0" indent="0" marL="0">
              <a:buNone/>
            </a:pPr>
          </a:p>
          <a:p>
            <a:pPr lvl="0"/>
            <a:r>
              <a:rPr/>
              <a:t>Quick check: Ask, “Which is stronger: naming a theory, or using it to make a prediction?” Expect: using it to make a prediction.</a:t>
            </a:r>
          </a:p>
          <a:p>
            <a:pPr lvl="0" indent="0" marL="0">
              <a:buNone/>
            </a:pPr>
          </a:p>
          <a:p>
            <a:pPr lvl="0"/>
            <a:r>
              <a:rPr/>
              <a:t>Response plan: If students answer vaguely, restate the target with an example: “Saying ‘drive theory’ is step one. Saying what we would expect to observe if hunger is driving behavior is step two.”</a:t>
            </a:r>
          </a:p>
          <a:p>
            <a:pPr lvl="0" indent="0" marL="0">
              <a:buNone/>
            </a:pPr>
          </a:p>
          <a:p>
            <a:pPr lvl="0"/>
            <a:r>
              <a:rPr/>
              <a:t>Time: 45–60 seconds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Script: “Let’s test these ideas on two situations.” Tell students these are the two examples the lesson will return to so the theories stay connected across the class.</a:t>
            </a:r>
          </a:p>
          <a:p>
            <a:pPr lvl="0" indent="0" marL="0">
              <a:buNone/>
            </a:pPr>
          </a:p>
          <a:p>
            <a:pPr lvl="0"/>
            <a:r>
              <a:rPr/>
              <a:t>Instructor move: Everybody answer in your head first: “Which example feels easier to explain right now?”</a:t>
            </a:r>
          </a:p>
          <a:p>
            <a:pPr lvl="0" indent="0" marL="0">
              <a:buNone/>
            </a:pPr>
          </a:p>
          <a:p>
            <a:pPr lvl="0"/>
            <a:r>
              <a:rPr/>
              <a:t>Why this slide matters: It reduces cognitive overload and supports retrieval across the lesson.</a:t>
            </a:r>
          </a:p>
          <a:p>
            <a:pPr lvl="0" indent="0" marL="0">
              <a:buNone/>
            </a:pPr>
          </a:p>
          <a:p>
            <a:pPr lvl="0"/>
            <a:r>
              <a:rPr/>
              <a:t>Time: 45–60 seconds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Script: Model the move slowly. “Psychology does not stop at naming a motive. We ask what we would expect to see if that explanation is correct.”</a:t>
            </a:r>
          </a:p>
          <a:p>
            <a:pPr lvl="0" indent="0" marL="0">
              <a:buNone/>
            </a:pPr>
          </a:p>
          <a:p>
            <a:pPr lvl="0"/>
            <a:r>
              <a:rPr/>
              <a:t>Quick check: Ask, “What would weaken the hunger explanation?” Strong answers: the student ate recently, is not physiologically hungry, or is mainly eating because friends are eating.</a:t>
            </a:r>
          </a:p>
          <a:p>
            <a:pPr lvl="0" indent="0" marL="0">
              <a:buNone/>
            </a:pPr>
          </a:p>
          <a:p>
            <a:pPr lvl="0"/>
            <a:r>
              <a:rPr/>
              <a:t>Response plan: If students struggle, give two alternatives and ask which one counts as supporting evidence and which one counts as weakening evidence.</a:t>
            </a:r>
          </a:p>
          <a:p>
            <a:pPr lvl="0" indent="0" marL="0">
              <a:buNone/>
            </a:pPr>
          </a:p>
          <a:p>
            <a:pPr lvl="0"/>
            <a:r>
              <a:rPr/>
              <a:t>Time: 1–2 minutes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Script: Reattach the official labels clearly: homeostasis, physiological need, drive theory, drive reduction.</a:t>
            </a:r>
          </a:p>
          <a:p>
            <a:pPr lvl="0" indent="0" marL="0">
              <a:buNone/>
            </a:pPr>
          </a:p>
          <a:p>
            <a:pPr lvl="0"/>
            <a:r>
              <a:rPr/>
              <a:t>Plain-language first: “Your body is off balance, you feel that as hunger, and that pushes behavior.”</a:t>
            </a:r>
          </a:p>
          <a:p>
            <a:pPr lvl="0" indent="0" marL="0">
              <a:buNone/>
            </a:pPr>
          </a:p>
          <a:p>
            <a:pPr lvl="0"/>
            <a:r>
              <a:rPr/>
              <a:t>Quick retrieval: Ask students to explain the example in plain language, then restate it using the official terms.</a:t>
            </a:r>
          </a:p>
          <a:p>
            <a:pPr lvl="0" indent="0" marL="0">
              <a:buNone/>
            </a:pPr>
          </a:p>
          <a:p>
            <a:pPr lvl="0"/>
            <a:r>
              <a:rPr/>
              <a:t>Response plan: If students confuse the need with the drive, clarify the sequence: bodily condition first, psychological drive second, goal-directed behavior next.</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sequence from need to behavior.</a:t>
            </a:r>
          </a:p>
          <a:p>
            <a:pPr lvl="0" indent="0" marL="0">
              <a:buNone/>
            </a:pPr>
          </a:p>
          <a:p>
            <a:pPr lvl="0"/>
            <a:r>
              <a:rPr/>
              <a:t>Script: Walk slowly through the cycle. A student skips lunch, begins to feel hungry, starts thinking about food, and then grabs something to eat after class. The point is not that all motivation works this way, but that this model is useful for many basic biological needs.</a:t>
            </a:r>
          </a:p>
          <a:p>
            <a:pPr lvl="0" indent="0" marL="0">
              <a:buNone/>
            </a:pPr>
          </a:p>
          <a:p>
            <a:pPr lvl="0"/>
            <a:r>
              <a:rPr/>
              <a:t>Time: 45–75 seconds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habits; repeated drive reduction; routine formation.</a:t>
            </a:r>
          </a:p>
          <a:p>
            <a:pPr lvl="0" indent="0" marL="0">
              <a:buNone/>
            </a:pPr>
          </a:p>
          <a:p>
            <a:pPr lvl="0"/>
            <a:r>
              <a:rPr/>
              <a:t>Script: Use a familiar example such as exhaustion, caffeine, and routine. A repeated response can become the default answer to a feeling state. This is a good moment to remind students that understanding a pattern does not mean the pattern is healthy.</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hunger; physiological signaling; hypothalamus.</a:t>
            </a:r>
          </a:p>
          <a:p>
            <a:pPr lvl="0" indent="0" marL="0">
              <a:buNone/>
            </a:pPr>
          </a:p>
          <a:p>
            <a:pPr lvl="0"/>
            <a:r>
              <a:rPr/>
              <a:t>Script: Ask for a relatable example such as stomach growling during class or during a test. Emphasize that hunger is not just a vague feeling. It reflects coordinated signaling between the body and the brain.</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satiation; satiety signals; regulation.</a:t>
            </a:r>
          </a:p>
          <a:p>
            <a:pPr lvl="0" indent="0" marL="0">
              <a:buNone/>
            </a:pPr>
          </a:p>
          <a:p>
            <a:pPr lvl="0"/>
            <a:r>
              <a:rPr/>
              <a:t>Script: Connect this back to homeostasis. The body does not just push behavior on; it also helps turn behavior off once enough food has been consumed. Students often understand motivation better when they see both the “go” side and the “stop” side.</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biology–culture interaction; food preference; learning.</a:t>
            </a:r>
          </a:p>
          <a:p>
            <a:pPr lvl="0" indent="0" marL="0">
              <a:buNone/>
            </a:pPr>
          </a:p>
          <a:p>
            <a:pPr lvl="0"/>
            <a:r>
              <a:rPr/>
              <a:t>Script: Ask students what foods feel normal, comforting, strange, or unappealing to them. Then point out that the need to eat is widespread, but the meaning and expression of eating are culturally shaped.</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cognitive motivation; expectations; persistence.</a:t>
            </a:r>
          </a:p>
          <a:p>
            <a:pPr lvl="0" indent="0" marL="0">
              <a:buNone/>
            </a:pPr>
          </a:p>
          <a:p>
            <a:pPr lvl="0"/>
            <a:r>
              <a:rPr/>
              <a:t>Script: Transition from hunger to schoolwork. A student may have the ability to begin a task, but whether they try, keep going, or give up often depends on how they interpret the challenge.</a:t>
            </a:r>
          </a:p>
          <a:p>
            <a:pPr lvl="0" indent="0" marL="0">
              <a:buNone/>
            </a:pPr>
          </a:p>
          <a:p>
            <a:pPr lvl="0"/>
            <a:r>
              <a:rPr/>
              <a:t>Time: 45–75 seconds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self-efficacy; effort; persistence.</a:t>
            </a:r>
          </a:p>
          <a:p>
            <a:pPr lvl="0" indent="0" marL="0">
              <a:buNone/>
            </a:pPr>
          </a:p>
          <a:p>
            <a:pPr lvl="0"/>
            <a:r>
              <a:rPr/>
              <a:t>Script: Keep the claim careful here. Self-efficacy is not magic, and confidence alone is not enough. The teaching point is that beliefs about capability can shape whether students engage with difficult work long enough to learn from it.</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fixed mindset; growth mindset.</a:t>
            </a:r>
          </a:p>
          <a:p>
            <a:pPr lvl="0" indent="0" marL="0">
              <a:buNone/>
            </a:pPr>
          </a:p>
          <a:p>
            <a:pPr lvl="0"/>
            <a:r>
              <a:rPr/>
              <a:t>Script: Use everyday examples such as “I’m just bad at math” or “I can get better with practice and feedback.” Keep the tone measured. The point is not that one phrase changes a life overnight. The point is that beliefs about ability can guide choices and reactions over time.</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mindset patterns; response to challenge.</a:t>
            </a:r>
          </a:p>
          <a:p>
            <a:pPr lvl="0" indent="0" marL="0">
              <a:buNone/>
            </a:pPr>
          </a:p>
          <a:p>
            <a:pPr lvl="0"/>
            <a:r>
              <a:rPr/>
              <a:t>Script: Present these as tendencies, not absolute personality types. Students can show both patterns in different classes or at different moments. That keeps the science more accurate and helps students reflect without feeling boxed in.</a:t>
            </a:r>
          </a:p>
          <a:p>
            <a:pPr lvl="0" indent="0" marL="0">
              <a:buNone/>
            </a:pPr>
          </a:p>
          <a:p>
            <a:pPr lvl="0"/>
            <a:r>
              <a:rPr/>
              <a:t>Time: 75–105 seconds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praise; feedback; meaning of effort.</a:t>
            </a:r>
          </a:p>
          <a:p>
            <a:pPr lvl="0" indent="0" marL="0">
              <a:buNone/>
            </a:pPr>
          </a:p>
          <a:p>
            <a:pPr lvl="0"/>
            <a:r>
              <a:rPr/>
              <a:t>Script: Keep this nuanced. The problem is not using a positive word. The issue is what kind of explanation the praise teaches. If feedback suggests that success comes only from an inborn trait, students may become more protective of that label.</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Maslow; hierarchy of needs; influence and limits.</a:t>
            </a:r>
          </a:p>
          <a:p>
            <a:pPr lvl="0" indent="0" marL="0">
              <a:buNone/>
            </a:pPr>
          </a:p>
          <a:p>
            <a:pPr lvl="0"/>
            <a:r>
              <a:rPr/>
              <a:t>Script: Introduce Maslow as a broad organizing framework rather than a perfect map. Students usually remember it well, so it is useful, but it should be taught with caution.</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physiological needs; safety needs.</a:t>
            </a:r>
          </a:p>
          <a:p>
            <a:pPr lvl="0" indent="0" marL="0">
              <a:buNone/>
            </a:pPr>
          </a:p>
          <a:p>
            <a:pPr lvl="0"/>
            <a:r>
              <a:rPr/>
              <a:t>Script: Connect this directly to student life. Studying is much harder when a person is hungry, sleep-deprived, unsafe, or overwhelmed by instability. This slide often helps students see that motivation is shaped by conditions, not just by willpower.</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belonging; esteem.</a:t>
            </a:r>
          </a:p>
          <a:p>
            <a:pPr lvl="0" indent="0" marL="0">
              <a:buNone/>
            </a:pPr>
          </a:p>
          <a:p>
            <a:pPr lvl="0"/>
            <a:r>
              <a:rPr/>
              <a:t>Script: Give examples such as joining a club, wanting approval from peers, trying to earn a good grade, or wanting to feel capable in class. Students can usually see themselves in these motives very quickly.</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self-actualization; self-transcendence.</a:t>
            </a:r>
          </a:p>
          <a:p>
            <a:pPr lvl="0" indent="0" marL="0">
              <a:buNone/>
            </a:pPr>
          </a:p>
          <a:p>
            <a:pPr lvl="0"/>
            <a:r>
              <a:rPr/>
              <a:t>Script: Emphasize that these are not finish lines. People move in and out of these concerns across a lifetime. The value of the framework is that it reminds us humans are motivated by more than survival and reward.</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critique of Maslow; complexity of behavior.</a:t>
            </a:r>
          </a:p>
          <a:p>
            <a:pPr lvl="0" indent="0" marL="0">
              <a:buNone/>
            </a:pPr>
          </a:p>
          <a:p>
            <a:pPr lvl="0"/>
            <a:r>
              <a:rPr/>
              <a:t>Script: This is the scientific caution slide. A person may sacrifice comfort, food, safety, or status in pursuit of justice, loyalty, faith, love, or meaning. That does not make the model useless. It means the model is a simplification.</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social motives; achievement; affiliation; intimacy.</a:t>
            </a:r>
          </a:p>
          <a:p>
            <a:pPr lvl="0" indent="0" marL="0">
              <a:buNone/>
            </a:pPr>
          </a:p>
          <a:p>
            <a:pPr lvl="0"/>
            <a:r>
              <a:rPr/>
              <a:t>Script: Transition from Maslow to everyday social behavior. Students usually recognize these motives immediately once you name them. This slide works well as a bridge from theory to lived experience.</a:t>
            </a:r>
          </a:p>
          <a:p>
            <a:pPr lvl="0" indent="0" marL="0">
              <a:buNone/>
            </a:pPr>
          </a:p>
          <a:p>
            <a:pPr lvl="0"/>
            <a:r>
              <a:rPr/>
              <a:t>Time: 45–75 seconds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need for achievement; ambition; pressure.</a:t>
            </a:r>
          </a:p>
          <a:p>
            <a:pPr lvl="0" indent="0" marL="0">
              <a:buNone/>
            </a:pPr>
          </a:p>
          <a:p>
            <a:pPr lvl="0"/>
            <a:r>
              <a:rPr/>
              <a:t>Script: Use the dual-credit context carefully. Many students in a college class while still in high school are clearly motivated by achievement. That can be a strength, but it can also become stressful if every outcome starts to feel like a verdict on their value.</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affiliation; intimacy; difference between casual and close connection.</a:t>
            </a:r>
          </a:p>
          <a:p>
            <a:pPr lvl="0" indent="0" marL="0">
              <a:buNone/>
            </a:pPr>
          </a:p>
          <a:p>
            <a:pPr lvl="0"/>
            <a:r>
              <a:rPr/>
              <a:t>Script: A simple contrast helps here. Affiliation is enjoying being with others and feeling included. Intimacy is wanting to be known, supported, and emotionally understood in a deeper relationship.</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applying social motive theory to real behavior; distinguishing achievement, affiliation, and intimacy.</a:t>
            </a:r>
          </a:p>
          <a:p>
            <a:pPr lvl="0" indent="0" marL="0">
              <a:buNone/>
            </a:pPr>
          </a:p>
          <a:p>
            <a:pPr lvl="0"/>
            <a:r>
              <a:rPr/>
              <a:t>Script: Give students 20–30 seconds to think of a real example, such as studying with friends, trying out for a team, texting someone for support, joining a club, or working hard for a grade. Then ask them to identify which motive best fits and why. Remind them that behavior can reflect more than one motive at once, but the goal here is to practice naming the strongest one.</a:t>
            </a:r>
          </a:p>
          <a:p>
            <a:pPr lvl="0" indent="0" marL="0">
              <a:buNone/>
            </a:pPr>
          </a:p>
          <a:p>
            <a:pPr lvl="0"/>
            <a:r>
              <a:rPr/>
              <a:t>Time: 2–3 minutes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belonging; evolutionary perspective; exclusion.</a:t>
            </a:r>
          </a:p>
          <a:p>
            <a:pPr lvl="0" indent="0" marL="0">
              <a:buNone/>
            </a:pPr>
          </a:p>
          <a:p>
            <a:pPr lvl="0"/>
            <a:r>
              <a:rPr/>
              <a:t>Script: Connect this to ordinary student experiences such as being left out, ignored, rejected, or cut off from a friend group. The goal is not to dramatize everything. The goal is to explain why social pain can feel so powerful and why belonging is not a trivial need.</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integration across theories of motivation.</a:t>
            </a:r>
          </a:p>
          <a:p>
            <a:pPr lvl="0" indent="0" marL="0">
              <a:buNone/>
            </a:pPr>
          </a:p>
          <a:p>
            <a:pPr lvl="0"/>
            <a:r>
              <a:rPr/>
              <a:t>Script: End by synthesizing rather than choosing a winner. Ask students to pick one behavior such as studying, joining a team, skipping a meal, or staying up too late and explain it from more than one motivational perspective.</a:t>
            </a:r>
          </a:p>
          <a:p>
            <a:pPr lvl="0" indent="0" marL="0">
              <a:buNone/>
            </a:pPr>
          </a:p>
          <a:p>
            <a:pPr lvl="0"/>
            <a:r>
              <a:rPr/>
              <a:t>Time: 45–75 seconds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Concepts covered: retrieval and application across the lesson.</a:t>
            </a:r>
          </a:p>
          <a:p>
            <a:pPr lvl="0" indent="0" marL="0">
              <a:buNone/>
            </a:pPr>
          </a:p>
          <a:p>
            <a:pPr lvl="0"/>
            <a:r>
              <a:rPr/>
              <a:t>Script: Tell students that the first two prompts check core concepts and the last prompt checks transfer. Encourage them to answer the short response with a real behavior such as studying, procrastinating, stress eating, joining a team, or staying connected to friends.</a:t>
            </a:r>
          </a:p>
          <a:p>
            <a:pPr lvl="0" indent="0" marL="0">
              <a:buNone/>
            </a:pPr>
          </a:p>
          <a:p>
            <a:pPr lvl="0"/>
            <a:r>
              <a:rPr/>
              <a:t>Time: 60–90 seconds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Motivation: Biological, Cognitive, Humanistic, and Social Processes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General Psychology</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Motivation</a:t>
            </a:r>
          </a:p>
        </p:txBody>
      </p:sp>
      <p:sp>
        <p:nvSpPr>
          <p:cNvPr id="3" name="Content Placeholder 2"/>
          <p:cNvSpPr>
            <a:spLocks noGrp="1"/>
          </p:cNvSpPr>
          <p:nvPr>
            <p:ph idx="1"/>
          </p:nvPr>
        </p:nvSpPr>
        <p:spPr/>
        <p:txBody>
          <a:bodyPr/>
          <a:lstStyle/>
          <a:p>
            <a:pPr lvl="0" indent="0" marL="0">
              <a:spcBef>
                <a:spcPts val="3000"/>
              </a:spcBef>
              <a:buNone/>
            </a:pPr>
            <a:r>
              <a:rPr b="1"/>
              <a:t>Biological, Cognitive, Humanistic, and Social Processes</a:t>
            </a:r>
          </a:p>
          <a:p>
            <a:pPr lvl="0"/>
            <a:r>
              <a:rPr/>
              <a:t>General Psychology</a:t>
            </a:r>
          </a:p>
          <a:p>
            <a:pPr lvl="0"/>
            <a:r>
              <a:rPr/>
              <a:t>Today’s question: </a:t>
            </a:r>
            <a:r>
              <a:rPr b="1"/>
              <a:t>Why do people do what they do?</a:t>
            </a:r>
          </a:p>
          <a:p>
            <a:pPr lvl="0"/>
            <a:r>
              <a:rPr/>
              <a:t>We will use motivation theories to explain everyday behavior, not just define terms.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
        <p:nvSpPr>
          <p:cNvPr id="3" name="Content Placeholder 2"/>
          <p:cNvSpPr>
            <a:spLocks noGrp="1"/>
          </p:cNvSpPr>
          <p:nvPr>
            <p:ph idx="1"/>
          </p:nvPr>
        </p:nvSpPr>
        <p:spPr/>
        <p:txBody>
          <a:bodyPr/>
          <a:lstStyle/>
          <a:p>
            <a:pPr lvl="0"/>
            <a:r>
              <a:rPr/>
              <a:t>What motivation is</a:t>
            </a:r>
          </a:p>
          <a:p>
            <a:pPr lvl="0"/>
            <a:r>
              <a:rPr/>
              <a:t>Two examples we will keep coming back to</a:t>
            </a:r>
          </a:p>
          <a:p>
            <a:pPr lvl="0"/>
            <a:r>
              <a:rPr/>
              <a:t>How psychologists move from claim to prediction to evidence</a:t>
            </a:r>
          </a:p>
          <a:p>
            <a:pPr lvl="0"/>
            <a:r>
              <a:rPr/>
              <a:t>Homeostasis, drive theory, and hunger</a:t>
            </a:r>
          </a:p>
          <a:p>
            <a:pPr lvl="0"/>
            <a:r>
              <a:rPr/>
              <a:t>Cognitive and social motives later in the lesson</a:t>
            </a:r>
          </a:p>
          <a:p>
            <a:pPr lvl="0"/>
            <a:r>
              <a:rPr/>
              <a:t>Exit ticket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target</a:t>
            </a:r>
          </a:p>
        </p:txBody>
      </p:sp>
      <p:sp>
        <p:nvSpPr>
          <p:cNvPr id="3" name="Content Placeholder 2"/>
          <p:cNvSpPr>
            <a:spLocks noGrp="1"/>
          </p:cNvSpPr>
          <p:nvPr>
            <p:ph idx="1"/>
          </p:nvPr>
        </p:nvSpPr>
        <p:spPr/>
        <p:txBody>
          <a:bodyPr/>
          <a:lstStyle/>
          <a:p>
            <a:pPr lvl="0"/>
            <a:r>
              <a:rPr/>
              <a:t>Explain one everyday behavior using at least </a:t>
            </a:r>
            <a:r>
              <a:rPr b="1"/>
              <a:t>two</a:t>
            </a:r>
            <a:r>
              <a:rPr/>
              <a:t> motivation perspectives from this lesson.</a:t>
            </a:r>
          </a:p>
          <a:p>
            <a:pPr lvl="0"/>
            <a:r>
              <a:rPr/>
              <a:t>Turn one explanation into a </a:t>
            </a:r>
            <a:r>
              <a:rPr b="1"/>
              <a:t>testable prediction</a:t>
            </a:r>
            <a:r>
              <a:rPr/>
              <a:t>.</a:t>
            </a:r>
          </a:p>
          <a:p>
            <a:pPr lvl="0"/>
            <a:r>
              <a:rPr/>
              <a:t>Identify what evidence would </a:t>
            </a:r>
            <a:r>
              <a:rPr b="1"/>
              <a:t>support</a:t>
            </a:r>
            <a:r>
              <a:rPr/>
              <a:t> that explanation and what evidence would </a:t>
            </a:r>
            <a:r>
              <a:rPr b="1"/>
              <a:t>weaken</a:t>
            </a:r>
            <a:r>
              <a:rPr/>
              <a:t> it.</a:t>
            </a:r>
          </a:p>
          <a:p>
            <a:pPr lvl="0" indent="0" marL="0">
              <a:spcBef>
                <a:spcPts val="3000"/>
              </a:spcBef>
              <a:buNone/>
            </a:pPr>
            <a:r>
              <a:rPr b="1"/>
              <a:t>Why it matters</a:t>
            </a:r>
          </a:p>
          <a:p>
            <a:pPr lvl="0"/>
            <a:r>
              <a:rPr/>
              <a:t>In psychology, a good explanation does more than name a term.</a:t>
            </a:r>
          </a:p>
          <a:p>
            <a:pPr lvl="0"/>
            <a:r>
              <a:rPr/>
              <a:t>It helps us compare explanations, make predictions, and look for evidence.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examples for today</a:t>
            </a:r>
          </a:p>
        </p:txBody>
      </p:sp>
      <p:sp>
        <p:nvSpPr>
          <p:cNvPr id="3" name="Content Placeholder 2"/>
          <p:cNvSpPr>
            <a:spLocks noGrp="1"/>
          </p:cNvSpPr>
          <p:nvPr>
            <p:ph idx="1"/>
          </p:nvPr>
        </p:nvSpPr>
        <p:spPr/>
        <p:txBody>
          <a:bodyPr/>
          <a:lstStyle/>
          <a:p>
            <a:pPr lvl="0" indent="0" marL="0">
              <a:spcBef>
                <a:spcPts val="3000"/>
              </a:spcBef>
              <a:buNone/>
            </a:pPr>
            <a:r>
              <a:rPr b="1"/>
              <a:t>Example 1: before a difficult exam</a:t>
            </a:r>
          </a:p>
          <a:p>
            <a:pPr lvl="0"/>
            <a:r>
              <a:rPr/>
              <a:t>A student skipped lunch before a difficult afternoon exam.</a:t>
            </a:r>
          </a:p>
          <a:p>
            <a:pPr lvl="0"/>
            <a:r>
              <a:rPr/>
              <a:t>They feel hungry, stressed, and distracted.</a:t>
            </a:r>
          </a:p>
          <a:p>
            <a:pPr lvl="0"/>
            <a:r>
              <a:rPr/>
              <a:t>They have to decide whether to keep studying, eat, or stop for now.</a:t>
            </a:r>
          </a:p>
          <a:p>
            <a:pPr lvl="0" indent="0" marL="0">
              <a:spcBef>
                <a:spcPts val="3000"/>
              </a:spcBef>
              <a:buNone/>
            </a:pPr>
            <a:r>
              <a:rPr b="1"/>
              <a:t>Example 2: a social decision</a:t>
            </a:r>
          </a:p>
          <a:p>
            <a:pPr lvl="0"/>
            <a:r>
              <a:rPr/>
              <a:t>A student joins a club, wants to fit in, and texts one close friend for support.</a:t>
            </a:r>
          </a:p>
          <a:p>
            <a:pPr lvl="0"/>
            <a:r>
              <a:rPr/>
              <a:t>The same behavior may reflect belonging, achievement, or intimacy.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psychologists work with explanations</a:t>
            </a:r>
          </a:p>
        </p:txBody>
      </p:sp>
      <p:sp>
        <p:nvSpPr>
          <p:cNvPr id="3" name="Content Placeholder 2"/>
          <p:cNvSpPr>
            <a:spLocks noGrp="1"/>
          </p:cNvSpPr>
          <p:nvPr>
            <p:ph idx="1"/>
          </p:nvPr>
        </p:nvSpPr>
        <p:spPr/>
        <p:txBody>
          <a:bodyPr/>
          <a:lstStyle/>
          <a:p>
            <a:pPr lvl="0"/>
            <a:r>
              <a:rPr b="1"/>
              <a:t>Claim:</a:t>
            </a:r>
            <a:r>
              <a:rPr/>
              <a:t> What motive might be shaping this behavior?</a:t>
            </a:r>
          </a:p>
          <a:p>
            <a:pPr lvl="0"/>
            <a:r>
              <a:rPr b="1"/>
              <a:t>Question:</a:t>
            </a:r>
            <a:r>
              <a:rPr/>
              <a:t> If that explanation is right, what should we expect to observe?</a:t>
            </a:r>
          </a:p>
          <a:p>
            <a:pPr lvl="0"/>
            <a:r>
              <a:rPr b="1"/>
              <a:t>Prediction:</a:t>
            </a:r>
            <a:r>
              <a:rPr/>
              <a:t> What should happen in a specific situation?</a:t>
            </a:r>
          </a:p>
          <a:p>
            <a:pPr lvl="0"/>
            <a:r>
              <a:rPr b="1"/>
              <a:t>Evidence:</a:t>
            </a:r>
            <a:r>
              <a:rPr/>
              <a:t> What result would support the explanation, and what result would weaken it?</a:t>
            </a:r>
          </a:p>
          <a:p>
            <a:pPr lvl="0" indent="0" marL="0">
              <a:spcBef>
                <a:spcPts val="3000"/>
              </a:spcBef>
              <a:buNone/>
            </a:pPr>
            <a:r>
              <a:rPr b="1"/>
              <a:t>Example</a:t>
            </a:r>
          </a:p>
          <a:p>
            <a:pPr lvl="0"/>
            <a:r>
              <a:rPr b="1"/>
              <a:t>Claim:</a:t>
            </a:r>
            <a:r>
              <a:rPr/>
              <a:t> Hunger is affecting the student’s behavior.</a:t>
            </a:r>
          </a:p>
          <a:p>
            <a:pPr lvl="0"/>
            <a:r>
              <a:rPr b="1"/>
              <a:t>Prediction:</a:t>
            </a:r>
            <a:r>
              <a:rPr/>
              <a:t> If they have gone hours without food, food cues and eating motivation should increase.</a:t>
            </a:r>
          </a:p>
          <a:p>
            <a:pPr lvl="0"/>
            <a:r>
              <a:rPr b="1"/>
              <a:t>Evidence:</a:t>
            </a:r>
            <a:r>
              <a:rPr/>
              <a:t> Stronger hunger signals and eating after deprivation would fit that explanation.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Homeostasis and drive theory</a:t>
            </a:r>
          </a:p>
        </p:txBody>
      </p:sp>
      <p:sp>
        <p:nvSpPr>
          <p:cNvPr id="3" name="Content Placeholder 2"/>
          <p:cNvSpPr>
            <a:spLocks noGrp="1"/>
          </p:cNvSpPr>
          <p:nvPr>
            <p:ph idx="1"/>
          </p:nvPr>
        </p:nvSpPr>
        <p:spPr/>
        <p:txBody>
          <a:bodyPr/>
          <a:lstStyle/>
          <a:p>
            <a:pPr lvl="0"/>
            <a:r>
              <a:rPr/>
              <a:t>Our bodies work to maintain </a:t>
            </a:r>
            <a:r>
              <a:rPr b="1"/>
              <a:t>homeostasis</a:t>
            </a:r>
            <a:r>
              <a:rPr/>
              <a:t>, a relatively stable internal state.</a:t>
            </a:r>
          </a:p>
          <a:p>
            <a:pPr lvl="0"/>
            <a:r>
              <a:rPr/>
              <a:t>A disruption in that balance can create a physiological need.</a:t>
            </a:r>
          </a:p>
          <a:p>
            <a:pPr lvl="0"/>
            <a:r>
              <a:rPr b="1"/>
              <a:t>Drive theory</a:t>
            </a:r>
            <a:r>
              <a:rPr/>
              <a:t> proposes that bodily needs can create a psychological drive that pushes behavior.</a:t>
            </a:r>
          </a:p>
          <a:p>
            <a:pPr lvl="0"/>
            <a:r>
              <a:rPr/>
              <a:t>One common goal of behavior is to reduce the drive and restore balance.</a:t>
            </a:r>
          </a:p>
          <a:p>
            <a:pPr lvl="0" indent="0" marL="0">
              <a:spcBef>
                <a:spcPts val="3000"/>
              </a:spcBef>
              <a:buNone/>
            </a:pPr>
            <a:r>
              <a:rPr b="1"/>
              <a:t>Applying it to the exam-day example</a:t>
            </a:r>
          </a:p>
          <a:p>
            <a:pPr lvl="0"/>
            <a:r>
              <a:rPr/>
              <a:t>Skipping lunch can produce a biological need.</a:t>
            </a:r>
          </a:p>
          <a:p>
            <a:pPr lvl="0"/>
            <a:r>
              <a:rPr/>
              <a:t>That need may be experienced psychologically as hunger.</a:t>
            </a:r>
          </a:p>
          <a:p>
            <a:pPr lvl="0"/>
            <a:r>
              <a:rPr/>
              <a:t>The student becomes more likely to seek food and reduce the drive.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simple drive cycle</a:t>
            </a:r>
          </a:p>
        </p:txBody>
      </p:sp>
      <p:sp>
        <p:nvSpPr>
          <p:cNvPr id="3" name="Content Placeholder 2"/>
          <p:cNvSpPr>
            <a:spLocks noGrp="1"/>
          </p:cNvSpPr>
          <p:nvPr>
            <p:ph idx="1"/>
          </p:nvPr>
        </p:nvSpPr>
        <p:spPr/>
        <p:txBody>
          <a:bodyPr/>
          <a:lstStyle/>
          <a:p>
            <a:pPr lvl="0"/>
            <a:r>
              <a:rPr/>
              <a:t>Biological need</a:t>
            </a:r>
          </a:p>
          <a:p>
            <a:pPr lvl="0"/>
            <a:r>
              <a:rPr/>
              <a:t>Psychological drive</a:t>
            </a:r>
          </a:p>
          <a:p>
            <a:pPr lvl="0"/>
            <a:r>
              <a:rPr/>
              <a:t>Goal-directed behavior</a:t>
            </a:r>
          </a:p>
          <a:p>
            <a:pPr lvl="0"/>
            <a:r>
              <a:rPr/>
              <a:t>Reduced drive and restored balance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Habits can grow around drive reduction</a:t>
            </a:r>
          </a:p>
        </p:txBody>
      </p:sp>
      <p:sp>
        <p:nvSpPr>
          <p:cNvPr id="3" name="Content Placeholder 2"/>
          <p:cNvSpPr>
            <a:spLocks noGrp="1"/>
          </p:cNvSpPr>
          <p:nvPr>
            <p:ph idx="1"/>
          </p:nvPr>
        </p:nvSpPr>
        <p:spPr/>
        <p:txBody>
          <a:bodyPr/>
          <a:lstStyle/>
          <a:p>
            <a:pPr lvl="0"/>
            <a:r>
              <a:rPr/>
              <a:t>Behaviors that successfully reduce a drive can become more likely in the future.</a:t>
            </a:r>
          </a:p>
          <a:p>
            <a:pPr lvl="0"/>
            <a:r>
              <a:rPr/>
              <a:t>Over time, people often repeat the same response to the same internal state.</a:t>
            </a:r>
          </a:p>
          <a:p>
            <a:pPr lvl="0"/>
            <a:r>
              <a:rPr/>
              <a:t>This helps explain why routines can feel automatic.</a:t>
            </a:r>
          </a:p>
          <a:p>
            <a:pPr lvl="0"/>
            <a:r>
              <a:rPr/>
              <a:t>It also helps explain why some coping patterns are easy to repeat, even when they are not ideal.</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Hunger is a biological motive with clear signals</a:t>
            </a:r>
          </a:p>
        </p:txBody>
      </p:sp>
      <p:sp>
        <p:nvSpPr>
          <p:cNvPr id="3" name="Content Placeholder 2"/>
          <p:cNvSpPr>
            <a:spLocks noGrp="1"/>
          </p:cNvSpPr>
          <p:nvPr>
            <p:ph idx="1"/>
          </p:nvPr>
        </p:nvSpPr>
        <p:spPr/>
        <p:txBody>
          <a:bodyPr/>
          <a:lstStyle/>
          <a:p>
            <a:pPr lvl="0"/>
            <a:r>
              <a:rPr/>
              <a:t>Hunger helps ensure that we seek food often enough to survive.</a:t>
            </a:r>
          </a:p>
          <a:p>
            <a:pPr lvl="0"/>
            <a:r>
              <a:rPr/>
              <a:t>Empty stomach sensations, changes in blood glucose, and signals from organs all contribute to hunger.</a:t>
            </a:r>
          </a:p>
          <a:p>
            <a:pPr lvl="0"/>
            <a:r>
              <a:rPr/>
              <a:t>These signals are integrated by brain systems involved in regulation, including the hypothalamus.</a:t>
            </a:r>
          </a:p>
          <a:p>
            <a:pPr lvl="0"/>
            <a:r>
              <a:rPr/>
              <a:t>Hunger is a useful example of how body states shape behavior.</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Satiation helps stop eating</a:t>
            </a:r>
          </a:p>
        </p:txBody>
      </p:sp>
      <p:sp>
        <p:nvSpPr>
          <p:cNvPr id="3" name="Content Placeholder 2"/>
          <p:cNvSpPr>
            <a:spLocks noGrp="1"/>
          </p:cNvSpPr>
          <p:nvPr>
            <p:ph idx="1"/>
          </p:nvPr>
        </p:nvSpPr>
        <p:spPr/>
        <p:txBody>
          <a:bodyPr/>
          <a:lstStyle/>
          <a:p>
            <a:pPr lvl="0"/>
            <a:r>
              <a:rPr/>
              <a:t>Motivation is not only about starting behavior.</a:t>
            </a:r>
          </a:p>
          <a:p>
            <a:pPr lvl="0"/>
            <a:r>
              <a:rPr/>
              <a:t>It also involves cues that the goal has been met.</a:t>
            </a:r>
          </a:p>
          <a:p>
            <a:pPr lvl="0"/>
            <a:r>
              <a:rPr b="1"/>
              <a:t>Satiation</a:t>
            </a:r>
            <a:r>
              <a:rPr/>
              <a:t> is the feeling of fullness or satisfaction that helps end eating.</a:t>
            </a:r>
          </a:p>
          <a:p>
            <a:pPr lvl="0"/>
            <a:r>
              <a:rPr/>
              <a:t>Feedback from the digestive system, blood chemistry, and stored energy all help regulate this process.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Biology starts the drive, but culture shapes the menu</a:t>
            </a:r>
          </a:p>
        </p:txBody>
      </p:sp>
      <p:sp>
        <p:nvSpPr>
          <p:cNvPr id="3" name="Content Placeholder 2"/>
          <p:cNvSpPr>
            <a:spLocks noGrp="1"/>
          </p:cNvSpPr>
          <p:nvPr>
            <p:ph idx="1"/>
          </p:nvPr>
        </p:nvSpPr>
        <p:spPr/>
        <p:txBody>
          <a:bodyPr/>
          <a:lstStyle/>
          <a:p>
            <a:pPr lvl="0"/>
            <a:r>
              <a:rPr/>
              <a:t>The drive to eat has a biological basis.</a:t>
            </a:r>
          </a:p>
          <a:p>
            <a:pPr lvl="0"/>
            <a:r>
              <a:rPr/>
              <a:t>Preferences about </a:t>
            </a:r>
            <a:r>
              <a:rPr i="1"/>
              <a:t>what</a:t>
            </a:r>
            <a:r>
              <a:rPr/>
              <a:t> counts as appealing food are shaped by learning and culture.</a:t>
            </a:r>
          </a:p>
          <a:p>
            <a:pPr lvl="0"/>
            <a:r>
              <a:rPr/>
              <a:t>Comfort foods, food traditions, and taste expectations vary widely across groups.</a:t>
            </a:r>
          </a:p>
          <a:p>
            <a:pPr lvl="0"/>
            <a:r>
              <a:rPr/>
              <a:t>Many behaviors make more sense when we look at biology and culture together.</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Motivation is also cognitive</a:t>
            </a:r>
          </a:p>
        </p:txBody>
      </p:sp>
      <p:sp>
        <p:nvSpPr>
          <p:cNvPr id="3" name="Content Placeholder 2"/>
          <p:cNvSpPr>
            <a:spLocks noGrp="1"/>
          </p:cNvSpPr>
          <p:nvPr>
            <p:ph idx="1"/>
          </p:nvPr>
        </p:nvSpPr>
        <p:spPr/>
        <p:txBody>
          <a:bodyPr/>
          <a:lstStyle/>
          <a:p>
            <a:pPr lvl="0"/>
            <a:r>
              <a:rPr/>
              <a:t>People do not act only on bodily drives.</a:t>
            </a:r>
          </a:p>
          <a:p>
            <a:pPr lvl="0"/>
            <a:r>
              <a:rPr/>
              <a:t>Expectations, interpretations, and beliefs about ability also influence motivation.</a:t>
            </a:r>
          </a:p>
          <a:p>
            <a:pPr lvl="0"/>
            <a:r>
              <a:rPr/>
              <a:t>These cognitive factors can change whether a person starts, avoids, or persists at a task.</a:t>
            </a:r>
          </a:p>
          <a:p>
            <a:pPr lvl="0"/>
            <a:r>
              <a:rPr/>
              <a:t>Academic behavior is a good place to see this clearly.</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Self-efficacy shapes effort and persistence</a:t>
            </a:r>
          </a:p>
        </p:txBody>
      </p:sp>
      <p:sp>
        <p:nvSpPr>
          <p:cNvPr id="3" name="Content Placeholder 2"/>
          <p:cNvSpPr>
            <a:spLocks noGrp="1"/>
          </p:cNvSpPr>
          <p:nvPr>
            <p:ph idx="1"/>
          </p:nvPr>
        </p:nvSpPr>
        <p:spPr/>
        <p:txBody>
          <a:bodyPr/>
          <a:lstStyle/>
          <a:p>
            <a:pPr lvl="0"/>
            <a:r>
              <a:rPr b="1"/>
              <a:t>Self-efficacy</a:t>
            </a:r>
            <a:r>
              <a:rPr/>
              <a:t> is a person’s belief that they can successfully carry out a task.</a:t>
            </a:r>
          </a:p>
          <a:p>
            <a:pPr lvl="0"/>
            <a:r>
              <a:rPr/>
              <a:t>Higher self-efficacy is often linked to greater effort, persistence, and willingness to face difficulty.</a:t>
            </a:r>
          </a:p>
          <a:p>
            <a:pPr lvl="0"/>
            <a:r>
              <a:rPr/>
              <a:t>Lower self-efficacy can make a challenge feel less worth attempting.</a:t>
            </a:r>
          </a:p>
          <a:p>
            <a:pPr lvl="0"/>
            <a:r>
              <a:rPr/>
              <a:t>Beliefs about capability do not guarantee success, but they can influence motivation in important ways.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Mindsets are beliefs about the nature of ability</a:t>
            </a:r>
          </a:p>
        </p:txBody>
      </p:sp>
      <p:sp>
        <p:nvSpPr>
          <p:cNvPr id="3" name="Content Placeholder 2"/>
          <p:cNvSpPr>
            <a:spLocks noGrp="1"/>
          </p:cNvSpPr>
          <p:nvPr>
            <p:ph idx="1"/>
          </p:nvPr>
        </p:nvSpPr>
        <p:spPr/>
        <p:txBody>
          <a:bodyPr/>
          <a:lstStyle/>
          <a:p>
            <a:pPr lvl="0"/>
            <a:r>
              <a:rPr/>
              <a:t>Research on mindsets focuses on how people think about intelligence and ability.</a:t>
            </a:r>
          </a:p>
          <a:p>
            <a:pPr lvl="0"/>
            <a:r>
              <a:rPr/>
              <a:t>A </a:t>
            </a:r>
            <a:r>
              <a:rPr b="1"/>
              <a:t>fixed mindset</a:t>
            </a:r>
            <a:r>
              <a:rPr/>
              <a:t> treats ability as relatively unchangeable.</a:t>
            </a:r>
          </a:p>
          <a:p>
            <a:pPr lvl="0"/>
            <a:r>
              <a:rPr/>
              <a:t>A </a:t>
            </a:r>
            <a:r>
              <a:rPr b="1"/>
              <a:t>growth mindset</a:t>
            </a:r>
            <a:r>
              <a:rPr/>
              <a:t> treats ability as something that can develop over time.</a:t>
            </a:r>
          </a:p>
          <a:p>
            <a:pPr lvl="0"/>
            <a:r>
              <a:rPr/>
              <a:t>These beliefs can shape how students interpret effort, mistakes, and challenge.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Mindsets can influence how students respond to difficulty</a:t>
            </a:r>
          </a:p>
        </p:txBody>
      </p:sp>
      <p:sp>
        <p:nvSpPr>
          <p:cNvPr id="3" name="Content Placeholder 2"/>
          <p:cNvSpPr>
            <a:spLocks noGrp="1"/>
          </p:cNvSpPr>
          <p:nvPr>
            <p:ph idx="1" sz="half"/>
          </p:nvPr>
        </p:nvSpPr>
        <p:spPr/>
        <p:txBody>
          <a:bodyPr/>
          <a:lstStyle/>
          <a:p>
            <a:pPr lvl="0" indent="0" marL="0">
              <a:buNone/>
            </a:pPr>
            <a:r>
              <a:rPr b="1"/>
              <a:t>More fixed-mindset pattern</a:t>
            </a:r>
          </a:p>
          <a:p>
            <a:pPr lvl="0"/>
            <a:r>
              <a:rPr/>
              <a:t>Avoids challenge more often</a:t>
            </a:r>
          </a:p>
          <a:p>
            <a:pPr lvl="0"/>
            <a:r>
              <a:rPr/>
              <a:t>Treats struggle as evidence of low ability</a:t>
            </a:r>
          </a:p>
          <a:p>
            <a:pPr lvl="0"/>
            <a:r>
              <a:rPr/>
              <a:t>Sees mistakes as threatening</a:t>
            </a:r>
          </a:p>
          <a:p>
            <a:pPr lvl="0"/>
            <a:r>
              <a:rPr/>
              <a:t>May disengage after failure</a:t>
            </a:r>
          </a:p>
        </p:txBody>
      </p:sp>
      <p:sp>
        <p:nvSpPr>
          <p:cNvPr id="4" name="Content Placeholder 3"/>
          <p:cNvSpPr>
            <a:spLocks noGrp="1"/>
          </p:cNvSpPr>
          <p:nvPr>
            <p:ph idx="2" sz="half"/>
          </p:nvPr>
        </p:nvSpPr>
        <p:spPr/>
        <p:txBody>
          <a:bodyPr/>
          <a:lstStyle/>
          <a:p>
            <a:pPr lvl="0" indent="0" marL="0">
              <a:buNone/>
            </a:pPr>
            <a:r>
              <a:rPr b="1"/>
              <a:t>More growth-mindset pattern</a:t>
            </a:r>
          </a:p>
          <a:p>
            <a:pPr lvl="0"/>
            <a:r>
              <a:rPr/>
              <a:t>Accepts challenge more readily</a:t>
            </a:r>
          </a:p>
          <a:p>
            <a:pPr lvl="0"/>
            <a:r>
              <a:rPr/>
              <a:t>Treats struggle as part of learning</a:t>
            </a:r>
          </a:p>
          <a:p>
            <a:pPr lvl="0"/>
            <a:r>
              <a:rPr/>
              <a:t>Uses mistakes as information</a:t>
            </a:r>
          </a:p>
          <a:p>
            <a:pPr lvl="0"/>
            <a:r>
              <a:rPr/>
              <a:t>More likely to try a new strategy</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Praise can send different messages</a:t>
            </a:r>
          </a:p>
        </p:txBody>
      </p:sp>
      <p:sp>
        <p:nvSpPr>
          <p:cNvPr id="3" name="Content Placeholder 2"/>
          <p:cNvSpPr>
            <a:spLocks noGrp="1"/>
          </p:cNvSpPr>
          <p:nvPr>
            <p:ph idx="1"/>
          </p:nvPr>
        </p:nvSpPr>
        <p:spPr/>
        <p:txBody>
          <a:bodyPr/>
          <a:lstStyle/>
          <a:p>
            <a:pPr lvl="0"/>
            <a:r>
              <a:rPr/>
              <a:t>Feedback can shape what students think success means.</a:t>
            </a:r>
          </a:p>
          <a:p>
            <a:pPr lvl="0"/>
            <a:r>
              <a:rPr/>
              <a:t>Praise focused only on being “smart” can sometimes make students more cautious about failure.</a:t>
            </a:r>
          </a:p>
          <a:p>
            <a:pPr lvl="0"/>
            <a:r>
              <a:rPr/>
              <a:t>Praise that recognizes effort, strategy, and revision can support persistence.</a:t>
            </a:r>
          </a:p>
          <a:p>
            <a:pPr lvl="0"/>
            <a:r>
              <a:rPr/>
              <a:t>The larger lesson is that feedback influences motivation when it changes how students interpret success and struggle.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Maslow offered a broad framework for human needs</a:t>
            </a:r>
          </a:p>
        </p:txBody>
      </p:sp>
      <p:sp>
        <p:nvSpPr>
          <p:cNvPr id="3" name="Content Placeholder 2"/>
          <p:cNvSpPr>
            <a:spLocks noGrp="1"/>
          </p:cNvSpPr>
          <p:nvPr>
            <p:ph idx="1"/>
          </p:nvPr>
        </p:nvSpPr>
        <p:spPr/>
        <p:txBody>
          <a:bodyPr/>
          <a:lstStyle/>
          <a:p>
            <a:pPr lvl="0"/>
            <a:r>
              <a:rPr/>
              <a:t>Abraham Maslow proposed a hierarchy of needs as a way to organize human motives.</a:t>
            </a:r>
          </a:p>
          <a:p>
            <a:pPr lvl="0"/>
            <a:r>
              <a:rPr/>
              <a:t>The model is often shown as a pyramid.</a:t>
            </a:r>
          </a:p>
          <a:p>
            <a:pPr lvl="0"/>
            <a:r>
              <a:rPr/>
              <a:t>It moves from basic survival needs toward needs involving belonging, esteem, and fulfillment.</a:t>
            </a:r>
          </a:p>
          <a:p>
            <a:pPr lvl="0"/>
            <a:r>
              <a:rPr/>
              <a:t>It remains influential because it is intuitive, even though it is not a strict law of behavior.</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Lower-level needs: physiological and safety</a:t>
            </a:r>
          </a:p>
        </p:txBody>
      </p:sp>
      <p:sp>
        <p:nvSpPr>
          <p:cNvPr id="3" name="Content Placeholder 2"/>
          <p:cNvSpPr>
            <a:spLocks noGrp="1"/>
          </p:cNvSpPr>
          <p:nvPr>
            <p:ph idx="1"/>
          </p:nvPr>
        </p:nvSpPr>
        <p:spPr/>
        <p:txBody>
          <a:bodyPr/>
          <a:lstStyle/>
          <a:p>
            <a:pPr lvl="0"/>
            <a:r>
              <a:rPr b="1"/>
              <a:t>Physiological needs</a:t>
            </a:r>
            <a:r>
              <a:rPr/>
              <a:t> include food, water, warmth, rest, and shelter.</a:t>
            </a:r>
          </a:p>
          <a:p>
            <a:pPr lvl="0"/>
            <a:r>
              <a:rPr b="1"/>
              <a:t>Safety needs</a:t>
            </a:r>
            <a:r>
              <a:rPr/>
              <a:t> include security, stability, and protection.</a:t>
            </a:r>
          </a:p>
          <a:p>
            <a:pPr lvl="0"/>
            <a:r>
              <a:rPr/>
              <a:t>When these needs are unmet, they can dominate attention.</a:t>
            </a:r>
          </a:p>
          <a:p>
            <a:pPr lvl="0"/>
            <a:r>
              <a:rPr/>
              <a:t>This helps explain why stress, exhaustion, and scarcity can disrupt learning.</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Middle needs: belonging and esteem</a:t>
            </a:r>
          </a:p>
        </p:txBody>
      </p:sp>
      <p:sp>
        <p:nvSpPr>
          <p:cNvPr id="3" name="Content Placeholder 2"/>
          <p:cNvSpPr>
            <a:spLocks noGrp="1"/>
          </p:cNvSpPr>
          <p:nvPr>
            <p:ph idx="1"/>
          </p:nvPr>
        </p:nvSpPr>
        <p:spPr/>
        <p:txBody>
          <a:bodyPr/>
          <a:lstStyle/>
          <a:p>
            <a:pPr lvl="0"/>
            <a:r>
              <a:rPr b="1"/>
              <a:t>Belongingness</a:t>
            </a:r>
            <a:r>
              <a:rPr/>
              <a:t> includes love, connection, and acceptance.</a:t>
            </a:r>
          </a:p>
          <a:p>
            <a:pPr lvl="0"/>
            <a:r>
              <a:rPr b="1"/>
              <a:t>Esteem</a:t>
            </a:r>
            <a:r>
              <a:rPr/>
              <a:t> includes competence, respect, confidence, and accomplishment.</a:t>
            </a:r>
          </a:p>
          <a:p>
            <a:pPr lvl="0"/>
            <a:r>
              <a:rPr/>
              <a:t>These needs help explain why social life and achievement matter so much.</a:t>
            </a:r>
          </a:p>
          <a:p>
            <a:pPr lvl="0"/>
            <a:r>
              <a:rPr/>
              <a:t>Many school behaviors reflect both belonging and esteem at the same time.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Higher needs: self-actualization and self-transcendence</a:t>
            </a:r>
          </a:p>
        </p:txBody>
      </p:sp>
      <p:sp>
        <p:nvSpPr>
          <p:cNvPr id="3" name="Content Placeholder 2"/>
          <p:cNvSpPr>
            <a:spLocks noGrp="1"/>
          </p:cNvSpPr>
          <p:nvPr>
            <p:ph idx="1"/>
          </p:nvPr>
        </p:nvSpPr>
        <p:spPr/>
        <p:txBody>
          <a:bodyPr/>
          <a:lstStyle/>
          <a:p>
            <a:pPr lvl="0"/>
            <a:r>
              <a:rPr b="1"/>
              <a:t>Self-actualization</a:t>
            </a:r>
            <a:r>
              <a:rPr/>
              <a:t> refers to developing one’s potential.</a:t>
            </a:r>
          </a:p>
          <a:p>
            <a:pPr lvl="0"/>
            <a:r>
              <a:rPr/>
              <a:t>Maslow later discussed </a:t>
            </a:r>
            <a:r>
              <a:rPr b="1"/>
              <a:t>self-transcendence</a:t>
            </a:r>
            <a:r>
              <a:rPr/>
              <a:t>, or pursuing meaning beyond the self.</a:t>
            </a:r>
          </a:p>
          <a:p>
            <a:pPr lvl="0"/>
            <a:r>
              <a:rPr/>
              <a:t>These ideas help explain motives such as creativity, purpose, service, and moral commitment.</a:t>
            </a:r>
          </a:p>
          <a:p>
            <a:pPr lvl="0"/>
            <a:r>
              <a:rPr/>
              <a:t>They are best understood as broad humanistic ideas rather than precise stages everyone follows in order.</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Maslow is useful, but real behavior is messier</a:t>
            </a:r>
          </a:p>
        </p:txBody>
      </p:sp>
      <p:sp>
        <p:nvSpPr>
          <p:cNvPr id="3" name="Content Placeholder 2"/>
          <p:cNvSpPr>
            <a:spLocks noGrp="1"/>
          </p:cNvSpPr>
          <p:nvPr>
            <p:ph idx="1"/>
          </p:nvPr>
        </p:nvSpPr>
        <p:spPr/>
        <p:txBody>
          <a:bodyPr/>
          <a:lstStyle/>
          <a:p>
            <a:pPr lvl="0"/>
            <a:r>
              <a:rPr/>
              <a:t>People do not always satisfy one need completely before pursuing another.</a:t>
            </a:r>
          </a:p>
          <a:p>
            <a:pPr lvl="0"/>
            <a:r>
              <a:rPr/>
              <a:t>Higher values can sometimes override basic comfort or safety.</a:t>
            </a:r>
          </a:p>
          <a:p>
            <a:pPr lvl="0"/>
            <a:r>
              <a:rPr/>
              <a:t>Real lives are shaped by culture, circumstance, identity, and history.</a:t>
            </a:r>
          </a:p>
          <a:p>
            <a:pPr lvl="0"/>
            <a:r>
              <a:rPr/>
              <a:t>Maslow is a helpful framework, but it does not explain every case neatly.</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Social motives shape daily life</a:t>
            </a:r>
          </a:p>
        </p:txBody>
      </p:sp>
      <p:sp>
        <p:nvSpPr>
          <p:cNvPr id="3" name="Content Placeholder 2"/>
          <p:cNvSpPr>
            <a:spLocks noGrp="1"/>
          </p:cNvSpPr>
          <p:nvPr>
            <p:ph idx="1"/>
          </p:nvPr>
        </p:nvSpPr>
        <p:spPr/>
        <p:txBody>
          <a:bodyPr/>
          <a:lstStyle/>
          <a:p>
            <a:pPr lvl="0"/>
            <a:r>
              <a:rPr/>
              <a:t>Human beings are strongly motivated by social needs.</a:t>
            </a:r>
          </a:p>
          <a:p>
            <a:pPr lvl="0"/>
            <a:r>
              <a:rPr/>
              <a:t>Three commonly discussed social motives are </a:t>
            </a:r>
            <a:r>
              <a:rPr b="1"/>
              <a:t>achievement</a:t>
            </a:r>
            <a:r>
              <a:rPr/>
              <a:t>, </a:t>
            </a:r>
            <a:r>
              <a:rPr b="1"/>
              <a:t>affiliation</a:t>
            </a:r>
            <a:r>
              <a:rPr/>
              <a:t>, and </a:t>
            </a:r>
            <a:r>
              <a:rPr b="1"/>
              <a:t>intimacy</a:t>
            </a:r>
            <a:r>
              <a:rPr/>
              <a:t>.</a:t>
            </a:r>
          </a:p>
          <a:p>
            <a:pPr lvl="0"/>
            <a:r>
              <a:rPr/>
              <a:t>These motives help explain school performance, friendship patterns, and many personal goals.</a:t>
            </a:r>
          </a:p>
          <a:p>
            <a:pPr lvl="0"/>
            <a:r>
              <a:rPr/>
              <a:t>Social motives matter partly because humans survive and develop in groups.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Achievement pushes people toward competence and success</a:t>
            </a:r>
          </a:p>
        </p:txBody>
      </p:sp>
      <p:sp>
        <p:nvSpPr>
          <p:cNvPr id="3" name="Content Placeholder 2"/>
          <p:cNvSpPr>
            <a:spLocks noGrp="1"/>
          </p:cNvSpPr>
          <p:nvPr>
            <p:ph idx="1"/>
          </p:nvPr>
        </p:nvSpPr>
        <p:spPr/>
        <p:txBody>
          <a:bodyPr/>
          <a:lstStyle/>
          <a:p>
            <a:pPr lvl="0"/>
            <a:r>
              <a:rPr/>
              <a:t>The </a:t>
            </a:r>
            <a:r>
              <a:rPr b="1"/>
              <a:t>need for achievement</a:t>
            </a:r>
            <a:r>
              <a:rPr/>
              <a:t> involves striving to accomplish goals and perform well.</a:t>
            </a:r>
          </a:p>
          <a:p>
            <a:pPr lvl="0"/>
            <a:r>
              <a:rPr/>
              <a:t>It often shows up in competition, persistence, ambition, and mastery.</a:t>
            </a:r>
          </a:p>
          <a:p>
            <a:pPr lvl="0"/>
            <a:r>
              <a:rPr/>
              <a:t>Achievement motivation can be energizing.</a:t>
            </a:r>
          </a:p>
          <a:p>
            <a:pPr lvl="0"/>
            <a:r>
              <a:rPr/>
              <a:t>It can also create pressure when success becomes tied too tightly to self-worth.</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Affiliation and intimacy are related, but not identical</a:t>
            </a:r>
          </a:p>
        </p:txBody>
      </p:sp>
      <p:sp>
        <p:nvSpPr>
          <p:cNvPr id="3" name="Content Placeholder 2"/>
          <p:cNvSpPr>
            <a:spLocks noGrp="1"/>
          </p:cNvSpPr>
          <p:nvPr>
            <p:ph idx="1"/>
          </p:nvPr>
        </p:nvSpPr>
        <p:spPr/>
        <p:txBody>
          <a:bodyPr/>
          <a:lstStyle/>
          <a:p>
            <a:pPr lvl="0"/>
            <a:r>
              <a:rPr b="1"/>
              <a:t>Affiliation</a:t>
            </a:r>
            <a:r>
              <a:rPr/>
              <a:t> involves seeking friendly connection and positive interaction.</a:t>
            </a:r>
          </a:p>
          <a:p>
            <a:pPr lvl="0"/>
            <a:r>
              <a:rPr b="1"/>
              <a:t>Intimacy</a:t>
            </a:r>
            <a:r>
              <a:rPr/>
              <a:t> involves seeking deeper, emotionally meaningful relationships.</a:t>
            </a:r>
          </a:p>
          <a:p>
            <a:pPr lvl="0"/>
            <a:r>
              <a:rPr/>
              <a:t>A person may want both broad social belonging and a few close bonds.</a:t>
            </a:r>
          </a:p>
          <a:p>
            <a:pPr lvl="0"/>
            <a:r>
              <a:rPr/>
              <a:t>These motives help explain why acceptance and trust matter in different ways.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Quick reflection: what is driving this social behavior?</a:t>
            </a:r>
          </a:p>
        </p:txBody>
      </p:sp>
      <p:sp>
        <p:nvSpPr>
          <p:cNvPr id="3" name="Content Placeholder 2"/>
          <p:cNvSpPr>
            <a:spLocks noGrp="1"/>
          </p:cNvSpPr>
          <p:nvPr>
            <p:ph idx="1"/>
          </p:nvPr>
        </p:nvSpPr>
        <p:spPr/>
        <p:txBody>
          <a:bodyPr/>
          <a:lstStyle/>
          <a:p>
            <a:pPr lvl="0"/>
            <a:r>
              <a:rPr/>
              <a:t>Think of a recent choice you made that involved other people.</a:t>
            </a:r>
          </a:p>
          <a:p>
            <a:pPr lvl="0"/>
            <a:r>
              <a:rPr/>
              <a:t>Were you mainly seeking </a:t>
            </a:r>
            <a:r>
              <a:rPr b="1"/>
              <a:t>achievement</a:t>
            </a:r>
            <a:r>
              <a:rPr/>
              <a:t>, </a:t>
            </a:r>
            <a:r>
              <a:rPr b="1"/>
              <a:t>affiliation</a:t>
            </a:r>
            <a:r>
              <a:rPr/>
              <a:t>, or </a:t>
            </a:r>
            <a:r>
              <a:rPr b="1"/>
              <a:t>intimacy</a:t>
            </a:r>
            <a:r>
              <a:rPr/>
              <a:t>?</a:t>
            </a:r>
          </a:p>
          <a:p>
            <a:pPr lvl="0"/>
            <a:r>
              <a:rPr/>
              <a:t>What made that motive feel important in that moment?</a:t>
            </a:r>
          </a:p>
          <a:p>
            <a:pPr lvl="0"/>
            <a:r>
              <a:rPr/>
              <a:t>Turn to a partner and explain your example using one of the three social motives.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need to belong has deep roots</a:t>
            </a:r>
          </a:p>
        </p:txBody>
      </p:sp>
      <p:sp>
        <p:nvSpPr>
          <p:cNvPr id="3" name="Content Placeholder 2"/>
          <p:cNvSpPr>
            <a:spLocks noGrp="1"/>
          </p:cNvSpPr>
          <p:nvPr>
            <p:ph idx="1"/>
          </p:nvPr>
        </p:nvSpPr>
        <p:spPr/>
        <p:txBody>
          <a:bodyPr/>
          <a:lstStyle/>
          <a:p>
            <a:pPr lvl="0"/>
            <a:r>
              <a:rPr/>
              <a:t>Humans are social animals.</a:t>
            </a:r>
          </a:p>
          <a:p>
            <a:pPr lvl="0"/>
            <a:r>
              <a:rPr/>
              <a:t>Group living helped our ancestors share labor, protection, and resources.</a:t>
            </a:r>
          </a:p>
          <a:p>
            <a:pPr lvl="0"/>
            <a:r>
              <a:rPr/>
              <a:t>Because belonging was important for survival, social exclusion can feel deeply distressing.</a:t>
            </a:r>
          </a:p>
          <a:p>
            <a:pPr lvl="0"/>
            <a:r>
              <a:rPr/>
              <a:t>This helps explain why rejection, exclusion, and loneliness can have such strong effects.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Takeaway</a:t>
            </a:r>
          </a:p>
        </p:txBody>
      </p:sp>
      <p:sp>
        <p:nvSpPr>
          <p:cNvPr id="3" name="Content Placeholder 2"/>
          <p:cNvSpPr>
            <a:spLocks noGrp="1"/>
          </p:cNvSpPr>
          <p:nvPr>
            <p:ph idx="1"/>
          </p:nvPr>
        </p:nvSpPr>
        <p:spPr/>
        <p:txBody>
          <a:bodyPr/>
          <a:lstStyle/>
          <a:p>
            <a:pPr lvl="0"/>
            <a:r>
              <a:rPr/>
              <a:t>Motivation cannot be explained by one theory alone.</a:t>
            </a:r>
          </a:p>
          <a:p>
            <a:pPr lvl="0"/>
            <a:r>
              <a:rPr/>
              <a:t>Biological regulation, beliefs about ability, human needs, and social connection all matter.</a:t>
            </a:r>
          </a:p>
          <a:p>
            <a:pPr lvl="0"/>
            <a:r>
              <a:rPr/>
              <a:t>The same behavior can reflect several motives at once.</a:t>
            </a:r>
          </a:p>
          <a:p>
            <a:pPr lvl="0"/>
            <a:r>
              <a:rPr/>
              <a:t>Good psychological thinking asks which motives are most relevant in a given situation.</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Exit ticket</a:t>
            </a:r>
          </a:p>
        </p:txBody>
      </p:sp>
      <p:sp>
        <p:nvSpPr>
          <p:cNvPr id="3" name="Content Placeholder 2"/>
          <p:cNvSpPr>
            <a:spLocks noGrp="1"/>
          </p:cNvSpPr>
          <p:nvPr>
            <p:ph idx="1"/>
          </p:nvPr>
        </p:nvSpPr>
        <p:spPr/>
        <p:txBody>
          <a:bodyPr/>
          <a:lstStyle/>
          <a:p>
            <a:pPr lvl="0"/>
            <a:r>
              <a:rPr/>
              <a:t>Which example best illustrates homeostasis and drive reduction?</a:t>
            </a:r>
          </a:p>
          <a:p>
            <a:pPr lvl="0"/>
            <a:r>
              <a:rPr/>
              <a:t>Which statement best reflects a growth mindset rather than a fixed mindset?</a:t>
            </a:r>
          </a:p>
          <a:p>
            <a:pPr lvl="0"/>
            <a:r>
              <a:rPr/>
              <a:t>In 1–3 sentences, explain one everyday behavior using at least two motivational perspectives from today’s lesson.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Motivation: Biological, Cognitive, Humanistic, and Social Processes</dc:title>
  <dc:creator/>
  <cp:keywords/>
  <dcterms:created xsi:type="dcterms:W3CDTF">2026-03-26T03:30:27Z</dcterms:created>
  <dcterms:modified xsi:type="dcterms:W3CDTF">2026-03-26T03:30:27Z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slide-number">
    <vt:lpwstr>True</vt:lpwstr>
  </property>
  <property fmtid="{D5CDD505-2E9C-101B-9397-08002B2CF9AE}" pid="8" name="subtitle">
    <vt:lpwstr>General Psychology</vt:lpwstr>
  </property>
  <property fmtid="{D5CDD505-2E9C-101B-9397-08002B2CF9AE}" pid="9" name="toc-title">
    <vt:lpwstr>Table of contents</vt:lpwstr>
  </property>
</Properties>
</file>