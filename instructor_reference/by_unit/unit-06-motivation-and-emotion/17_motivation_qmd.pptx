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notesMaster" Target="notesMasters/notesMaster1.xml" /><Relationship Id="rId35" Type="http://schemas.openxmlformats.org/officeDocument/2006/relationships/viewProps" Target="viewProps.xml" /><Relationship Id="rId34" Type="http://schemas.openxmlformats.org/officeDocument/2006/relationships/presProps" Target="presProps.xml" /><Relationship Id="rId1" Type="http://schemas.openxmlformats.org/officeDocument/2006/relationships/slideMaster" Target="slideMasters/slideMaster1.xml" /><Relationship Id="rId37" Type="http://schemas.openxmlformats.org/officeDocument/2006/relationships/tableStyles" Target="tableStyles.xml" /><Relationship Id="rId36"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Last class, we focused on stress and what happens when life feels demanding or overwhelming.</a:t>
            </a:r>
          </a:p>
          <a:p>
            <a:pPr lvl="0" indent="0" marL="0">
              <a:buNone/>
            </a:pPr>
          </a:p>
          <a:p>
            <a:pPr lvl="0" indent="0" marL="0">
              <a:buNone/>
            </a:pPr>
            <a:r>
              <a:rPr/>
              <a:t>Today we’re staying close to that, but we’re asking a different question.</a:t>
            </a:r>
          </a:p>
          <a:p>
            <a:pPr lvl="0" indent="0" marL="0">
              <a:buNone/>
            </a:pPr>
          </a:p>
          <a:p>
            <a:pPr lvl="0" indent="0" marL="0">
              <a:buNone/>
            </a:pPr>
            <a:r>
              <a:rPr/>
              <a:t>Instead of asking what happens when pressure hits, we’re asking what gets behavior started, what direction it takes, and what keeps it going.</a:t>
            </a:r>
          </a:p>
          <a:p>
            <a:pPr lvl="0" indent="0" marL="0">
              <a:buNone/>
            </a:pPr>
          </a:p>
          <a:p>
            <a:pPr lvl="0" indent="0" marL="0">
              <a:buNone/>
            </a:pPr>
            <a:r>
              <a:rPr/>
              <a:t>That is what motivation helps explain.</a:t>
            </a:r>
          </a:p>
          <a:p>
            <a:pPr lvl="0" indent="0" marL="0">
              <a:buNone/>
            </a:pPr>
          </a:p>
          <a:p>
            <a:pPr lvl="0" indent="0" marL="0">
              <a:buNone/>
            </a:pPr>
            <a:r>
              <a:rPr/>
              <a:t>By the end of class, I want students to be able to look at a behavior and ask better psychological questions about it instead of jumping straight to labels like lazy, driven, or unmotivated.</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Here’s the path for today.</a:t>
            </a:r>
          </a:p>
          <a:p>
            <a:pPr lvl="0" indent="0" marL="0">
              <a:buNone/>
            </a:pPr>
          </a:p>
          <a:p>
            <a:pPr lvl="0" indent="0" marL="0">
              <a:buNone/>
            </a:pPr>
            <a:r>
              <a:rPr/>
              <a:t>We’re going to start with what motivation is. Then we’ll look at intrinsic and extrinsic motivation, how rewards can change motivation, and how needs, drives, goals, and incentives help explain action.</a:t>
            </a:r>
          </a:p>
          <a:p>
            <a:pPr lvl="0" indent="0" marL="0">
              <a:buNone/>
            </a:pPr>
          </a:p>
          <a:p>
            <a:pPr lvl="0" indent="0" marL="0">
              <a:buNone/>
            </a:pPr>
            <a:r>
              <a:rPr/>
              <a:t>After that, we’ll look at major explanations of motivation, including arousal, self-efficacy, social motives, and Maslow.</a:t>
            </a:r>
          </a:p>
          <a:p>
            <a:pPr lvl="0" indent="0" marL="0">
              <a:buNone/>
            </a:pPr>
          </a:p>
          <a:p>
            <a:pPr lvl="0" indent="0" marL="0">
              <a:buNone/>
            </a:pPr>
            <a:r>
              <a:rPr/>
              <a:t>Then we’ll use hunger as a biological example, wrap up the big picture, and finish with an exit ticket.</a:t>
            </a:r>
          </a:p>
          <a:p>
            <a:pPr lvl="0" indent="0" marL="0">
              <a:buNone/>
            </a:pPr>
          </a:p>
          <a:p>
            <a:pPr lvl="0" indent="0" marL="0">
              <a:buNone/>
            </a:pPr>
            <a:r>
              <a:rPr/>
              <a:t>One idea to keep in mind the whole time: the same behavior can come from different reasons.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Psychologists use motivation to explain goal-directed behavior.</a:t>
            </a:r>
          </a:p>
          <a:p>
            <a:pPr lvl="0" indent="0" marL="0">
              <a:buNone/>
            </a:pPr>
          </a:p>
          <a:p>
            <a:pPr lvl="0" indent="0" marL="0">
              <a:buNone/>
            </a:pPr>
            <a:r>
              <a:rPr/>
              <a:t>Motivation helps explain why behavior starts, what direction it takes, and why it continues.</a:t>
            </a:r>
          </a:p>
          <a:p>
            <a:pPr lvl="0" indent="0" marL="0">
              <a:buNone/>
            </a:pPr>
          </a:p>
          <a:p>
            <a:pPr lvl="0" indent="0" marL="0">
              <a:buNone/>
            </a:pPr>
            <a:r>
              <a:rPr/>
              <a:t>Keep this definition simple and direct.</a:t>
            </a:r>
          </a:p>
          <a:p>
            <a:pPr lvl="0" indent="0" marL="0">
              <a:buNone/>
            </a:pPr>
          </a:p>
          <a:p>
            <a:pPr lvl="0" indent="0" marL="0">
              <a:buNone/>
            </a:pPr>
            <a:r>
              <a:rPr/>
              <a:t>The goal here is to establish that motivation is not just “wanting something.” It is a process that helps explain behavior over time.</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Introduce the first major idea of the day: the same behavior can come from different reasons.</a:t>
            </a:r>
          </a:p>
          <a:p>
            <a:pPr lvl="0" indent="0" marL="0">
              <a:buNone/>
            </a:pPr>
          </a:p>
          <a:p>
            <a:pPr lvl="0" indent="0" marL="0">
              <a:buNone/>
            </a:pPr>
            <a:r>
              <a:rPr/>
              <a:t>Say: “Think about two students who both study hard. One studies because the topic is interesting. Another studies because they are scared of failing. Same behavior. Different reasons.”</a:t>
            </a:r>
          </a:p>
          <a:p>
            <a:pPr lvl="0" indent="0" marL="0">
              <a:buNone/>
            </a:pPr>
          </a:p>
          <a:p>
            <a:pPr lvl="0" indent="0" marL="0">
              <a:buNone/>
            </a:pPr>
            <a:r>
              <a:rPr/>
              <a:t>“That matters because behavior alone does not tell the whole story.”</a:t>
            </a:r>
          </a:p>
          <a:p>
            <a:pPr lvl="0" indent="0" marL="0">
              <a:buNone/>
            </a:pPr>
          </a:p>
          <a:p>
            <a:pPr lvl="0" indent="0" marL="0">
              <a:buNone/>
            </a:pPr>
            <a:r>
              <a:rPr/>
              <a:t>Then give the prompt: “Write down one everyday behavior that could come from more than one reason.”</a:t>
            </a:r>
          </a:p>
          <a:p>
            <a:pPr lvl="0" indent="0" marL="0">
              <a:buNone/>
            </a:pPr>
          </a:p>
          <a:p>
            <a:pPr lvl="0" indent="0" marL="0">
              <a:buNone/>
            </a:pPr>
            <a:r>
              <a:rPr/>
              <a:t>Give students a brief moment to jot an example.</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one of the most useful distinctions in the whole topic.</a:t>
            </a:r>
          </a:p>
          <a:p>
            <a:pPr lvl="0" indent="0" marL="0">
              <a:buNone/>
            </a:pPr>
          </a:p>
          <a:p>
            <a:pPr lvl="0" indent="0" marL="0">
              <a:buNone/>
            </a:pPr>
            <a:r>
              <a:rPr/>
              <a:t>Frame it as a comparison students can use in school, work, hobbies, and relationships.</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Keep this concrete.</a:t>
            </a:r>
          </a:p>
          <a:p>
            <a:pPr lvl="0" indent="0" marL="0">
              <a:buNone/>
            </a:pPr>
          </a:p>
          <a:p>
            <a:pPr lvl="0" indent="0" marL="0">
              <a:buNone/>
            </a:pPr>
            <a:r>
              <a:rPr/>
              <a:t>The key idea is that the activity itself matters, not just the outcome that follows.</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Make sure students understand that extrinsic motivation is not automatically bad.</a:t>
            </a:r>
          </a:p>
          <a:p>
            <a:pPr lvl="0" indent="0" marL="0">
              <a:buNone/>
            </a:pPr>
          </a:p>
          <a:p>
            <a:pPr lvl="0" indent="0" marL="0">
              <a:buNone/>
            </a:pPr>
            <a:r>
              <a:rPr/>
              <a:t>The stronger point is that intrinsic and extrinsic motivation work differently.</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bridge into overjustification.</a:t>
            </a:r>
          </a:p>
          <a:p>
            <a:pPr lvl="0" indent="0" marL="0">
              <a:buNone/>
            </a:pPr>
          </a:p>
          <a:p>
            <a:pPr lvl="0" indent="0" marL="0">
              <a:buNone/>
            </a:pPr>
            <a:r>
              <a:rPr/>
              <a:t>The point is not “rewards are bad.” The point is that rewards are not neutral.</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Use one strong example and make sure students see the shift from enjoyment to payoff.</a:t>
            </a:r>
          </a:p>
          <a:p>
            <a:pPr lvl="0" indent="0" marL="0">
              <a:buNone/>
            </a:pPr>
          </a:p>
          <a:p>
            <a:pPr lvl="0" indent="0" marL="0">
              <a:buNone/>
            </a:pPr>
            <a:r>
              <a:rPr/>
              <a:t>This is one of the highest-payoff concepts in the topic because students can apply it to school, work, hobbies, and habits.</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Tell students this is another way psychologists explain motivation.</a:t>
            </a:r>
          </a:p>
          <a:p>
            <a:pPr lvl="0" indent="0" marL="0">
              <a:buNone/>
            </a:pPr>
          </a:p>
          <a:p>
            <a:pPr lvl="0" indent="0" marL="0">
              <a:buNone/>
            </a:pPr>
            <a:r>
              <a:rPr/>
              <a:t>It gives them a more mechanical chain for how motives turn into behavior.</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Walk through the chain slowly.</a:t>
            </a:r>
          </a:p>
          <a:p>
            <a:pPr lvl="0" indent="0" marL="0">
              <a:buNone/>
            </a:pPr>
          </a:p>
          <a:p>
            <a:pPr lvl="0" indent="0" marL="0">
              <a:buNone/>
            </a:pPr>
            <a:r>
              <a:rPr/>
              <a:t>Students usually understand it well once it is tied to a concrete example like hunger.</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where you can reinforce that internal push and external pull can work together.</a:t>
            </a:r>
          </a:p>
          <a:p>
            <a:pPr lvl="0" indent="0" marL="0">
              <a:buNone/>
            </a:pPr>
          </a:p>
          <a:p>
            <a:pPr lvl="0" indent="0" marL="0">
              <a:buNone/>
            </a:pPr>
            <a:r>
              <a:rPr/>
              <a:t>A person may be hungry and also strongly influenced by the sight or smell of food.</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Frame this as a strength, not a problem.</a:t>
            </a:r>
          </a:p>
          <a:p>
            <a:pPr lvl="0" indent="0" marL="0">
              <a:buNone/>
            </a:pPr>
          </a:p>
          <a:p>
            <a:pPr lvl="0" indent="0" marL="0">
              <a:buNone/>
            </a:pPr>
            <a:r>
              <a:rPr/>
              <a:t>Different theories highlight different parts of behavior.</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Keep this brief.</a:t>
            </a:r>
          </a:p>
          <a:p>
            <a:pPr lvl="0" indent="0" marL="0">
              <a:buNone/>
            </a:pPr>
          </a:p>
          <a:p>
            <a:pPr lvl="0" indent="0" marL="0">
              <a:buNone/>
            </a:pPr>
            <a:r>
              <a:rPr/>
              <a:t>It belongs in the history of motivation explanations, but it should not dominate the session.</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one of the clearest explanatory models in the deck.</a:t>
            </a:r>
          </a:p>
          <a:p>
            <a:pPr lvl="0" indent="0" marL="0">
              <a:buNone/>
            </a:pPr>
          </a:p>
          <a:p>
            <a:pPr lvl="0" indent="0" marL="0">
              <a:buNone/>
            </a:pPr>
            <a:r>
              <a:rPr/>
              <a:t>Keep it tied to restoring balance, not just memorizing terms.</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strongest place to connect back to the previous stress class without reteaching stress.</a:t>
            </a:r>
          </a:p>
          <a:p>
            <a:pPr lvl="0" indent="0" marL="0">
              <a:buNone/>
            </a:pPr>
          </a:p>
          <a:p>
            <a:pPr lvl="0" indent="0" marL="0">
              <a:buNone/>
            </a:pPr>
            <a:r>
              <a:rPr/>
              <a:t>Stress and motivation overlap here through activation, but the topic today is still motivation.</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Use a quick comparison: folding laundry fast versus solving a difficult unfamiliar exam problem</a:t>
            </a:r>
          </a:p>
          <a:p>
            <a:pPr lvl="0" indent="0" marL="0">
              <a:buNone/>
            </a:pPr>
          </a:p>
          <a:p>
            <a:pPr lvl="0" indent="0" marL="0">
              <a:buNone/>
            </a:pPr>
            <a:r>
              <a:rPr/>
              <a:t>That makes the task-fit point clearer immediately.</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one of the highest-payoff concepts in the whole topic.</a:t>
            </a:r>
          </a:p>
          <a:p>
            <a:pPr lvl="0" indent="0" marL="0">
              <a:buNone/>
            </a:pPr>
          </a:p>
          <a:p>
            <a:pPr lvl="0" indent="0" marL="0">
              <a:buNone/>
            </a:pPr>
            <a:r>
              <a:rPr/>
              <a:t>Students often confuse wanting something with believing they can do it. This slide helps break that confusion.</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keeps social motives present without turning them into a giant separate unit.</a:t>
            </a:r>
          </a:p>
          <a:p>
            <a:pPr lvl="0" indent="0" marL="0">
              <a:buNone/>
            </a:pPr>
          </a:p>
          <a:p>
            <a:pPr lvl="0" indent="0" marL="0">
              <a:buNone/>
            </a:pPr>
            <a:r>
              <a:rPr/>
              <a:t>Make the point that humans are not motivated only by survival needs.</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Give one quick example for each if needed.</a:t>
            </a:r>
          </a:p>
          <a:p>
            <a:pPr lvl="0" indent="0" marL="0">
              <a:buNone/>
            </a:pPr>
          </a:p>
          <a:p>
            <a:pPr lvl="0" indent="0" marL="0">
              <a:buNone/>
            </a:pPr>
            <a:r>
              <a:rPr/>
              <a:t>Achievement can help explain ambition. Affiliation can help explain wanting to belong. Intimacy can help explain deep relational bonds.</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where Maslow comes in.</a:t>
            </a:r>
          </a:p>
          <a:p>
            <a:pPr lvl="0" indent="0" marL="0">
              <a:buNone/>
            </a:pPr>
          </a:p>
          <a:p>
            <a:pPr lvl="0" indent="0" marL="0">
              <a:buNone/>
            </a:pPr>
            <a:r>
              <a:rPr/>
              <a:t>Treat it as a broad framework, not a perfect staircase or rulebook.</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Make this distinction explicit.</a:t>
            </a:r>
          </a:p>
          <a:p>
            <a:pPr lvl="0" indent="0" marL="0">
              <a:buNone/>
            </a:pPr>
          </a:p>
          <a:p>
            <a:pPr lvl="0" indent="0" marL="0">
              <a:buNone/>
            </a:pPr>
            <a:r>
              <a:rPr/>
              <a:t>This is one place where students often need a simpler contrast rather than a lot of terminology.</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part was underdeveloped in the earlier draft, so teach it clearly.</a:t>
            </a:r>
          </a:p>
          <a:p>
            <a:pPr lvl="0" indent="0" marL="0">
              <a:buNone/>
            </a:pPr>
          </a:p>
          <a:p>
            <a:pPr lvl="0" indent="0" marL="0">
              <a:buNone/>
            </a:pPr>
            <a:r>
              <a:rPr/>
              <a:t>Students need to see this as a classification system, not just another list.</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Keep this concrete and familiar.</a:t>
            </a:r>
          </a:p>
          <a:p>
            <a:pPr lvl="0" indent="0" marL="0">
              <a:buNone/>
            </a:pPr>
          </a:p>
          <a:p>
            <a:pPr lvl="0" indent="0" marL="0">
              <a:buNone/>
            </a:pPr>
            <a:r>
              <a:rPr/>
              <a:t>These are usually the easiest motive types for students to understand.</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Students often understand this better with curiosity as the anchor example.</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where culture and experience become especially important.</a:t>
            </a:r>
          </a:p>
          <a:p>
            <a:pPr lvl="0" indent="0" marL="0">
              <a:buNone/>
            </a:pPr>
          </a:p>
          <a:p>
            <a:pPr lvl="0" indent="0" marL="0">
              <a:buNone/>
            </a:pPr>
            <a:r>
              <a:rPr/>
              <a:t>Learned motives are not simply “fake” motives. They are psychologically powerful.</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Use hunger as the main biological anchor and keep it controlled.</a:t>
            </a:r>
          </a:p>
          <a:p>
            <a:pPr lvl="0" indent="0" marL="0">
              <a:buNone/>
            </a:pPr>
          </a:p>
          <a:p>
            <a:pPr lvl="0" indent="0" marL="0">
              <a:buNone/>
            </a:pPr>
            <a:r>
              <a:rPr/>
              <a:t>Do not let it expand into a separate unit on obesity or eating disorders here.</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Keep this concise.</a:t>
            </a:r>
          </a:p>
          <a:p>
            <a:pPr lvl="0" indent="0" marL="0">
              <a:buNone/>
            </a:pPr>
          </a:p>
          <a:p>
            <a:pPr lvl="0" indent="0" marL="0">
              <a:buNone/>
            </a:pPr>
            <a:r>
              <a:rPr/>
              <a:t>This slide is for basic biological grounding, not an extended physiology lecture.</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Read this slide more slowly than the others.</a:t>
            </a:r>
          </a:p>
          <a:p>
            <a:pPr lvl="0" indent="0" marL="0">
              <a:buNone/>
            </a:pPr>
          </a:p>
          <a:p>
            <a:pPr lvl="0" indent="0" marL="0">
              <a:buNone/>
            </a:pPr>
            <a:r>
              <a:rPr/>
              <a:t>This is the point where you restitch the lesson into one coherent whole.</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Use the exit ticket as the final check on whether students can use the framework, not just repeat terms.</a:t>
            </a:r>
          </a:p>
          <a:p>
            <a:pPr lvl="0" indent="0" marL="0">
              <a:buNone/>
            </a:pPr>
          </a:p>
          <a:p>
            <a:pPr lvl="0" indent="0" marL="0">
              <a:buNone/>
            </a:pPr>
            <a:r>
              <a:rPr/>
              <a:t>Collect responses or move them into the LMS depending on your class routine.</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0.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Motivation</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PSY-132</a:t>
            </a:r>
            <a:br/>
            <a:b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Motivation</a:t>
            </a:r>
          </a:p>
        </p:txBody>
      </p:sp>
      <p:sp>
        <p:nvSpPr>
          <p:cNvPr id="3" name="Content Placeholder 2"/>
          <p:cNvSpPr>
            <a:spLocks noGrp="1"/>
          </p:cNvSpPr>
          <p:nvPr>
            <p:ph idx="1"/>
          </p:nvPr>
        </p:nvSpPr>
        <p:spPr/>
        <p:txBody>
          <a:bodyPr/>
          <a:lstStyle/>
          <a:p>
            <a:pPr lvl="0" indent="0" marL="0">
              <a:spcBef>
                <a:spcPts val="3000"/>
              </a:spcBef>
              <a:buNone/>
            </a:pPr>
            <a:r>
              <a:rPr b="1"/>
              <a:t>How psychologists explain goal-directed behavior</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Agenda</a:t>
            </a:r>
          </a:p>
        </p:txBody>
      </p:sp>
      <p:sp>
        <p:nvSpPr>
          <p:cNvPr id="3" name="Content Placeholder 2"/>
          <p:cNvSpPr>
            <a:spLocks noGrp="1"/>
          </p:cNvSpPr>
          <p:nvPr>
            <p:ph idx="1"/>
          </p:nvPr>
        </p:nvSpPr>
        <p:spPr/>
        <p:txBody>
          <a:bodyPr/>
          <a:lstStyle/>
          <a:p>
            <a:pPr lvl="0"/>
            <a:r>
              <a:rPr/>
              <a:t>What motivation is</a:t>
            </a:r>
          </a:p>
          <a:p>
            <a:pPr lvl="0"/>
            <a:r>
              <a:rPr/>
              <a:t>Intrinsic and extrinsic motivation</a:t>
            </a:r>
          </a:p>
          <a:p>
            <a:pPr lvl="0"/>
            <a:r>
              <a:rPr/>
              <a:t>How rewards can change motivation</a:t>
            </a:r>
          </a:p>
          <a:p>
            <a:pPr lvl="0"/>
            <a:r>
              <a:rPr/>
              <a:t>Needs, drives, goals, and incentives</a:t>
            </a:r>
          </a:p>
          <a:p>
            <a:pPr lvl="0"/>
            <a:r>
              <a:rPr/>
              <a:t>Major explanations of motivation</a:t>
            </a:r>
          </a:p>
          <a:p>
            <a:pPr lvl="0"/>
            <a:r>
              <a:rPr/>
              <a:t>Arousal, self-efficacy, and social motives</a:t>
            </a:r>
          </a:p>
          <a:p>
            <a:pPr lvl="0"/>
            <a:r>
              <a:rPr/>
              <a:t>Basic needs, growth needs, and motive types</a:t>
            </a:r>
          </a:p>
          <a:p>
            <a:pPr lvl="0"/>
            <a:r>
              <a:rPr/>
              <a:t>Hunger as a biological example</a:t>
            </a:r>
          </a:p>
          <a:p>
            <a:pPr lvl="0"/>
            <a:r>
              <a:rPr/>
              <a:t>Summary</a:t>
            </a:r>
          </a:p>
          <a:p>
            <a:pPr lvl="0"/>
            <a:r>
              <a:rPr/>
              <a:t>Exit ticket</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Motivation helps explain why behavior starts, changes, and continues</a:t>
            </a:r>
          </a:p>
        </p:txBody>
      </p:sp>
      <p:sp>
        <p:nvSpPr>
          <p:cNvPr id="3" name="Content Placeholder 2"/>
          <p:cNvSpPr>
            <a:spLocks noGrp="1"/>
          </p:cNvSpPr>
          <p:nvPr>
            <p:ph idx="1"/>
          </p:nvPr>
        </p:nvSpPr>
        <p:spPr/>
        <p:txBody>
          <a:bodyPr/>
          <a:lstStyle/>
          <a:p>
            <a:pPr lvl="0" indent="0" marL="0">
              <a:buNone/>
            </a:pPr>
            <a:r>
              <a:rPr/>
              <a:t>Motivation is about goal-directed behavior.</a:t>
            </a:r>
          </a:p>
          <a:p>
            <a:pPr lvl="0" indent="0" marL="0">
              <a:buNone/>
            </a:pPr>
            <a:r>
              <a:rPr/>
              <a:t>It helps explain:</a:t>
            </a:r>
          </a:p>
          <a:p>
            <a:pPr lvl="0"/>
            <a:r>
              <a:rPr/>
              <a:t>why behavior starts</a:t>
            </a:r>
          </a:p>
          <a:p>
            <a:pPr lvl="0"/>
            <a:r>
              <a:rPr/>
              <a:t>what direction behavior takes</a:t>
            </a:r>
          </a:p>
          <a:p>
            <a:pPr lvl="0"/>
            <a:r>
              <a:rPr/>
              <a:t>why behavior continues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same behavior can come from different reasons</a:t>
            </a:r>
          </a:p>
        </p:txBody>
      </p:sp>
      <p:sp>
        <p:nvSpPr>
          <p:cNvPr id="3" name="Content Placeholder 2"/>
          <p:cNvSpPr>
            <a:spLocks noGrp="1"/>
          </p:cNvSpPr>
          <p:nvPr>
            <p:ph idx="1"/>
          </p:nvPr>
        </p:nvSpPr>
        <p:spPr/>
        <p:txBody>
          <a:bodyPr/>
          <a:lstStyle/>
          <a:p>
            <a:pPr lvl="0" indent="0" marL="0">
              <a:buNone/>
            </a:pPr>
            <a:r>
              <a:rPr/>
              <a:t>Two people can do the same thing for very different reasons.</a:t>
            </a:r>
          </a:p>
          <a:p>
            <a:pPr lvl="0" indent="0" marL="0">
              <a:buNone/>
            </a:pPr>
            <a:r>
              <a:rPr/>
              <a:t>Example:</a:t>
            </a:r>
          </a:p>
          <a:p>
            <a:pPr lvl="0"/>
            <a:r>
              <a:rPr/>
              <a:t>one student studies because they are interested</a:t>
            </a:r>
          </a:p>
          <a:p>
            <a:pPr lvl="0"/>
            <a:r>
              <a:rPr/>
              <a:t>another studies because they are scared of failing</a:t>
            </a:r>
          </a:p>
          <a:p>
            <a:pPr lvl="0" indent="0" marL="0">
              <a:buNone/>
            </a:pPr>
            <a:r>
              <a:rPr/>
              <a:t>Behavior alone does not tell the whole story.</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Motivation can come from intrinsic and extrinsic sources</a:t>
            </a:r>
          </a:p>
        </p:txBody>
      </p:sp>
      <p:sp>
        <p:nvSpPr>
          <p:cNvPr id="3" name="Content Placeholder 2"/>
          <p:cNvSpPr>
            <a:spLocks noGrp="1"/>
          </p:cNvSpPr>
          <p:nvPr>
            <p:ph idx="1"/>
          </p:nvPr>
        </p:nvSpPr>
        <p:spPr/>
        <p:txBody>
          <a:bodyPr/>
          <a:lstStyle/>
          <a:p>
            <a:pPr lvl="0" indent="0" marL="0">
              <a:buNone/>
            </a:pPr>
            <a:r>
              <a:rPr/>
              <a:t>Psychologists often distinguish between:</a:t>
            </a:r>
          </a:p>
          <a:p>
            <a:pPr lvl="0"/>
            <a:r>
              <a:rPr b="1"/>
              <a:t>intrinsic motivation</a:t>
            </a:r>
          </a:p>
          <a:p>
            <a:pPr lvl="0"/>
            <a:r>
              <a:rPr b="1"/>
              <a:t>extrinsic motivation</a:t>
            </a:r>
          </a:p>
          <a:p>
            <a:pPr lvl="0" indent="0" marL="0">
              <a:buNone/>
            </a:pPr>
            <a:r>
              <a:rPr/>
              <a:t>This helps explain why the same action can feel very different to different people.</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Intrinsic motivation means the activity itself matters</a:t>
            </a:r>
          </a:p>
        </p:txBody>
      </p:sp>
      <p:sp>
        <p:nvSpPr>
          <p:cNvPr id="3" name="Content Placeholder 2"/>
          <p:cNvSpPr>
            <a:spLocks noGrp="1"/>
          </p:cNvSpPr>
          <p:nvPr>
            <p:ph idx="1"/>
          </p:nvPr>
        </p:nvSpPr>
        <p:spPr/>
        <p:txBody>
          <a:bodyPr/>
          <a:lstStyle/>
          <a:p>
            <a:pPr lvl="0" indent="0" marL="0">
              <a:buNone/>
            </a:pPr>
            <a:r>
              <a:rPr/>
              <a:t>A person acts because the activity is satisfying in itself.</a:t>
            </a:r>
          </a:p>
          <a:p>
            <a:pPr lvl="0" indent="0" marL="0">
              <a:buNone/>
            </a:pPr>
            <a:r>
              <a:rPr/>
              <a:t>Examples:</a:t>
            </a:r>
          </a:p>
          <a:p>
            <a:pPr lvl="0"/>
            <a:r>
              <a:rPr/>
              <a:t>reading because the topic is interesting</a:t>
            </a:r>
          </a:p>
          <a:p>
            <a:pPr lvl="0"/>
            <a:r>
              <a:rPr/>
              <a:t>practicing because improvement feels rewarding</a:t>
            </a:r>
          </a:p>
          <a:p>
            <a:pPr lvl="0"/>
            <a:r>
              <a:rPr/>
              <a:t>solving a problem because the challenge is enjoyable</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Extrinsic motivation means the activity leads to some outside outcome</a:t>
            </a:r>
          </a:p>
        </p:txBody>
      </p:sp>
      <p:sp>
        <p:nvSpPr>
          <p:cNvPr id="3" name="Content Placeholder 2"/>
          <p:cNvSpPr>
            <a:spLocks noGrp="1"/>
          </p:cNvSpPr>
          <p:nvPr>
            <p:ph idx="1"/>
          </p:nvPr>
        </p:nvSpPr>
        <p:spPr/>
        <p:txBody>
          <a:bodyPr/>
          <a:lstStyle/>
          <a:p>
            <a:pPr lvl="0" indent="0" marL="0">
              <a:buNone/>
            </a:pPr>
            <a:r>
              <a:rPr/>
              <a:t>A person acts because the activity leads to something else.</a:t>
            </a:r>
          </a:p>
          <a:p>
            <a:pPr lvl="0" indent="0" marL="0">
              <a:buNone/>
            </a:pPr>
            <a:r>
              <a:rPr/>
              <a:t>Examples:</a:t>
            </a:r>
          </a:p>
          <a:p>
            <a:pPr lvl="0"/>
            <a:r>
              <a:rPr/>
              <a:t>studying for a grade</a:t>
            </a:r>
          </a:p>
          <a:p>
            <a:pPr lvl="0"/>
            <a:r>
              <a:rPr/>
              <a:t>working for pay</a:t>
            </a:r>
          </a:p>
          <a:p>
            <a:pPr lvl="0"/>
            <a:r>
              <a:rPr/>
              <a:t>doing something to gain approval or avoid punishment</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Rewards can help behavior, but they can also change it</a:t>
            </a:r>
          </a:p>
        </p:txBody>
      </p:sp>
      <p:sp>
        <p:nvSpPr>
          <p:cNvPr id="3" name="Content Placeholder 2"/>
          <p:cNvSpPr>
            <a:spLocks noGrp="1"/>
          </p:cNvSpPr>
          <p:nvPr>
            <p:ph idx="1"/>
          </p:nvPr>
        </p:nvSpPr>
        <p:spPr/>
        <p:txBody>
          <a:bodyPr/>
          <a:lstStyle/>
          <a:p>
            <a:pPr lvl="0" indent="0" marL="0">
              <a:buNone/>
            </a:pPr>
            <a:r>
              <a:rPr/>
              <a:t>A reward can increase behavior.</a:t>
            </a:r>
          </a:p>
          <a:p>
            <a:pPr lvl="0" indent="0" marL="0">
              <a:buNone/>
            </a:pPr>
            <a:r>
              <a:rPr/>
              <a:t>But a reward can also change </a:t>
            </a:r>
            <a:r>
              <a:rPr b="1"/>
              <a:t>why</a:t>
            </a:r>
            <a:r>
              <a:rPr/>
              <a:t> a person is acting.</a:t>
            </a:r>
          </a:p>
          <a:p>
            <a:pPr lvl="0" indent="0" marL="0">
              <a:buNone/>
            </a:pPr>
            <a:r>
              <a:rPr/>
              <a:t>That change matters because motivation is not only about output.</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Overjustification shows that rewards can weaken interest</a:t>
            </a:r>
          </a:p>
        </p:txBody>
      </p:sp>
      <p:sp>
        <p:nvSpPr>
          <p:cNvPr id="3" name="Content Placeholder 2"/>
          <p:cNvSpPr>
            <a:spLocks noGrp="1"/>
          </p:cNvSpPr>
          <p:nvPr>
            <p:ph idx="1"/>
          </p:nvPr>
        </p:nvSpPr>
        <p:spPr/>
        <p:txBody>
          <a:bodyPr/>
          <a:lstStyle/>
          <a:p>
            <a:pPr lvl="0" indent="0" marL="0">
              <a:buNone/>
            </a:pPr>
            <a:r>
              <a:rPr/>
              <a:t>The </a:t>
            </a:r>
            <a:r>
              <a:rPr b="1"/>
              <a:t>overjustification effect</a:t>
            </a:r>
            <a:r>
              <a:rPr/>
              <a:t> happens when an outside reward weakens a person’s original interest in an activity.</a:t>
            </a:r>
          </a:p>
          <a:p>
            <a:pPr lvl="0" indent="0" marL="0">
              <a:buNone/>
            </a:pPr>
            <a:r>
              <a:rPr/>
              <a:t>Example:</a:t>
            </a:r>
          </a:p>
          <a:p>
            <a:pPr lvl="0"/>
            <a:r>
              <a:rPr/>
              <a:t>someone already enjoys drawing</a:t>
            </a:r>
          </a:p>
          <a:p>
            <a:pPr lvl="0"/>
            <a:r>
              <a:rPr/>
              <a:t>then they begin getting rewarded for every drawing</a:t>
            </a:r>
          </a:p>
          <a:p>
            <a:pPr lvl="0"/>
            <a:r>
              <a:rPr/>
              <a:t>drawing may begin to feel more like work than enjoyment</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Motivation can be explained through needs, drives, goals, and incentives</a:t>
            </a:r>
          </a:p>
        </p:txBody>
      </p:sp>
      <p:sp>
        <p:nvSpPr>
          <p:cNvPr id="3" name="Content Placeholder 2"/>
          <p:cNvSpPr>
            <a:spLocks noGrp="1"/>
          </p:cNvSpPr>
          <p:nvPr>
            <p:ph idx="1"/>
          </p:nvPr>
        </p:nvSpPr>
        <p:spPr/>
        <p:txBody>
          <a:bodyPr/>
          <a:lstStyle/>
          <a:p>
            <a:pPr lvl="0" indent="0" marL="0">
              <a:buNone/>
            </a:pPr>
            <a:r>
              <a:rPr/>
              <a:t>A useful way to organize motivation is through:</a:t>
            </a:r>
          </a:p>
          <a:p>
            <a:pPr lvl="0"/>
            <a:r>
              <a:rPr b="1"/>
              <a:t>need</a:t>
            </a:r>
          </a:p>
          <a:p>
            <a:pPr lvl="0"/>
            <a:r>
              <a:rPr b="1"/>
              <a:t>drive</a:t>
            </a:r>
          </a:p>
          <a:p>
            <a:pPr lvl="0"/>
            <a:r>
              <a:rPr b="1"/>
              <a:t>response</a:t>
            </a:r>
          </a:p>
          <a:p>
            <a:pPr lvl="0"/>
            <a:r>
              <a:rPr b="1"/>
              <a:t>goal</a:t>
            </a:r>
          </a:p>
          <a:p>
            <a:pPr lvl="0"/>
            <a:r>
              <a:rPr b="1"/>
              <a:t>incentive</a:t>
            </a:r>
          </a:p>
          <a:p>
            <a:pPr lvl="0" indent="0" marL="0">
              <a:buNone/>
            </a:pPr>
            <a:r>
              <a:rPr/>
              <a:t>These help explain how motives become actions.</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 basic motivation chain</a:t>
            </a:r>
          </a:p>
        </p:txBody>
      </p:sp>
      <p:sp>
        <p:nvSpPr>
          <p:cNvPr id="3" name="Content Placeholder 2"/>
          <p:cNvSpPr>
            <a:spLocks noGrp="1"/>
          </p:cNvSpPr>
          <p:nvPr>
            <p:ph idx="1"/>
          </p:nvPr>
        </p:nvSpPr>
        <p:spPr/>
        <p:txBody>
          <a:bodyPr/>
          <a:lstStyle/>
          <a:p>
            <a:pPr lvl="0" indent="0" marL="0">
              <a:spcBef>
                <a:spcPts val="3000"/>
              </a:spcBef>
              <a:buNone/>
            </a:pPr>
            <a:r>
              <a:rPr b="1"/>
              <a:t>Need → Drive → Response → Goal</a:t>
            </a:r>
          </a:p>
          <a:p>
            <a:pPr lvl="0"/>
            <a:r>
              <a:rPr b="1"/>
              <a:t>Need:</a:t>
            </a:r>
            <a:r>
              <a:rPr/>
              <a:t> something is missing or out of balance</a:t>
            </a:r>
          </a:p>
          <a:p>
            <a:pPr lvl="0"/>
            <a:r>
              <a:rPr b="1"/>
              <a:t>Drive:</a:t>
            </a:r>
            <a:r>
              <a:rPr/>
              <a:t> an internal push</a:t>
            </a:r>
          </a:p>
          <a:p>
            <a:pPr lvl="0"/>
            <a:r>
              <a:rPr b="1"/>
              <a:t>Response:</a:t>
            </a:r>
            <a:r>
              <a:rPr/>
              <a:t> the behavior</a:t>
            </a:r>
          </a:p>
          <a:p>
            <a:pPr lvl="0"/>
            <a:r>
              <a:rPr b="1"/>
              <a:t>Goal:</a:t>
            </a:r>
            <a:r>
              <a:rPr/>
              <a:t> what the behavior is trying to achieve</a:t>
            </a:r>
          </a:p>
          <a:p>
            <a:pPr lvl="0" indent="0" marL="0">
              <a:buNone/>
            </a:pPr>
            <a:r>
              <a:rPr/>
              <a:t>Example:</a:t>
            </a:r>
          </a:p>
          <a:p>
            <a:pPr lvl="0"/>
            <a:r>
              <a:rPr/>
              <a:t>need: low energy</a:t>
            </a:r>
          </a:p>
          <a:p>
            <a:pPr lvl="0"/>
            <a:r>
              <a:rPr/>
              <a:t>drive: hunger</a:t>
            </a:r>
          </a:p>
          <a:p>
            <a:pPr lvl="0"/>
            <a:r>
              <a:rPr/>
              <a:t>response: eating</a:t>
            </a:r>
          </a:p>
          <a:p>
            <a:pPr lvl="0"/>
            <a:r>
              <a:rPr/>
              <a:t>goal: restore balance</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Incentives can pull behavior from the outside</a:t>
            </a:r>
          </a:p>
        </p:txBody>
      </p:sp>
      <p:sp>
        <p:nvSpPr>
          <p:cNvPr id="3" name="Content Placeholder 2"/>
          <p:cNvSpPr>
            <a:spLocks noGrp="1"/>
          </p:cNvSpPr>
          <p:nvPr>
            <p:ph idx="1"/>
          </p:nvPr>
        </p:nvSpPr>
        <p:spPr/>
        <p:txBody>
          <a:bodyPr/>
          <a:lstStyle/>
          <a:p>
            <a:pPr lvl="0" indent="0" marL="0">
              <a:buNone/>
            </a:pPr>
            <a:r>
              <a:rPr/>
              <a:t>An </a:t>
            </a:r>
            <a:r>
              <a:rPr b="1"/>
              <a:t>incentive</a:t>
            </a:r>
            <a:r>
              <a:rPr/>
              <a:t> is something in the environment that attracts behavior.</a:t>
            </a:r>
          </a:p>
          <a:p>
            <a:pPr lvl="0" indent="0" marL="0">
              <a:buNone/>
            </a:pPr>
            <a:r>
              <a:rPr/>
              <a:t>Examples:</a:t>
            </a:r>
          </a:p>
          <a:p>
            <a:pPr lvl="0"/>
            <a:r>
              <a:rPr/>
              <a:t>food smells</a:t>
            </a:r>
          </a:p>
          <a:p>
            <a:pPr lvl="0"/>
            <a:r>
              <a:rPr/>
              <a:t>praise</a:t>
            </a:r>
          </a:p>
          <a:p>
            <a:pPr lvl="0"/>
            <a:r>
              <a:rPr/>
              <a:t>money</a:t>
            </a:r>
          </a:p>
          <a:p>
            <a:pPr lvl="0"/>
            <a:r>
              <a:rPr/>
              <a:t>grades</a:t>
            </a:r>
          </a:p>
          <a:p>
            <a:pPr lvl="0"/>
            <a:r>
              <a:rPr/>
              <a:t>prizes</a:t>
            </a:r>
          </a:p>
          <a:p>
            <a:pPr lvl="0" indent="0" marL="0">
              <a:buNone/>
            </a:pPr>
            <a:r>
              <a:rPr/>
              <a:t>Motivation is often shaped by both internal states and outside incentives.</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Psychologists have proposed more than one explanation of motivation</a:t>
            </a:r>
          </a:p>
        </p:txBody>
      </p:sp>
      <p:sp>
        <p:nvSpPr>
          <p:cNvPr id="3" name="Content Placeholder 2"/>
          <p:cNvSpPr>
            <a:spLocks noGrp="1"/>
          </p:cNvSpPr>
          <p:nvPr>
            <p:ph idx="1"/>
          </p:nvPr>
        </p:nvSpPr>
        <p:spPr/>
        <p:txBody>
          <a:bodyPr/>
          <a:lstStyle/>
          <a:p>
            <a:pPr lvl="0" indent="0" marL="0">
              <a:buNone/>
            </a:pPr>
            <a:r>
              <a:rPr/>
              <a:t>Major approaches include:</a:t>
            </a:r>
          </a:p>
          <a:p>
            <a:pPr lvl="0"/>
            <a:r>
              <a:rPr/>
              <a:t>instinct theory</a:t>
            </a:r>
          </a:p>
          <a:p>
            <a:pPr lvl="0"/>
            <a:r>
              <a:rPr/>
              <a:t>drive reduction theory</a:t>
            </a:r>
          </a:p>
          <a:p>
            <a:pPr lvl="0"/>
            <a:r>
              <a:rPr/>
              <a:t>arousal theory</a:t>
            </a:r>
          </a:p>
          <a:p>
            <a:pPr lvl="0"/>
            <a:r>
              <a:rPr/>
              <a:t>self-efficacy</a:t>
            </a:r>
          </a:p>
          <a:p>
            <a:pPr lvl="0"/>
            <a:r>
              <a:rPr/>
              <a:t>social motives</a:t>
            </a:r>
          </a:p>
          <a:p>
            <a:pPr lvl="0"/>
            <a:r>
              <a:rPr/>
              <a:t>Maslow’s hierarchy of needs</a:t>
            </a:r>
          </a:p>
          <a:p>
            <a:pPr lvl="0" indent="0" marL="0">
              <a:buNone/>
            </a:pPr>
            <a:r>
              <a:rPr/>
              <a:t>No single theory explains everything.</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Instinct theory explains some behavior through built-in tendencies</a:t>
            </a:r>
          </a:p>
        </p:txBody>
      </p:sp>
      <p:sp>
        <p:nvSpPr>
          <p:cNvPr id="3" name="Content Placeholder 2"/>
          <p:cNvSpPr>
            <a:spLocks noGrp="1"/>
          </p:cNvSpPr>
          <p:nvPr>
            <p:ph idx="1"/>
          </p:nvPr>
        </p:nvSpPr>
        <p:spPr/>
        <p:txBody>
          <a:bodyPr/>
          <a:lstStyle/>
          <a:p>
            <a:pPr lvl="0" indent="0" marL="0">
              <a:buNone/>
            </a:pPr>
            <a:r>
              <a:rPr/>
              <a:t>Instinct theory suggests that some behavior is driven by inborn patterns.</a:t>
            </a:r>
          </a:p>
          <a:p>
            <a:pPr lvl="0" indent="0" marL="0">
              <a:buNone/>
            </a:pPr>
            <a:r>
              <a:rPr/>
              <a:t>This approach is often connected to biological and evolutionary ways of thinking about motivation.</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Drive reduction theory links motivation to imbalance</a:t>
            </a:r>
          </a:p>
        </p:txBody>
      </p:sp>
      <p:sp>
        <p:nvSpPr>
          <p:cNvPr id="3" name="Content Placeholder 2"/>
          <p:cNvSpPr>
            <a:spLocks noGrp="1"/>
          </p:cNvSpPr>
          <p:nvPr>
            <p:ph idx="1"/>
          </p:nvPr>
        </p:nvSpPr>
        <p:spPr/>
        <p:txBody>
          <a:bodyPr/>
          <a:lstStyle/>
          <a:p>
            <a:pPr lvl="0" indent="0" marL="0">
              <a:buNone/>
            </a:pPr>
            <a:r>
              <a:rPr/>
              <a:t>Drive reduction theory explains some motivation through </a:t>
            </a:r>
            <a:r>
              <a:rPr b="1"/>
              <a:t>imbalance</a:t>
            </a:r>
            <a:r>
              <a:rPr/>
              <a:t> and </a:t>
            </a:r>
            <a:r>
              <a:rPr b="1"/>
              <a:t>restoring balance</a:t>
            </a:r>
            <a:r>
              <a:rPr/>
              <a:t>.</a:t>
            </a:r>
          </a:p>
          <a:p>
            <a:pPr lvl="0" indent="0" marL="0">
              <a:spcBef>
                <a:spcPts val="3000"/>
              </a:spcBef>
              <a:buNone/>
            </a:pPr>
            <a:r>
              <a:rPr b="1"/>
              <a:t>Homeostasis</a:t>
            </a:r>
          </a:p>
          <a:p>
            <a:pPr lvl="0" indent="0" marL="0">
              <a:buNone/>
            </a:pPr>
            <a:r>
              <a:rPr/>
              <a:t>The body tends to maintain internal balance.</a:t>
            </a:r>
          </a:p>
          <a:p>
            <a:pPr lvl="0" indent="0" marL="0">
              <a:buNone/>
            </a:pPr>
            <a:r>
              <a:rPr/>
              <a:t>When balance is disrupted, a drive can push behavior toward restoring it.</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Arousal affects performance differently depending on the task</a:t>
            </a:r>
          </a:p>
        </p:txBody>
      </p:sp>
      <p:sp>
        <p:nvSpPr>
          <p:cNvPr id="3" name="Content Placeholder 2"/>
          <p:cNvSpPr>
            <a:spLocks noGrp="1"/>
          </p:cNvSpPr>
          <p:nvPr>
            <p:ph idx="1"/>
          </p:nvPr>
        </p:nvSpPr>
        <p:spPr/>
        <p:txBody>
          <a:bodyPr/>
          <a:lstStyle/>
          <a:p>
            <a:pPr lvl="0" indent="0" marL="0">
              <a:buNone/>
            </a:pPr>
            <a:r>
              <a:rPr/>
              <a:t>Arousal theory focuses on activation or alertness.</a:t>
            </a:r>
          </a:p>
          <a:p>
            <a:pPr lvl="0" indent="0" marL="0">
              <a:buNone/>
            </a:pPr>
            <a:r>
              <a:rPr/>
              <a:t>The key idea is that performance depends partly on:</a:t>
            </a:r>
          </a:p>
          <a:p>
            <a:pPr lvl="0"/>
            <a:r>
              <a:rPr/>
              <a:t>how activated a person is</a:t>
            </a:r>
          </a:p>
          <a:p>
            <a:pPr lvl="0"/>
            <a:r>
              <a:rPr/>
              <a:t>what kind of task they are doing</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More pressure is not always better</a:t>
            </a:r>
          </a:p>
        </p:txBody>
      </p:sp>
      <p:sp>
        <p:nvSpPr>
          <p:cNvPr id="3" name="Content Placeholder 2"/>
          <p:cNvSpPr>
            <a:spLocks noGrp="1"/>
          </p:cNvSpPr>
          <p:nvPr>
            <p:ph idx="1"/>
          </p:nvPr>
        </p:nvSpPr>
        <p:spPr/>
        <p:txBody>
          <a:bodyPr/>
          <a:lstStyle/>
          <a:p>
            <a:pPr lvl="0" indent="0" marL="0">
              <a:buNone/>
            </a:pPr>
            <a:r>
              <a:rPr/>
              <a:t>The Yerkes-Dodson idea says task difficulty matters.</a:t>
            </a:r>
          </a:p>
          <a:p>
            <a:pPr lvl="0" indent="0" marL="0">
              <a:buNone/>
            </a:pPr>
            <a:r>
              <a:rPr/>
              <a:t>In general:</a:t>
            </a:r>
          </a:p>
          <a:p>
            <a:pPr lvl="0"/>
            <a:r>
              <a:rPr/>
              <a:t>simpler or familiar tasks may work well with relatively higher arousal</a:t>
            </a:r>
          </a:p>
          <a:p>
            <a:pPr lvl="0"/>
            <a:r>
              <a:rPr/>
              <a:t>harder or newer tasks usually work better with lower or moderate arousal</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Believing you can do something affects whether you act</a:t>
            </a:r>
          </a:p>
        </p:txBody>
      </p:sp>
      <p:sp>
        <p:nvSpPr>
          <p:cNvPr id="3" name="Content Placeholder 2"/>
          <p:cNvSpPr>
            <a:spLocks noGrp="1"/>
          </p:cNvSpPr>
          <p:nvPr>
            <p:ph idx="1"/>
          </p:nvPr>
        </p:nvSpPr>
        <p:spPr/>
        <p:txBody>
          <a:bodyPr/>
          <a:lstStyle/>
          <a:p>
            <a:pPr lvl="0" indent="0" marL="0">
              <a:buNone/>
            </a:pPr>
            <a:r>
              <a:rPr b="1"/>
              <a:t>Self-efficacy</a:t>
            </a:r>
            <a:r>
              <a:rPr/>
              <a:t> is a person’s belief that they can successfully do what a task requires.</a:t>
            </a:r>
          </a:p>
          <a:p>
            <a:pPr lvl="0" indent="0" marL="0">
              <a:buNone/>
            </a:pPr>
            <a:r>
              <a:rPr/>
              <a:t>It influences whether people:</a:t>
            </a:r>
          </a:p>
          <a:p>
            <a:pPr lvl="0"/>
            <a:r>
              <a:rPr/>
              <a:t>start a difficult task</a:t>
            </a:r>
          </a:p>
          <a:p>
            <a:pPr lvl="0"/>
            <a:r>
              <a:rPr/>
              <a:t>keep going when work gets hard</a:t>
            </a:r>
          </a:p>
          <a:p>
            <a:pPr lvl="0"/>
            <a:r>
              <a:rPr/>
              <a:t>return after setbacks</a:t>
            </a:r>
          </a:p>
          <a:p>
            <a:pPr lvl="0"/>
            <a:r>
              <a:rPr/>
              <a:t>set future goals</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Social motives help explain success, connection, and relationships</a:t>
            </a:r>
          </a:p>
        </p:txBody>
      </p:sp>
      <p:sp>
        <p:nvSpPr>
          <p:cNvPr id="3" name="Content Placeholder 2"/>
          <p:cNvSpPr>
            <a:spLocks noGrp="1"/>
          </p:cNvSpPr>
          <p:nvPr>
            <p:ph idx="1"/>
          </p:nvPr>
        </p:nvSpPr>
        <p:spPr/>
        <p:txBody>
          <a:bodyPr/>
          <a:lstStyle/>
          <a:p>
            <a:pPr lvl="0" indent="0" marL="0">
              <a:buNone/>
            </a:pPr>
            <a:r>
              <a:rPr/>
              <a:t>Motivation is not only biological.</a:t>
            </a:r>
          </a:p>
          <a:p>
            <a:pPr lvl="0" indent="0" marL="0">
              <a:buNone/>
            </a:pPr>
            <a:r>
              <a:rPr/>
              <a:t>Social motives help explain why people seek:</a:t>
            </a:r>
          </a:p>
          <a:p>
            <a:pPr lvl="0"/>
            <a:r>
              <a:rPr/>
              <a:t>success</a:t>
            </a:r>
          </a:p>
          <a:p>
            <a:pPr lvl="0"/>
            <a:r>
              <a:rPr/>
              <a:t>connection</a:t>
            </a:r>
          </a:p>
          <a:p>
            <a:pPr lvl="0"/>
            <a:r>
              <a:rPr/>
              <a:t>close relationships</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Achievement, affiliation, and intimacy are not the same</a:t>
            </a:r>
          </a:p>
        </p:txBody>
      </p:sp>
      <p:sp>
        <p:nvSpPr>
          <p:cNvPr id="3" name="Content Placeholder 2"/>
          <p:cNvSpPr>
            <a:spLocks noGrp="1"/>
          </p:cNvSpPr>
          <p:nvPr>
            <p:ph idx="1"/>
          </p:nvPr>
        </p:nvSpPr>
        <p:spPr/>
        <p:txBody>
          <a:bodyPr/>
          <a:lstStyle/>
          <a:p>
            <a:pPr lvl="0" indent="0" marL="0">
              <a:spcBef>
                <a:spcPts val="3000"/>
              </a:spcBef>
              <a:buNone/>
            </a:pPr>
            <a:r>
              <a:rPr b="1"/>
              <a:t>Achievement</a:t>
            </a:r>
          </a:p>
          <a:p>
            <a:pPr lvl="0" indent="0" marL="0">
              <a:buNone/>
            </a:pPr>
            <a:r>
              <a:rPr/>
              <a:t>Wanting accomplishment, mastery, or success</a:t>
            </a:r>
          </a:p>
          <a:p>
            <a:pPr lvl="0" indent="0" marL="0">
              <a:spcBef>
                <a:spcPts val="3000"/>
              </a:spcBef>
              <a:buNone/>
            </a:pPr>
            <a:r>
              <a:rPr b="1"/>
              <a:t>Affiliation</a:t>
            </a:r>
          </a:p>
          <a:p>
            <a:pPr lvl="0" indent="0" marL="0">
              <a:buNone/>
            </a:pPr>
            <a:r>
              <a:rPr/>
              <a:t>Wanting connection and positive social interaction</a:t>
            </a:r>
          </a:p>
          <a:p>
            <a:pPr lvl="0" indent="0" marL="0">
              <a:spcBef>
                <a:spcPts val="3000"/>
              </a:spcBef>
              <a:buNone/>
            </a:pPr>
            <a:r>
              <a:rPr b="1"/>
              <a:t>Intimacy</a:t>
            </a:r>
          </a:p>
          <a:p>
            <a:pPr lvl="0" indent="0" marL="0">
              <a:buNone/>
            </a:pPr>
            <a:r>
              <a:rPr/>
              <a:t>Wanting close, meaningful relationships</a:t>
            </a:r>
          </a:p>
          <a:p>
            <a:pPr lvl="0" indent="0" marL="0">
              <a:buNone/>
            </a:pPr>
            <a:r>
              <a:rPr/>
              <a:t>These motives often overlap, but they are not identical.</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Human motivation includes both basic needs and growth goals</a:t>
            </a:r>
          </a:p>
        </p:txBody>
      </p:sp>
      <p:sp>
        <p:nvSpPr>
          <p:cNvPr id="3" name="Content Placeholder 2"/>
          <p:cNvSpPr>
            <a:spLocks noGrp="1"/>
          </p:cNvSpPr>
          <p:nvPr>
            <p:ph idx="1"/>
          </p:nvPr>
        </p:nvSpPr>
        <p:spPr/>
        <p:txBody>
          <a:bodyPr/>
          <a:lstStyle/>
          <a:p>
            <a:pPr lvl="0" indent="0" marL="0">
              <a:buNone/>
            </a:pPr>
            <a:r>
              <a:rPr/>
              <a:t>A broad way to organize motives is through:</a:t>
            </a:r>
          </a:p>
          <a:p>
            <a:pPr lvl="0"/>
            <a:r>
              <a:rPr/>
              <a:t>physiological needs</a:t>
            </a:r>
          </a:p>
          <a:p>
            <a:pPr lvl="0"/>
            <a:r>
              <a:rPr/>
              <a:t>safety needs</a:t>
            </a:r>
          </a:p>
          <a:p>
            <a:pPr lvl="0"/>
            <a:r>
              <a:rPr/>
              <a:t>belonging</a:t>
            </a:r>
          </a:p>
          <a:p>
            <a:pPr lvl="0"/>
            <a:r>
              <a:rPr/>
              <a:t>esteem</a:t>
            </a:r>
          </a:p>
          <a:p>
            <a:pPr lvl="0"/>
            <a:r>
              <a:rPr/>
              <a:t>self-actualization</a:t>
            </a:r>
          </a:p>
          <a:p>
            <a:pPr lvl="0" indent="0" marL="0">
              <a:buNone/>
            </a:pPr>
            <a:r>
              <a:rPr/>
              <a:t>This helps show that not all motives are the same kind of motive.</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Basic needs and growth needs are different</a:t>
            </a:r>
          </a:p>
        </p:txBody>
      </p:sp>
      <p:sp>
        <p:nvSpPr>
          <p:cNvPr id="3" name="Content Placeholder 2"/>
          <p:cNvSpPr>
            <a:spLocks noGrp="1"/>
          </p:cNvSpPr>
          <p:nvPr>
            <p:ph idx="1"/>
          </p:nvPr>
        </p:nvSpPr>
        <p:spPr/>
        <p:txBody>
          <a:bodyPr/>
          <a:lstStyle/>
          <a:p>
            <a:pPr lvl="0" indent="0" marL="0">
              <a:spcBef>
                <a:spcPts val="3000"/>
              </a:spcBef>
              <a:buNone/>
            </a:pPr>
            <a:r>
              <a:rPr b="1"/>
              <a:t>Basic needs</a:t>
            </a:r>
          </a:p>
          <a:p>
            <a:pPr lvl="0" indent="0" marL="0">
              <a:buNone/>
            </a:pPr>
            <a:r>
              <a:rPr/>
              <a:t>Needs tied more directly to survival, safety, and stability</a:t>
            </a:r>
          </a:p>
          <a:p>
            <a:pPr lvl="0" indent="0" marL="0">
              <a:spcBef>
                <a:spcPts val="3000"/>
              </a:spcBef>
              <a:buNone/>
            </a:pPr>
            <a:r>
              <a:rPr b="1"/>
              <a:t>Growth needs</a:t>
            </a:r>
          </a:p>
          <a:p>
            <a:pPr lvl="0" indent="0" marL="0">
              <a:buNone/>
            </a:pPr>
            <a:r>
              <a:rPr/>
              <a:t>Needs tied more to development, fulfillment, and becoming more fully oneself</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Motives can be biological, stimulus-based, or learned</a:t>
            </a:r>
          </a:p>
        </p:txBody>
      </p:sp>
      <p:sp>
        <p:nvSpPr>
          <p:cNvPr id="3" name="Content Placeholder 2"/>
          <p:cNvSpPr>
            <a:spLocks noGrp="1"/>
          </p:cNvSpPr>
          <p:nvPr>
            <p:ph idx="1"/>
          </p:nvPr>
        </p:nvSpPr>
        <p:spPr/>
        <p:txBody>
          <a:bodyPr/>
          <a:lstStyle/>
          <a:p>
            <a:pPr lvl="0" indent="0" marL="0">
              <a:buNone/>
            </a:pPr>
            <a:r>
              <a:rPr/>
              <a:t>Three broad motive types are:</a:t>
            </a:r>
          </a:p>
          <a:p>
            <a:pPr lvl="0"/>
            <a:r>
              <a:rPr b="1"/>
              <a:t>biological motives</a:t>
            </a:r>
          </a:p>
          <a:p>
            <a:pPr lvl="0"/>
            <a:r>
              <a:rPr b="1"/>
              <a:t>stimulus motives</a:t>
            </a:r>
          </a:p>
          <a:p>
            <a:pPr lvl="0"/>
            <a:r>
              <a:rPr b="1"/>
              <a:t>learned motives</a:t>
            </a:r>
          </a:p>
          <a:p>
            <a:pPr lvl="0" indent="0" marL="0">
              <a:buNone/>
            </a:pPr>
            <a:r>
              <a:rPr/>
              <a:t>This is another way to organize how motivation works.</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Biological motives are tied to bodily needs and survival</a:t>
            </a:r>
          </a:p>
        </p:txBody>
      </p:sp>
      <p:sp>
        <p:nvSpPr>
          <p:cNvPr id="3" name="Content Placeholder 2"/>
          <p:cNvSpPr>
            <a:spLocks noGrp="1"/>
          </p:cNvSpPr>
          <p:nvPr>
            <p:ph idx="1"/>
          </p:nvPr>
        </p:nvSpPr>
        <p:spPr/>
        <p:txBody>
          <a:bodyPr/>
          <a:lstStyle/>
          <a:p>
            <a:pPr lvl="0" indent="0" marL="0">
              <a:buNone/>
            </a:pPr>
            <a:r>
              <a:rPr/>
              <a:t>Examples include:</a:t>
            </a:r>
          </a:p>
          <a:p>
            <a:pPr lvl="0"/>
            <a:r>
              <a:rPr/>
              <a:t>hunger</a:t>
            </a:r>
          </a:p>
          <a:p>
            <a:pPr lvl="0"/>
            <a:r>
              <a:rPr/>
              <a:t>thirst</a:t>
            </a:r>
          </a:p>
          <a:p>
            <a:pPr lvl="0"/>
            <a:r>
              <a:rPr/>
              <a:t>sleep</a:t>
            </a:r>
          </a:p>
          <a:p>
            <a:pPr lvl="0"/>
            <a:r>
              <a:rPr/>
              <a:t>avoiding pain</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Stimulus motives involve wanting stimulation, novelty, or information</a:t>
            </a:r>
          </a:p>
        </p:txBody>
      </p:sp>
      <p:sp>
        <p:nvSpPr>
          <p:cNvPr id="3" name="Content Placeholder 2"/>
          <p:cNvSpPr>
            <a:spLocks noGrp="1"/>
          </p:cNvSpPr>
          <p:nvPr>
            <p:ph idx="1"/>
          </p:nvPr>
        </p:nvSpPr>
        <p:spPr/>
        <p:txBody>
          <a:bodyPr/>
          <a:lstStyle/>
          <a:p>
            <a:pPr lvl="0" indent="0" marL="0">
              <a:buNone/>
            </a:pPr>
            <a:r>
              <a:rPr/>
              <a:t>Examples include:</a:t>
            </a:r>
          </a:p>
          <a:p>
            <a:pPr lvl="0"/>
            <a:r>
              <a:rPr/>
              <a:t>curiosity</a:t>
            </a:r>
          </a:p>
          <a:p>
            <a:pPr lvl="0"/>
            <a:r>
              <a:rPr/>
              <a:t>exploration</a:t>
            </a:r>
          </a:p>
          <a:p>
            <a:pPr lvl="0"/>
            <a:r>
              <a:rPr/>
              <a:t>variety</a:t>
            </a:r>
          </a:p>
          <a:p>
            <a:pPr lvl="0"/>
            <a:r>
              <a:rPr/>
              <a:t>excitement</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Learned motives are shaped by experience, culture, and reinforcement</a:t>
            </a:r>
          </a:p>
        </p:txBody>
      </p:sp>
      <p:sp>
        <p:nvSpPr>
          <p:cNvPr id="3" name="Content Placeholder 2"/>
          <p:cNvSpPr>
            <a:spLocks noGrp="1"/>
          </p:cNvSpPr>
          <p:nvPr>
            <p:ph idx="1"/>
          </p:nvPr>
        </p:nvSpPr>
        <p:spPr/>
        <p:txBody>
          <a:bodyPr/>
          <a:lstStyle/>
          <a:p>
            <a:pPr lvl="0" indent="0" marL="0">
              <a:buNone/>
            </a:pPr>
            <a:r>
              <a:rPr/>
              <a:t>Examples include:</a:t>
            </a:r>
          </a:p>
          <a:p>
            <a:pPr lvl="0"/>
            <a:r>
              <a:rPr/>
              <a:t>earning status</a:t>
            </a:r>
          </a:p>
          <a:p>
            <a:pPr lvl="0"/>
            <a:r>
              <a:rPr/>
              <a:t>gaining approval</a:t>
            </a:r>
          </a:p>
          <a:p>
            <a:pPr lvl="0"/>
            <a:r>
              <a:rPr/>
              <a:t>pursuing achievement</a:t>
            </a:r>
          </a:p>
          <a:p>
            <a:pPr lvl="0"/>
            <a:r>
              <a:rPr/>
              <a:t>avoiding social disapproval</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Hunger is a strong biological example of motivated behavior</a:t>
            </a:r>
          </a:p>
        </p:txBody>
      </p:sp>
      <p:sp>
        <p:nvSpPr>
          <p:cNvPr id="3" name="Content Placeholder 2"/>
          <p:cNvSpPr>
            <a:spLocks noGrp="1"/>
          </p:cNvSpPr>
          <p:nvPr>
            <p:ph idx="1"/>
          </p:nvPr>
        </p:nvSpPr>
        <p:spPr/>
        <p:txBody>
          <a:bodyPr/>
          <a:lstStyle/>
          <a:p>
            <a:pPr lvl="0" indent="0" marL="0">
              <a:buNone/>
            </a:pPr>
            <a:r>
              <a:rPr/>
              <a:t>Hunger shows how motivation can involve:</a:t>
            </a:r>
          </a:p>
          <a:p>
            <a:pPr lvl="0"/>
            <a:r>
              <a:rPr/>
              <a:t>bodily regulation</a:t>
            </a:r>
          </a:p>
          <a:p>
            <a:pPr lvl="0"/>
            <a:r>
              <a:rPr/>
              <a:t>internal signals</a:t>
            </a:r>
          </a:p>
          <a:p>
            <a:pPr lvl="0"/>
            <a:r>
              <a:rPr/>
              <a:t>drive states</a:t>
            </a:r>
          </a:p>
          <a:p>
            <a:pPr lvl="0"/>
            <a:r>
              <a:rPr/>
              <a:t>behavior aimed at restoring balance</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Hunger also involves body systems</a:t>
            </a:r>
          </a:p>
        </p:txBody>
      </p:sp>
      <p:sp>
        <p:nvSpPr>
          <p:cNvPr id="3" name="Content Placeholder 2"/>
          <p:cNvSpPr>
            <a:spLocks noGrp="1"/>
          </p:cNvSpPr>
          <p:nvPr>
            <p:ph idx="1"/>
          </p:nvPr>
        </p:nvSpPr>
        <p:spPr/>
        <p:txBody>
          <a:bodyPr/>
          <a:lstStyle/>
          <a:p>
            <a:pPr lvl="0" indent="0" marL="0">
              <a:buNone/>
            </a:pPr>
            <a:r>
              <a:rPr/>
              <a:t>Hunger can involve signals such as:</a:t>
            </a:r>
          </a:p>
          <a:p>
            <a:pPr lvl="0"/>
            <a:r>
              <a:rPr/>
              <a:t>stomach activity</a:t>
            </a:r>
          </a:p>
          <a:p>
            <a:pPr lvl="0"/>
            <a:r>
              <a:rPr/>
              <a:t>blood glucose signals</a:t>
            </a:r>
          </a:p>
          <a:p>
            <a:pPr lvl="0"/>
            <a:r>
              <a:rPr/>
              <a:t>gastrointestinal signaling</a:t>
            </a:r>
          </a:p>
          <a:p>
            <a:pPr lvl="0"/>
            <a:r>
              <a:rPr/>
              <a:t>leptin</a:t>
            </a:r>
          </a:p>
          <a:p>
            <a:pPr lvl="0"/>
            <a:r>
              <a:rPr/>
              <a:t>brain systems such as the hypothalamus and hindbrain</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Summary</a:t>
            </a:r>
          </a:p>
        </p:txBody>
      </p:sp>
      <p:sp>
        <p:nvSpPr>
          <p:cNvPr id="3" name="Content Placeholder 2"/>
          <p:cNvSpPr>
            <a:spLocks noGrp="1"/>
          </p:cNvSpPr>
          <p:nvPr>
            <p:ph idx="1"/>
          </p:nvPr>
        </p:nvSpPr>
        <p:spPr/>
        <p:txBody>
          <a:bodyPr/>
          <a:lstStyle/>
          <a:p>
            <a:pPr lvl="0"/>
            <a:r>
              <a:rPr/>
              <a:t>Motivation helps explain goal-directed behavior.</a:t>
            </a:r>
          </a:p>
          <a:p>
            <a:pPr lvl="0"/>
            <a:r>
              <a:rPr/>
              <a:t>The same behavior can come from different reasons.</a:t>
            </a:r>
          </a:p>
          <a:p>
            <a:pPr lvl="0"/>
            <a:r>
              <a:rPr/>
              <a:t>Motivation can come from both internal states and outside incentives.</a:t>
            </a:r>
          </a:p>
          <a:p>
            <a:pPr lvl="0"/>
            <a:r>
              <a:rPr/>
              <a:t>Rewards can help, but they can also weaken interest.</a:t>
            </a:r>
          </a:p>
          <a:p>
            <a:pPr lvl="0"/>
            <a:r>
              <a:rPr/>
              <a:t>Pressure affects performance differently depending on the task.</a:t>
            </a:r>
          </a:p>
          <a:p>
            <a:pPr lvl="0"/>
            <a:r>
              <a:rPr/>
              <a:t>Believing you can do something affects whether you act.</a:t>
            </a:r>
          </a:p>
          <a:p>
            <a:pPr lvl="0"/>
            <a:r>
              <a:rPr/>
              <a:t>Human motivation includes both basic needs and growth goals.</a:t>
            </a:r>
          </a:p>
          <a:p>
            <a:pPr lvl="0"/>
            <a:r>
              <a:rPr/>
              <a:t>Hunger is a strong biological example of motivated behavior.</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Exit Ticket</a:t>
            </a:r>
          </a:p>
        </p:txBody>
      </p:sp>
      <p:sp>
        <p:nvSpPr>
          <p:cNvPr id="3" name="Content Placeholder 2"/>
          <p:cNvSpPr>
            <a:spLocks noGrp="1"/>
          </p:cNvSpPr>
          <p:nvPr>
            <p:ph idx="1"/>
          </p:nvPr>
        </p:nvSpPr>
        <p:spPr/>
        <p:txBody>
          <a:bodyPr/>
          <a:lstStyle/>
          <a:p>
            <a:pPr lvl="0"/>
            <a:r>
              <a:rPr/>
              <a:t>A student used to enjoy drawing in their free time. After they start getting paid for every drawing, they still draw, but now it feels more like work than enjoyment. What concept best explains this change?</a:t>
            </a:r>
          </a:p>
          <a:p>
            <a:pPr lvl="0"/>
            <a:r>
              <a:rPr/>
              <a:t>Which task is most likely to suffer under very high pressure?</a:t>
            </a:r>
          </a:p>
          <a:p>
            <a:pPr lvl="0"/>
            <a:r>
              <a:rPr/>
              <a:t>A student says, “I really want to do well this semester, but I keep avoiding hard assignments until the last minute.” In 1–3 sentences, use two ideas from motivation to explain what might be shaping this behavior.</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Motivation</dc:title>
  <dc:creator/>
  <cp:keywords/>
  <dcterms:created xsi:type="dcterms:W3CDTF">2026-03-26T03:30:00Z</dcterms:created>
  <dcterms:modified xsi:type="dcterms:W3CDTF">2026-03-26T03:30:00Z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iblio-config">
    <vt:lpwstr>True</vt:lpwstr>
  </property>
  <property fmtid="{D5CDD505-2E9C-101B-9397-08002B2CF9AE}" pid="3" name="header-includes">
    <vt:lpwstr/>
  </property>
  <property fmtid="{D5CDD505-2E9C-101B-9397-08002B2CF9AE}" pid="4" name="include-after">
    <vt:lpwstr/>
  </property>
  <property fmtid="{D5CDD505-2E9C-101B-9397-08002B2CF9AE}" pid="5" name="include-before">
    <vt:lpwstr/>
  </property>
  <property fmtid="{D5CDD505-2E9C-101B-9397-08002B2CF9AE}" pid="6" name="labels">
    <vt:lpwstr/>
  </property>
  <property fmtid="{D5CDD505-2E9C-101B-9397-08002B2CF9AE}" pid="7" name="origin">
    <vt:lpwstr>chat</vt:lpwstr>
  </property>
  <property fmtid="{D5CDD505-2E9C-101B-9397-08002B2CF9AE}" pid="8" name="slide-number">
    <vt:lpwstr>True</vt:lpwstr>
  </property>
  <property fmtid="{D5CDD505-2E9C-101B-9397-08002B2CF9AE}" pid="9" name="subtitle">
    <vt:lpwstr>PSY-132</vt:lpwstr>
  </property>
  <property fmtid="{D5CDD505-2E9C-101B-9397-08002B2CF9AE}" pid="10" name="toc-title">
    <vt:lpwstr>Table of contents</vt:lpwstr>
  </property>
</Properties>
</file>