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notesMaster" Target="notesMasters/notesMaster1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Stress process → behavior and physiology → health outcomes, with context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Guardrail: avoid one-to-one claims like “stress causes disease.”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Same event card leading to two different appraisals.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Short spike vs sustained activation.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Two-lane pathway diagram. Guardrail: cortisol is not a single “stress level” 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Repeated stress hits filling a “load” 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Guardrail: do not imply stress automatically causes a specific disease. Visual cue: Stress process → behavior and physiology → immune-related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Coping sits between appraisal and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Stressor → plan →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Stressor → new meaning → reduced distress. Guardrail: emotion-focused coping is not avoidance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Coping strategy card evaluated against a context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Social support as a buffer between stress and outcomes. Guardrail: support can help through multiple pathways.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Risk factors and protective factors feeding into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Behavior set feeding into long-term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Plan → barriers → adherence →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Guardrail: avoid “health is only personal responsibility” framing. Visual cue: Context constraints around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Type A umbrella with hostility highlighted. Guardrail: avoid treating Type A as a single reliable predictor.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Biomarker card stamped “proxy,” with confounds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Teaching move: ask students to name one problem-focused and one emotion-focused coping option for the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as a reset before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Delivery: students commit first, then you reveal. One discriminating cue per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it brief. Do not re-lecture.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cue: Health behavior feeding into motivation and self-regulation.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Topic 16: Health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topic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stress processes relate to health</a:t>
            </a:r>
          </a:p>
          <a:p>
            <a:pPr lvl="0"/>
            <a:r>
              <a:rPr/>
              <a:t>How coping and social support change outcomes</a:t>
            </a:r>
          </a:p>
          <a:p>
            <a:pPr lvl="0"/>
            <a:r>
              <a:rPr/>
              <a:t>How health behaviors and access shape risk and recovery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Health is multi-factor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Biology matters</a:t>
            </a:r>
          </a:p>
          <a:p>
            <a:pPr lvl="0"/>
            <a:r>
              <a:rPr/>
              <a:t>Behavior matters</a:t>
            </a:r>
          </a:p>
          <a:p>
            <a:pPr lvl="0"/>
            <a:r>
              <a:rPr/>
              <a:t>Stress and context matter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Appraisal shapes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Meaning of the situation</a:t>
            </a:r>
          </a:p>
          <a:p>
            <a:pPr lvl="0"/>
            <a:r>
              <a:rPr/>
              <a:t>Perceived control</a:t>
            </a:r>
          </a:p>
          <a:p>
            <a:pPr lvl="0"/>
            <a:r>
              <a:rPr/>
              <a:t>Available resources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Acute and chronic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Acute stress can support short-term action</a:t>
            </a:r>
          </a:p>
          <a:p>
            <a:pPr lvl="0"/>
            <a:r>
              <a:rPr/>
              <a:t>Chronic stress can increase long-term risk</a:t>
            </a:r>
          </a:p>
          <a:p>
            <a:pPr lvl="0"/>
            <a:r>
              <a:rPr/>
              <a:t>Effects depend on duration and context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Sympathetic and HPA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Sympathetic pathway - fast activation - prepares action - short time scale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HPA axis pathway - slower activation - cortisol timing signals - longer time scale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Allostatic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Cumulative wear from repeated activation</a:t>
            </a:r>
          </a:p>
          <a:p>
            <a:pPr lvl="0"/>
            <a:r>
              <a:rPr/>
              <a:t>Multi-step pathway, not one marker</a:t>
            </a:r>
          </a:p>
          <a:p>
            <a:pPr lvl="0"/>
            <a:r>
              <a:rPr/>
              <a:t>Depends on measurement and timescale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Psychoneuroimmunology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Stress processes can influence immune-related outcomes</a:t>
            </a:r>
          </a:p>
          <a:p>
            <a:pPr lvl="0"/>
            <a:r>
              <a:rPr/>
              <a:t>Links are multi-factor and design-dependent</a:t>
            </a:r>
          </a:p>
          <a:p>
            <a:pPr lvl="0"/>
            <a:r>
              <a:rPr/>
              <a:t>Strong conclusions require careful evidence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Coping changes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Coping is how you respond to demands</a:t>
            </a:r>
          </a:p>
          <a:p>
            <a:pPr lvl="0"/>
            <a:r>
              <a:rPr/>
              <a:t>Coping can change exposure and meaning</a:t>
            </a:r>
          </a:p>
          <a:p>
            <a:pPr lvl="0"/>
            <a:r>
              <a:rPr/>
              <a:t>Coping can change physiology and behavior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Problem-focused 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Targets the stressor or situation</a:t>
            </a:r>
          </a:p>
          <a:p>
            <a:pPr lvl="0"/>
            <a:r>
              <a:rPr/>
              <a:t>Planning and action steps</a:t>
            </a:r>
          </a:p>
          <a:p>
            <a:pPr lvl="0"/>
            <a:r>
              <a:rPr/>
              <a:t>Best fit when change is possible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Emotion-focused 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Targets emotion and meaning</a:t>
            </a:r>
          </a:p>
          <a:p>
            <a:pPr lvl="0"/>
            <a:r>
              <a:rPr/>
              <a:t>Reappraisal and acceptance</a:t>
            </a:r>
          </a:p>
          <a:p>
            <a:pPr lvl="0"/>
            <a:r>
              <a:rPr/>
              <a:t>Best fit when change is limited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Coping effectiveness is context-dependent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Controllability matters</a:t>
            </a:r>
          </a:p>
          <a:p>
            <a:pPr lvl="0"/>
            <a:r>
              <a:rPr/>
              <a:t>Timing matters</a:t>
            </a:r>
          </a:p>
          <a:p>
            <a:pPr lvl="0"/>
            <a:r>
              <a:rPr/>
              <a:t>Costs and trade-offs matter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Social support buffers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Increases resources</a:t>
            </a:r>
          </a:p>
          <a:p>
            <a:pPr lvl="0"/>
            <a:r>
              <a:rPr/>
              <a:t>Improves regulation</a:t>
            </a:r>
          </a:p>
          <a:p>
            <a:pPr lvl="0"/>
            <a:r>
              <a:rPr/>
              <a:t>Supports behavior change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Adaptation under adversity</a:t>
            </a:r>
          </a:p>
          <a:p>
            <a:pPr lvl="0"/>
            <a:r>
              <a:rPr/>
              <a:t>Protective factors reduce risk</a:t>
            </a:r>
          </a:p>
          <a:p>
            <a:pPr lvl="0"/>
            <a:r>
              <a:rPr/>
              <a:t>Resilience is not invulnerability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Health behaviors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Sleep and recovery</a:t>
            </a:r>
          </a:p>
          <a:p>
            <a:pPr lvl="0"/>
            <a:r>
              <a:rPr/>
              <a:t>Physical activity</a:t>
            </a:r>
          </a:p>
          <a:p>
            <a:pPr lvl="0"/>
            <a:r>
              <a:rPr/>
              <a:t>Nutrition patterns</a:t>
            </a:r>
          </a:p>
          <a:p>
            <a:pPr lvl="0"/>
            <a:r>
              <a:rPr/>
              <a:t>Substance use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Adherence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Following a treatment plan over time</a:t>
            </a:r>
          </a:p>
          <a:p>
            <a:pPr lvl="0"/>
            <a:r>
              <a:rPr/>
              <a:t>Influenced by barriers and support</a:t>
            </a:r>
          </a:p>
          <a:p>
            <a:pPr lvl="0"/>
            <a:r>
              <a:rPr/>
              <a:t>Shaped by stress and resources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 and context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Cost and time constraints matter</a:t>
            </a:r>
          </a:p>
          <a:p>
            <a:pPr lvl="0"/>
            <a:r>
              <a:rPr/>
              <a:t>Transportation and availability matter</a:t>
            </a:r>
          </a:p>
          <a:p>
            <a:pPr lvl="0"/>
            <a:r>
              <a:rPr/>
              <a:t>Language access and trust matter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A and hostility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Type A is not uniformly predictive</a:t>
            </a:r>
          </a:p>
          <a:p>
            <a:pPr lvl="0"/>
            <a:r>
              <a:rPr/>
              <a:t>Hostility is often a more specific risk-relevant component</a:t>
            </a:r>
          </a:p>
          <a:p>
            <a:pPr lvl="0"/>
            <a:r>
              <a:rPr/>
              <a:t>Evidence is mixed and context-dependent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Biomarkers require caution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Single markers are proxies</a:t>
            </a:r>
          </a:p>
          <a:p>
            <a:pPr lvl="0"/>
            <a:r>
              <a:rPr/>
              <a:t>Evidence is often correlational</a:t>
            </a:r>
          </a:p>
          <a:p>
            <a:pPr lvl="0"/>
            <a:r>
              <a:rPr/>
              <a:t>Interpretation depends on design and timescale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example: stress and health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Scenario: a demanding week</a:t>
            </a:r>
          </a:p>
          <a:p>
            <a:pPr lvl="0"/>
            <a:r>
              <a:rPr/>
              <a:t>Appraisal changes stress response</a:t>
            </a:r>
          </a:p>
          <a:p>
            <a:pPr lvl="0"/>
            <a:r>
              <a:rPr/>
              <a:t>Coping changes choices</a:t>
            </a:r>
          </a:p>
          <a:p>
            <a:pPr lvl="0"/>
            <a:r>
              <a:rPr/>
              <a:t>Sleep and activity change recovery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confusions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Stress is only a feeling</a:t>
            </a:r>
          </a:p>
          <a:p>
            <a:pPr lvl="0"/>
            <a:r>
              <a:rPr/>
              <a:t>Stress automatically causes disease</a:t>
            </a:r>
          </a:p>
          <a:p>
            <a:pPr lvl="0"/>
            <a:r>
              <a:rPr/>
              <a:t>One coping style is always best</a:t>
            </a:r>
          </a:p>
          <a:p>
            <a:pPr lvl="0"/>
            <a:r>
              <a:rPr/>
              <a:t>Biomarkers prove simple answers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Match the term to the best description</a:t>
            </a:r>
          </a:p>
          <a:p>
            <a:pPr lvl="0"/>
            <a:r>
              <a:rPr/>
              <a:t>Appraisal</a:t>
            </a:r>
          </a:p>
          <a:p>
            <a:pPr lvl="0"/>
            <a:r>
              <a:rPr/>
              <a:t>Sympathetic pathway</a:t>
            </a:r>
          </a:p>
          <a:p>
            <a:pPr lvl="0"/>
            <a:r>
              <a:rPr/>
              <a:t>HPA axis</a:t>
            </a:r>
          </a:p>
          <a:p>
            <a:pPr lvl="0"/>
            <a:r>
              <a:rPr/>
              <a:t>Cortisol</a:t>
            </a:r>
          </a:p>
          <a:p>
            <a:pPr lvl="0"/>
            <a:r>
              <a:rPr/>
              <a:t>Allostatic load</a:t>
            </a:r>
          </a:p>
          <a:p>
            <a:pPr lvl="0"/>
            <a:r>
              <a:rPr/>
              <a:t>Problem-focused coping</a:t>
            </a:r>
          </a:p>
          <a:p>
            <a:pPr lvl="0"/>
            <a:r>
              <a:rPr/>
              <a:t>Emotion-focused coping</a:t>
            </a:r>
          </a:p>
          <a:p>
            <a:pPr lvl="0"/>
            <a:r>
              <a:rPr/>
              <a:t>Social support</a:t>
            </a:r>
          </a:p>
          <a:p>
            <a:pPr lvl="0"/>
            <a:r>
              <a:rPr/>
              <a:t>Adherence</a:t>
            </a:r>
          </a:p>
          <a:p>
            <a:pPr lvl="0"/>
            <a:r>
              <a:rPr/>
              <a:t>Resilience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check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Appraisal: evaluation of meaning and control</a:t>
            </a:r>
          </a:p>
          <a:p>
            <a:pPr lvl="0"/>
            <a:r>
              <a:rPr/>
              <a:t>Sympathetic pathway: fast arousal mobilization</a:t>
            </a:r>
          </a:p>
          <a:p>
            <a:pPr lvl="0"/>
            <a:r>
              <a:rPr/>
              <a:t>HPA axis: slower stress pathway with cortisol timing signals</a:t>
            </a:r>
          </a:p>
          <a:p>
            <a:pPr lvl="0"/>
            <a:r>
              <a:rPr/>
              <a:t>Cortisol: hormone signal involved in stress timing and regulation</a:t>
            </a:r>
          </a:p>
          <a:p>
            <a:pPr lvl="0"/>
            <a:r>
              <a:rPr/>
              <a:t>Allostatic load: cumulative wear from repeated activation</a:t>
            </a:r>
          </a:p>
          <a:p>
            <a:pPr lvl="0"/>
            <a:r>
              <a:rPr/>
              <a:t>Problem-focused coping: actions to change the stressor</a:t>
            </a:r>
          </a:p>
          <a:p>
            <a:pPr lvl="0"/>
            <a:r>
              <a:rPr/>
              <a:t>Emotion-focused coping: actions to change emotion and meaning</a:t>
            </a:r>
          </a:p>
          <a:p>
            <a:pPr lvl="0"/>
            <a:r>
              <a:rPr/>
              <a:t>Social support: resource buffer that improves coping and behavior</a:t>
            </a:r>
          </a:p>
          <a:p>
            <a:pPr lvl="0"/>
            <a:r>
              <a:rPr/>
              <a:t>Adherence: following a treatment plan over time</a:t>
            </a:r>
          </a:p>
          <a:p>
            <a:pPr lvl="0"/>
            <a:r>
              <a:rPr/>
              <a:t>Resilience: adaptation under adversity, not invulnerability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Bridge to Topic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Health behavior involves goals and persistence</a:t>
            </a:r>
          </a:p>
          <a:p>
            <a:pPr lvl="0"/>
            <a:r>
              <a:rPr/>
              <a:t>Motivation explains goal direction and effort</a:t>
            </a:r>
          </a:p>
          <a:p>
            <a:pPr lvl="0"/>
            <a:r>
              <a:rPr/>
              <a:t>Next: needs, incentives, goals, and self-regulation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Coverage bundle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infant health</a:t>
            </a:r>
          </a:p>
          <a:p>
            <a:pPr lvl="0"/>
            <a:r>
              <a:rPr/>
              <a:t>sleep position</a:t>
            </a:r>
          </a:p>
          <a:p>
            <a:pPr lvl="0"/>
            <a:r>
              <a:rPr/>
              <a:t>environment</a:t>
            </a:r>
          </a:p>
          <a:p>
            <a:pPr lvl="0"/>
            <a:r>
              <a:rPr/>
              <a:t>prevention guidelines</a:t>
            </a:r>
          </a:p>
          <a:p>
            <a:pPr lvl="0"/>
            <a:r>
              <a:rPr/>
              <a:t>BMI ranges</a:t>
            </a:r>
          </a:p>
          <a:p>
            <a:pPr lvl="0"/>
            <a:r>
              <a:rPr/>
              <a:t>overweight vs obesity</a:t>
            </a:r>
          </a:p>
          <a:p>
            <a:pPr lvl="0"/>
            <a:r>
              <a:rPr/>
              <a:t>physical health risks</a:t>
            </a:r>
          </a:p>
          <a:p>
            <a:pPr lvl="0"/>
            <a:r>
              <a:rPr/>
              <a:t>medical complications of eating disorders</a:t>
            </a:r>
          </a:p>
          <a:p>
            <a:pPr lvl="0"/>
            <a:r>
              <a:rPr/>
              <a:t>physiological risks</a:t>
            </a:r>
          </a:p>
          <a:p>
            <a:pPr lvl="0"/>
            <a:r>
              <a:rPr/>
              <a:t>stress as external events vs stress as physiological/psychological response</a:t>
            </a:r>
          </a:p>
          <a:p>
            <a:pPr lvl="0"/>
            <a:r>
              <a:rPr/>
              <a:t>transactional model</a:t>
            </a:r>
          </a:p>
          <a:p>
            <a:pPr lvl="0"/>
            <a:r>
              <a:rPr/>
              <a:t>appraisal and coping over time</a:t>
            </a:r>
          </a:p>
          <a:p>
            <a:pPr lvl="0"/>
            <a:r>
              <a:rPr/>
              <a:t>eustress vs distress</a:t>
            </a:r>
          </a:p>
          <a:p>
            <a:pPr lvl="0"/>
            <a:r>
              <a:rPr/>
              <a:t>functional vs harmful stress</a:t>
            </a:r>
          </a:p>
          <a:p>
            <a:pPr lvl="0"/>
            <a:r>
              <a:rPr/>
              <a:t>fight-or-flight</a:t>
            </a:r>
          </a:p>
          <a:p>
            <a:pPr lvl="0"/>
            <a:r>
              <a:rPr/>
              <a:t>general adaptation syndrome</a:t>
            </a:r>
          </a:p>
          <a:p>
            <a:pPr lvl="0"/>
            <a:r>
              <a:rPr/>
              <a:t>historical foundations</a:t>
            </a:r>
          </a:p>
          <a:p>
            <a:pPr lvl="0"/>
            <a:r>
              <a:rPr/>
              <a:t>HPA axis</a:t>
            </a:r>
          </a:p>
          <a:p>
            <a:pPr lvl="0"/>
            <a:r>
              <a:rPr/>
              <a:t>alarm–resistance–exhaustion</a:t>
            </a:r>
          </a:p>
          <a:p>
            <a:pPr lvl="0"/>
            <a:r>
              <a:rPr/>
              <a:t>stress physiology</a:t>
            </a:r>
          </a:p>
          <a:p>
            <a:pPr lvl="0"/>
            <a:r>
              <a:rPr/>
              <a:t>acute vs chronic stressors</a:t>
            </a:r>
          </a:p>
          <a:p>
            <a:pPr lvl="0"/>
            <a:r>
              <a:rPr/>
              <a:t>daily hassles</a:t>
            </a:r>
          </a:p>
          <a:p>
            <a:pPr lvl="0"/>
            <a:r>
              <a:rPr/>
              <a:t>life events</a:t>
            </a:r>
          </a:p>
          <a:p>
            <a:pPr lvl="0"/>
            <a:r>
              <a:rPr/>
              <a:t>major life events</a:t>
            </a:r>
          </a:p>
          <a:p>
            <a:pPr lvl="0"/>
            <a:r>
              <a:rPr/>
              <a:t>adjustment</a:t>
            </a:r>
          </a:p>
          <a:p>
            <a:pPr lvl="0"/>
            <a:r>
              <a:rPr/>
              <a:t>stress load</a:t>
            </a:r>
          </a:p>
          <a:p>
            <a:pPr lvl="0"/>
            <a:r>
              <a:rPr/>
              <a:t>SRRS</a:t>
            </a:r>
          </a:p>
          <a:p>
            <a:pPr lvl="0"/>
            <a:r>
              <a:rPr/>
              <a:t>scoring</a:t>
            </a:r>
          </a:p>
          <a:p>
            <a:pPr lvl="0"/>
            <a:r>
              <a:rPr/>
              <a:t>life change units</a:t>
            </a:r>
          </a:p>
          <a:p>
            <a:pPr lvl="0"/>
            <a:r>
              <a:rPr/>
              <a:t>occupational stress</a:t>
            </a:r>
          </a:p>
          <a:p>
            <a:pPr lvl="0"/>
            <a:r>
              <a:rPr/>
              <a:t>demands vs control</a:t>
            </a:r>
          </a:p>
          <a:p>
            <a:pPr lvl="0"/>
            <a:r>
              <a:rPr/>
              <a:t>exhaustion</a:t>
            </a:r>
          </a:p>
          <a:p>
            <a:pPr lvl="0"/>
            <a:r>
              <a:rPr/>
              <a:t>conditions where stress affects physical health</a:t>
            </a:r>
          </a:p>
          <a:p>
            <a:pPr lvl="0"/>
            <a:r>
              <a:rPr/>
              <a:t>psychosomatic</a:t>
            </a:r>
          </a:p>
          <a:p>
            <a:pPr lvl="0"/>
            <a:r>
              <a:rPr/>
              <a:t>psychoneuroimmunology</a:t>
            </a:r>
          </a:p>
          <a:p>
            <a:pPr lvl="0"/>
            <a:r>
              <a:rPr/>
              <a:t>immune function</a:t>
            </a:r>
          </a:p>
          <a:p>
            <a:pPr lvl="0"/>
            <a:r>
              <a:rPr/>
              <a:t>stress effects</a:t>
            </a:r>
          </a:p>
          <a:p>
            <a:pPr lvl="0"/>
            <a:r>
              <a:rPr/>
              <a:t>stress-related cardiovascular risk</a:t>
            </a:r>
          </a:p>
          <a:p>
            <a:pPr lvl="0"/>
            <a:r>
              <a:rPr/>
              <a:t>asthma</a:t>
            </a:r>
          </a:p>
          <a:p>
            <a:pPr lvl="0"/>
            <a:r>
              <a:rPr/>
              <a:t>headaches</a:t>
            </a:r>
          </a:p>
          <a:p>
            <a:pPr lvl="0"/>
            <a:r>
              <a:rPr/>
              <a:t>coping strategies</a:t>
            </a:r>
          </a:p>
          <a:p>
            <a:pPr lvl="0"/>
            <a:r>
              <a:rPr/>
              <a:t>tackling problem vs managing emotion</a:t>
            </a:r>
          </a:p>
          <a:p>
            <a:pPr lvl="0"/>
            <a:r>
              <a:rPr/>
              <a:t>control beliefs</a:t>
            </a:r>
          </a:p>
          <a:p>
            <a:pPr lvl="0"/>
            <a:r>
              <a:rPr/>
              <a:t>locus of control</a:t>
            </a:r>
          </a:p>
          <a:p>
            <a:pPr lvl="0"/>
            <a:r>
              <a:rPr/>
              <a:t>stress buffering</a:t>
            </a:r>
          </a:p>
          <a:p>
            <a:pPr lvl="0"/>
            <a:r>
              <a:rPr/>
              <a:t>social support</a:t>
            </a:r>
          </a:p>
          <a:p>
            <a:pPr lvl="0"/>
            <a:r>
              <a:rPr/>
              <a:t>health outcomes</a:t>
            </a:r>
          </a:p>
          <a:p>
            <a:pPr lvl="0"/>
            <a:r>
              <a:rPr/>
              <a:t>mortality risk</a:t>
            </a:r>
          </a:p>
          <a:p>
            <a:pPr lvl="0"/>
            <a:r>
              <a:rPr/>
              <a:t>happiness</a:t>
            </a:r>
          </a:p>
          <a:p>
            <a:pPr lvl="0"/>
            <a:r>
              <a:rPr/>
              <a:t>subjective well-being</a:t>
            </a:r>
          </a:p>
          <a:p>
            <a:pPr lvl="0"/>
            <a:r>
              <a:rPr/>
              <a:t>predictors</a:t>
            </a:r>
          </a:p>
          <a:p>
            <a:pPr lvl="0"/>
            <a:r>
              <a:rPr/>
              <a:t>positive psychology</a:t>
            </a:r>
          </a:p>
          <a:p>
            <a:pPr lvl="0"/>
            <a:r>
              <a:rPr/>
              <a:t>strengths</a:t>
            </a:r>
          </a:p>
          <a:p>
            <a:pPr lvl="0"/>
            <a:r>
              <a:rPr/>
              <a:t>flourishing</a:t>
            </a:r>
          </a:p>
          <a:p>
            <a:pPr lvl="0"/>
            <a:r>
              <a:rPr/>
              <a:t>interventions</a:t>
            </a:r>
          </a:p>
          <a:p>
            <a:pPr lvl="0"/>
            <a:r>
              <a:rPr/>
              <a:t>positive emotions</a:t>
            </a:r>
          </a:p>
          <a:p>
            <a:pPr lvl="0"/>
            <a:r>
              <a:rPr/>
              <a:t>impact on health and coping</a:t>
            </a:r>
          </a:p>
          <a:p>
            <a:pPr lvl="0"/>
            <a:r>
              <a:rPr/>
              <a:t>flow state</a:t>
            </a:r>
          </a:p>
          <a:p>
            <a:pPr lvl="0"/>
            <a:r>
              <a:rPr/>
              <a:t>engagement</a:t>
            </a:r>
          </a:p>
          <a:p>
            <a:pPr lvl="0"/>
            <a:r>
              <a:rPr/>
              <a:t>intrinsic motivation</a:t>
            </a:r>
          </a:p>
          <a:p>
            <a:pPr lvl="0"/>
            <a:r>
              <a:rPr/>
              <a:t>well-being</a:t>
            </a:r>
          </a:p>
          <a:p>
            <a:pPr lvl="0"/>
            <a:r>
              <a:rPr/>
              <a:t>insomnia</a:t>
            </a:r>
          </a:p>
          <a:p>
            <a:pPr lvl="0"/>
            <a:r>
              <a:rPr/>
              <a:t>sleep apnea</a:t>
            </a:r>
          </a:p>
          <a:p>
            <a:pPr lvl="0"/>
            <a:r>
              <a:rPr/>
              <a:t>narcolepsy</a:t>
            </a:r>
          </a:p>
          <a:p>
            <a:pPr lvl="0"/>
            <a:r>
              <a:rPr/>
              <a:t>parasomnias</a:t>
            </a:r>
          </a:p>
          <a:p>
            <a:pPr lvl="0"/>
            <a:r>
              <a:rPr/>
              <a:t>circadian disorders</a:t>
            </a:r>
          </a:p>
          <a:p>
            <a:pPr lvl="0"/>
            <a:r>
              <a:rPr/>
              <a:t>coping motives</a:t>
            </a:r>
          </a:p>
          <a:p>
            <a:pPr lvl="0"/>
            <a:r>
              <a:rPr/>
              <a:t>social factors</a:t>
            </a:r>
          </a:p>
          <a:p>
            <a:pPr lvl="0"/>
            <a:r>
              <a:rPr/>
              <a:t>reinforcement</a:t>
            </a:r>
          </a:p>
          <a:p>
            <a:pPr lvl="0"/>
            <a:r>
              <a:rPr/>
              <a:t>dependence</a:t>
            </a:r>
          </a:p>
          <a:p>
            <a:pPr lvl="0"/>
            <a:r>
              <a:rPr/>
              <a:t>definitions of positive psychology</a:t>
            </a:r>
          </a:p>
          <a:p>
            <a:pPr lvl="0"/>
            <a:r>
              <a:rPr/>
              <a:t>SWB</a:t>
            </a:r>
          </a:p>
          <a:p>
            <a:pPr lvl="0"/>
            <a:r>
              <a:rPr/>
              <a:t>optimism</a:t>
            </a:r>
          </a:p>
          <a:p>
            <a:pPr lvl="0"/>
            <a:r>
              <a:rPr/>
              <a:t>internal–external</a:t>
            </a:r>
          </a:p>
          <a:p>
            <a:pPr lvl="0"/>
            <a:r>
              <a:rPr/>
              <a:t>stable–unstable</a:t>
            </a:r>
          </a:p>
          <a:p>
            <a:pPr lvl="0"/>
            <a:r>
              <a:rPr/>
              <a:t>global–specific</a:t>
            </a:r>
          </a:p>
          <a:p>
            <a:pPr lvl="0"/>
            <a:r>
              <a:rPr/>
              <a:t>applying optimism and explanatory style</a:t>
            </a:r>
          </a:p>
          <a:p>
            <a:pPr lvl="0"/>
            <a:r>
              <a:rPr/>
              <a:t>cognitive reframing</a:t>
            </a:r>
          </a:p>
          <a:p>
            <a:pPr lvl="0"/>
            <a:r>
              <a:rPr/>
              <a:t>medical model vs BPS</a:t>
            </a:r>
          </a:p>
          <a:p>
            <a:pPr lvl="0"/>
            <a:r>
              <a:rPr/>
              <a:t>narrow vs holistic health views</a:t>
            </a:r>
          </a:p>
          <a:p>
            <a:pPr lvl="0"/>
            <a:r>
              <a:rPr/>
              <a:t>BPS factors</a:t>
            </a:r>
          </a:p>
          <a:p>
            <a:pPr lvl="0"/>
            <a:r>
              <a:rPr/>
              <a:t>multi-level determinants of health</a:t>
            </a:r>
          </a:p>
          <a:p>
            <a:pPr lvl="0"/>
            <a:r>
              <a:rPr/>
              <a:t>smoking</a:t>
            </a:r>
          </a:p>
          <a:p>
            <a:pPr lvl="0"/>
            <a:r>
              <a:rPr/>
              <a:t>diet</a:t>
            </a:r>
          </a:p>
          <a:p>
            <a:pPr lvl="0"/>
            <a:r>
              <a:rPr/>
              <a:t>inactivity</a:t>
            </a:r>
          </a:p>
          <a:p>
            <a:pPr lvl="0"/>
            <a:r>
              <a:rPr/>
              <a:t>substance use</a:t>
            </a:r>
          </a:p>
          <a:p>
            <a:pPr lvl="0"/>
            <a:r>
              <a:rPr/>
              <a:t>behavior-change techniques</a:t>
            </a:r>
          </a:p>
          <a:p>
            <a:pPr lvl="0"/>
            <a:r>
              <a:rPr/>
              <a:t>self-monitoring</a:t>
            </a:r>
          </a:p>
          <a:p>
            <a:pPr lvl="0"/>
            <a:r>
              <a:rPr/>
              <a:t>support</a:t>
            </a:r>
          </a:p>
          <a:p>
            <a:pPr lvl="0"/>
            <a:r>
              <a:rPr/>
              <a:t>environmental changes</a:t>
            </a:r>
          </a:p>
          <a:p>
            <a:pPr lvl="0"/>
            <a:r>
              <a:rPr/>
              <a:t>major life events vs daily hassles</a:t>
            </a:r>
          </a:p>
          <a:p>
            <a:pPr lvl="0"/>
            <a:r>
              <a:rPr/>
              <a:t>primary vs secondary appraisal</a:t>
            </a:r>
          </a:p>
          <a:p>
            <a:pPr lvl="0"/>
            <a:r>
              <a:rPr/>
              <a:t>evaluation of threat and coping resources</a:t>
            </a:r>
          </a:p>
          <a:p>
            <a:pPr lvl="0"/>
            <a:r>
              <a:rPr/>
              <a:t>alarm</a:t>
            </a:r>
          </a:p>
          <a:p>
            <a:pPr lvl="0"/>
            <a:r>
              <a:rPr/>
              <a:t>resistance</a:t>
            </a:r>
          </a:p>
          <a:p>
            <a:pPr lvl="0"/>
            <a:r>
              <a:rPr/>
              <a:t>chronic stress outcomes</a:t>
            </a:r>
          </a:p>
          <a:p>
            <a:pPr lvl="0"/>
            <a:r>
              <a:rPr/>
              <a:t>health problems</a:t>
            </a:r>
          </a:p>
          <a:p>
            <a:pPr lvl="0"/>
            <a:r>
              <a:rPr/>
              <a:t>burnout</a:t>
            </a:r>
          </a:p>
          <a:p>
            <a:pPr lvl="0"/>
            <a:r>
              <a:rPr/>
              <a:t>symptom perception</a:t>
            </a:r>
          </a:p>
          <a:p>
            <a:pPr lvl="0"/>
            <a:r>
              <a:rPr/>
              <a:t>illness behavior</a:t>
            </a:r>
          </a:p>
          <a:p>
            <a:pPr lvl="0"/>
            <a:r>
              <a:rPr/>
              <a:t>interpretation</a:t>
            </a:r>
          </a:p>
          <a:p>
            <a:pPr lvl="0"/>
            <a:r>
              <a:rPr/>
              <a:t>perceived need</a:t>
            </a:r>
          </a:p>
          <a:p>
            <a:pPr lvl="0"/>
            <a:r>
              <a:rPr/>
              <a:t>stigma</a:t>
            </a:r>
          </a:p>
          <a:p>
            <a:pPr lvl="0"/>
            <a:r>
              <a:rPr/>
              <a:t>access</a:t>
            </a:r>
          </a:p>
          <a:p>
            <a:pPr lvl="0"/>
            <a:r>
              <a:rPr/>
              <a:t>beliefs</a:t>
            </a:r>
          </a:p>
          <a:p>
            <a:pPr lvl="0"/>
            <a:r>
              <a:rPr/>
              <a:t>three coping modes</a:t>
            </a:r>
          </a:p>
          <a:p>
            <a:pPr lvl="0"/>
            <a:r>
              <a:rPr/>
              <a:t>targeting problem</a:t>
            </a:r>
          </a:p>
          <a:p>
            <a:pPr lvl="0"/>
            <a:r>
              <a:rPr/>
              <a:t>emotion</a:t>
            </a:r>
          </a:p>
          <a:p>
            <a:pPr lvl="0"/>
            <a:r>
              <a:rPr/>
              <a:t>or relationships</a:t>
            </a:r>
          </a:p>
          <a:p>
            <a:pPr lvl="0"/>
            <a:r>
              <a:rPr/>
              <a:t>traumatic stress</a:t>
            </a:r>
          </a:p>
          <a:p>
            <a:pPr lvl="0"/>
            <a:r>
              <a:rPr/>
              <a:t>PTSD risk</a:t>
            </a:r>
          </a:p>
          <a:p>
            <a:pPr lvl="0"/>
            <a:r>
              <a:rPr/>
              <a:t>integration</a:t>
            </a:r>
          </a:p>
          <a:p>
            <a:pPr lvl="0"/>
            <a:r>
              <a:rPr/>
              <a:t>assimilation</a:t>
            </a:r>
          </a:p>
          <a:p>
            <a:pPr lvl="0"/>
            <a:r>
              <a:rPr/>
              <a:t>separation</a:t>
            </a:r>
          </a:p>
          <a:p>
            <a:pPr lvl="0"/>
            <a:r>
              <a:rPr/>
              <a:t>marginalization</a:t>
            </a:r>
          </a:p>
          <a:p>
            <a:pPr lvl="0"/>
            <a:r>
              <a:rPr/>
              <a:t>stress levels</a:t>
            </a:r>
          </a:p>
          <a:p>
            <a:pPr lvl="0"/>
            <a:r>
              <a:rPr/>
              <a:t>subclinical depression</a:t>
            </a:r>
          </a:p>
          <a:p>
            <a:pPr lvl="0"/>
            <a:r>
              <a:rPr/>
              <a:t>academic and social stress</a:t>
            </a:r>
          </a:p>
          <a:p>
            <a:pPr lvl="0"/>
            <a:r>
              <a:rPr/>
              <a:t>coping techniques</a:t>
            </a:r>
          </a:p>
          <a:p>
            <a:pPr lvl="0"/>
            <a:r>
              <a:rPr/>
              <a:t>physiological</a:t>
            </a:r>
          </a:p>
          <a:p>
            <a:pPr lvl="0"/>
            <a:r>
              <a:rPr/>
              <a:t>emotional</a:t>
            </a:r>
          </a:p>
          <a:p>
            <a:pPr lvl="0"/>
            <a:r>
              <a:rPr/>
              <a:t>behavioral effects</a:t>
            </a:r>
          </a:p>
          <a:p>
            <a:pPr lvl="0"/>
            <a:r>
              <a:rPr/>
              <a:t>stress-management planning</a:t>
            </a:r>
          </a:p>
          <a:p>
            <a:pPr lvl="0"/>
            <a:r>
              <a:rPr/>
              <a:t>targeted coping strategies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SIDS</a:t>
            </a:r>
          </a:p>
          <a:p>
            <a:pPr lvl="0"/>
            <a:r>
              <a:rPr/>
              <a:t>risk_factors</a:t>
            </a:r>
          </a:p>
          <a:p>
            <a:pPr lvl="0"/>
            <a:r>
              <a:rPr/>
              <a:t>prevention</a:t>
            </a:r>
          </a:p>
          <a:p>
            <a:pPr lvl="0"/>
            <a:r>
              <a:rPr/>
              <a:t>infant_sleep</a:t>
            </a:r>
          </a:p>
          <a:p>
            <a:pPr lvl="0"/>
            <a:r>
              <a:rPr/>
              <a:t>overweight</a:t>
            </a:r>
          </a:p>
          <a:p>
            <a:pPr lvl="0"/>
            <a:r>
              <a:rPr/>
              <a:t>obesity</a:t>
            </a:r>
          </a:p>
          <a:p>
            <a:pPr lvl="0"/>
            <a:r>
              <a:rPr/>
              <a:t>BMI</a:t>
            </a:r>
          </a:p>
          <a:p>
            <a:pPr lvl="0"/>
            <a:r>
              <a:rPr/>
              <a:t>health_consequences</a:t>
            </a:r>
          </a:p>
          <a:p>
            <a:pPr lvl="0"/>
            <a:r>
              <a:rPr/>
              <a:t>anorexia_consequences</a:t>
            </a:r>
          </a:p>
          <a:p>
            <a:pPr lvl="0"/>
            <a:r>
              <a:rPr/>
              <a:t>bulimia_consequences</a:t>
            </a:r>
          </a:p>
          <a:p>
            <a:pPr lvl="0"/>
            <a:r>
              <a:rPr/>
              <a:t>medical_complications</a:t>
            </a:r>
          </a:p>
          <a:p>
            <a:pPr lvl="0"/>
            <a:r>
              <a:rPr/>
              <a:t>stimulus_based_stress</a:t>
            </a:r>
          </a:p>
          <a:p>
            <a:pPr lvl="0"/>
            <a:r>
              <a:rPr/>
              <a:t>response_based_stress</a:t>
            </a:r>
          </a:p>
          <a:p>
            <a:pPr lvl="0"/>
            <a:r>
              <a:rPr/>
              <a:t>stress_definitions</a:t>
            </a:r>
          </a:p>
          <a:p>
            <a:pPr lvl="0"/>
            <a:r>
              <a:rPr/>
              <a:t>stress_as_process</a:t>
            </a:r>
          </a:p>
          <a:p>
            <a:pPr lvl="0"/>
            <a:r>
              <a:rPr/>
              <a:t>appraisal</a:t>
            </a:r>
          </a:p>
          <a:p>
            <a:pPr lvl="0"/>
            <a:r>
              <a:rPr/>
              <a:t>coping</a:t>
            </a:r>
          </a:p>
          <a:p>
            <a:pPr lvl="0"/>
            <a:r>
              <a:rPr/>
              <a:t>eustress</a:t>
            </a:r>
          </a:p>
          <a:p>
            <a:pPr lvl="0"/>
            <a:r>
              <a:rPr/>
              <a:t>distress</a:t>
            </a:r>
          </a:p>
          <a:p>
            <a:pPr lvl="0"/>
            <a:r>
              <a:rPr/>
              <a:t>stress_types</a:t>
            </a:r>
          </a:p>
          <a:p>
            <a:pPr lvl="0"/>
            <a:r>
              <a:rPr/>
              <a:t>Cannon</a:t>
            </a:r>
          </a:p>
          <a:p>
            <a:pPr lvl="0"/>
            <a:r>
              <a:rPr/>
              <a:t>Selye</a:t>
            </a:r>
          </a:p>
          <a:p>
            <a:pPr lvl="0"/>
            <a:r>
              <a:rPr/>
              <a:t>fight_or_flight</a:t>
            </a:r>
          </a:p>
          <a:p>
            <a:pPr lvl="0"/>
            <a:r>
              <a:rPr/>
              <a:t>GAS</a:t>
            </a:r>
          </a:p>
          <a:p>
            <a:pPr lvl="0"/>
            <a:r>
              <a:rPr/>
              <a:t>stress_physiology</a:t>
            </a:r>
          </a:p>
          <a:p>
            <a:pPr lvl="0"/>
            <a:r>
              <a:rPr/>
              <a:t>HPA_axis</a:t>
            </a:r>
          </a:p>
          <a:p>
            <a:pPr lvl="0"/>
            <a:r>
              <a:rPr/>
              <a:t>general_adaptation_syndrome</a:t>
            </a:r>
          </a:p>
          <a:p>
            <a:pPr lvl="0"/>
            <a:r>
              <a:rPr/>
              <a:t>stressors</a:t>
            </a:r>
          </a:p>
          <a:p>
            <a:pPr lvl="0"/>
            <a:r>
              <a:rPr/>
              <a:t>acute</a:t>
            </a:r>
          </a:p>
          <a:p>
            <a:pPr lvl="0"/>
            <a:r>
              <a:rPr/>
              <a:t>chronic</a:t>
            </a:r>
          </a:p>
          <a:p>
            <a:pPr lvl="0"/>
            <a:r>
              <a:rPr/>
              <a:t>hassles</a:t>
            </a:r>
          </a:p>
          <a:p>
            <a:pPr lvl="0"/>
            <a:r>
              <a:rPr/>
              <a:t>catastrophes</a:t>
            </a:r>
          </a:p>
          <a:p>
            <a:pPr lvl="0"/>
            <a:r>
              <a:rPr/>
              <a:t>life_changes</a:t>
            </a:r>
          </a:p>
          <a:p>
            <a:pPr lvl="0"/>
            <a:r>
              <a:rPr/>
              <a:t>adjustment</a:t>
            </a:r>
          </a:p>
          <a:p>
            <a:pPr lvl="0"/>
            <a:r>
              <a:rPr/>
              <a:t>stress_impact</a:t>
            </a:r>
          </a:p>
          <a:p>
            <a:pPr lvl="0"/>
            <a:r>
              <a:rPr/>
              <a:t>SRRS</a:t>
            </a:r>
          </a:p>
          <a:p>
            <a:pPr lvl="0"/>
            <a:r>
              <a:rPr/>
              <a:t>stress_measure</a:t>
            </a:r>
          </a:p>
          <a:p>
            <a:pPr lvl="0"/>
            <a:r>
              <a:rPr/>
              <a:t>life_change_units</a:t>
            </a:r>
          </a:p>
          <a:p>
            <a:pPr lvl="0"/>
            <a:r>
              <a:rPr/>
              <a:t>job_strain</a:t>
            </a:r>
          </a:p>
          <a:p>
            <a:pPr lvl="0"/>
            <a:r>
              <a:rPr/>
              <a:t>job_burnout</a:t>
            </a:r>
          </a:p>
          <a:p>
            <a:pPr lvl="0"/>
            <a:r>
              <a:rPr/>
              <a:t>occupational_stress</a:t>
            </a:r>
          </a:p>
          <a:p>
            <a:pPr lvl="0"/>
            <a:r>
              <a:rPr/>
              <a:t>psychophysiological_disorders</a:t>
            </a:r>
          </a:p>
          <a:p>
            <a:pPr lvl="0"/>
            <a:r>
              <a:rPr/>
              <a:t>stress_related_illness</a:t>
            </a:r>
          </a:p>
          <a:p>
            <a:pPr lvl="0"/>
            <a:r>
              <a:rPr/>
              <a:t>psychosomatic</a:t>
            </a:r>
          </a:p>
          <a:p>
            <a:pPr lvl="0"/>
            <a:r>
              <a:rPr/>
              <a:t>immune_system</a:t>
            </a:r>
          </a:p>
          <a:p>
            <a:pPr lvl="0"/>
            <a:r>
              <a:rPr/>
              <a:t>PNI</a:t>
            </a:r>
          </a:p>
          <a:p>
            <a:pPr lvl="0"/>
            <a:r>
              <a:rPr/>
              <a:t>immunity</a:t>
            </a:r>
          </a:p>
          <a:p>
            <a:pPr lvl="0"/>
            <a:r>
              <a:rPr/>
              <a:t>cardiovascular_disorders</a:t>
            </a:r>
          </a:p>
          <a:p>
            <a:pPr lvl="0"/>
            <a:r>
              <a:rPr/>
              <a:t>asthma</a:t>
            </a:r>
          </a:p>
          <a:p>
            <a:pPr lvl="0"/>
            <a:r>
              <a:rPr/>
              <a:t>tension_headaches</a:t>
            </a:r>
          </a:p>
          <a:p>
            <a:pPr lvl="0"/>
            <a:r>
              <a:rPr/>
              <a:t>stress_link</a:t>
            </a:r>
          </a:p>
          <a:p>
            <a:pPr lvl="0"/>
            <a:r>
              <a:rPr/>
              <a:t>problem_focused</a:t>
            </a:r>
          </a:p>
          <a:p>
            <a:pPr lvl="0"/>
            <a:r>
              <a:rPr/>
              <a:t>emotion_focused</a:t>
            </a:r>
          </a:p>
          <a:p>
            <a:pPr lvl="0"/>
            <a:r>
              <a:rPr/>
              <a:t>perceived_control</a:t>
            </a:r>
          </a:p>
          <a:p>
            <a:pPr lvl="0"/>
            <a:r>
              <a:rPr/>
              <a:t>stress_buffer</a:t>
            </a:r>
          </a:p>
          <a:p>
            <a:pPr lvl="0"/>
            <a:r>
              <a:rPr/>
              <a:t>locus_of_control</a:t>
            </a:r>
          </a:p>
          <a:p>
            <a:pPr lvl="0"/>
            <a:r>
              <a:rPr/>
              <a:t>social_support</a:t>
            </a:r>
          </a:p>
          <a:p>
            <a:pPr lvl="0"/>
            <a:r>
              <a:rPr/>
              <a:t>health_benefits</a:t>
            </a:r>
          </a:p>
          <a:p>
            <a:pPr lvl="0"/>
            <a:r>
              <a:rPr/>
              <a:t>longevity</a:t>
            </a:r>
          </a:p>
          <a:p>
            <a:pPr lvl="0"/>
            <a:r>
              <a:rPr/>
              <a:t>happiness</a:t>
            </a:r>
          </a:p>
          <a:p>
            <a:pPr lvl="0"/>
            <a:r>
              <a:rPr/>
              <a:t>subjective_wellbeing</a:t>
            </a:r>
          </a:p>
          <a:p>
            <a:pPr lvl="0"/>
            <a:r>
              <a:rPr/>
              <a:t>determinants</a:t>
            </a:r>
          </a:p>
          <a:p>
            <a:pPr lvl="0"/>
            <a:r>
              <a:rPr/>
              <a:t>positive_psychology</a:t>
            </a:r>
          </a:p>
          <a:p>
            <a:pPr lvl="0"/>
            <a:r>
              <a:rPr/>
              <a:t>strengths</a:t>
            </a:r>
          </a:p>
          <a:p>
            <a:pPr lvl="0"/>
            <a:r>
              <a:rPr/>
              <a:t>flourishing</a:t>
            </a:r>
          </a:p>
          <a:p>
            <a:pPr lvl="0"/>
            <a:r>
              <a:rPr/>
              <a:t>applied_problems</a:t>
            </a:r>
          </a:p>
          <a:p>
            <a:pPr lvl="0"/>
            <a:r>
              <a:rPr/>
              <a:t>positive_affect</a:t>
            </a:r>
          </a:p>
          <a:p>
            <a:pPr lvl="0"/>
            <a:r>
              <a:rPr/>
              <a:t>health_outcomes</a:t>
            </a:r>
          </a:p>
          <a:p>
            <a:pPr lvl="0"/>
            <a:r>
              <a:rPr/>
              <a:t>resilience</a:t>
            </a:r>
          </a:p>
          <a:p>
            <a:pPr lvl="0"/>
            <a:r>
              <a:rPr/>
              <a:t>flow</a:t>
            </a:r>
          </a:p>
          <a:p>
            <a:pPr lvl="0"/>
            <a:r>
              <a:rPr/>
              <a:t>engagement</a:t>
            </a:r>
          </a:p>
          <a:p>
            <a:pPr lvl="0"/>
            <a:r>
              <a:rPr/>
              <a:t>fulfillment</a:t>
            </a:r>
          </a:p>
          <a:p>
            <a:pPr lvl="0"/>
            <a:r>
              <a:rPr/>
              <a:t>sleep_disorders</a:t>
            </a:r>
          </a:p>
          <a:p>
            <a:pPr lvl="0"/>
            <a:r>
              <a:rPr/>
              <a:t>insomnia</a:t>
            </a:r>
          </a:p>
          <a:p>
            <a:pPr lvl="0"/>
            <a:r>
              <a:rPr/>
              <a:t>sleep_apnea</a:t>
            </a:r>
          </a:p>
          <a:p>
            <a:pPr lvl="0"/>
            <a:r>
              <a:rPr/>
              <a:t>narcolepsy</a:t>
            </a:r>
          </a:p>
          <a:p>
            <a:pPr lvl="0"/>
            <a:r>
              <a:rPr/>
              <a:t>parasomnias</a:t>
            </a:r>
          </a:p>
          <a:p>
            <a:pPr lvl="0"/>
            <a:r>
              <a:rPr/>
              <a:t>drug_abuse_reasons</a:t>
            </a:r>
          </a:p>
          <a:p>
            <a:pPr lvl="0"/>
            <a:r>
              <a:rPr/>
              <a:t>social_pressure</a:t>
            </a:r>
          </a:p>
          <a:p>
            <a:pPr lvl="0"/>
            <a:r>
              <a:rPr/>
              <a:t>reinforcement</a:t>
            </a:r>
          </a:p>
          <a:p>
            <a:pPr lvl="0"/>
            <a:r>
              <a:rPr/>
              <a:t>positive_psychology_def</a:t>
            </a:r>
          </a:p>
          <a:p>
            <a:pPr lvl="0"/>
            <a:r>
              <a:rPr/>
              <a:t>SWB</a:t>
            </a:r>
          </a:p>
          <a:p>
            <a:pPr lvl="0"/>
            <a:r>
              <a:rPr/>
              <a:t>optimism</a:t>
            </a:r>
          </a:p>
          <a:p>
            <a:pPr lvl="0"/>
            <a:r>
              <a:rPr/>
              <a:t>explanatory_style</a:t>
            </a:r>
          </a:p>
          <a:p>
            <a:pPr lvl="0"/>
            <a:r>
              <a:rPr/>
              <a:t>internal_external</a:t>
            </a:r>
          </a:p>
          <a:p>
            <a:pPr lvl="0"/>
            <a:r>
              <a:rPr/>
              <a:t>stable_unstable</a:t>
            </a:r>
          </a:p>
          <a:p>
            <a:pPr lvl="0"/>
            <a:r>
              <a:rPr/>
              <a:t>global_specific</a:t>
            </a:r>
          </a:p>
          <a:p>
            <a:pPr lvl="0"/>
            <a:r>
              <a:rPr/>
              <a:t>optimism_plan</a:t>
            </a:r>
          </a:p>
          <a:p>
            <a:pPr lvl="0"/>
            <a:r>
              <a:rPr/>
              <a:t>cognitive_reframing</a:t>
            </a:r>
          </a:p>
          <a:p>
            <a:pPr lvl="0"/>
            <a:r>
              <a:rPr/>
              <a:t>medical_model</a:t>
            </a:r>
          </a:p>
          <a:p>
            <a:pPr lvl="0"/>
            <a:r>
              <a:rPr/>
              <a:t>biopsychosocial_model</a:t>
            </a:r>
          </a:p>
          <a:p>
            <a:pPr lvl="0"/>
            <a:r>
              <a:rPr/>
              <a:t>health_conceptions</a:t>
            </a:r>
          </a:p>
          <a:p>
            <a:pPr lvl="0"/>
            <a:r>
              <a:rPr/>
              <a:t>health_determinants</a:t>
            </a:r>
          </a:p>
          <a:p>
            <a:pPr lvl="0"/>
            <a:r>
              <a:rPr/>
              <a:t>biological</a:t>
            </a:r>
          </a:p>
          <a:p>
            <a:pPr lvl="0"/>
            <a:r>
              <a:rPr/>
              <a:t>psychological</a:t>
            </a:r>
          </a:p>
          <a:p>
            <a:pPr lvl="0"/>
            <a:r>
              <a:rPr/>
              <a:t>social</a:t>
            </a:r>
          </a:p>
          <a:p>
            <a:pPr lvl="0"/>
            <a:r>
              <a:rPr/>
              <a:t>behavioral_risks</a:t>
            </a:r>
          </a:p>
          <a:p>
            <a:pPr lvl="0"/>
            <a:r>
              <a:rPr/>
              <a:t>smoking</a:t>
            </a:r>
          </a:p>
          <a:p>
            <a:pPr lvl="0"/>
            <a:r>
              <a:rPr/>
              <a:t>poor_diet</a:t>
            </a:r>
          </a:p>
          <a:p>
            <a:pPr lvl="0"/>
            <a:r>
              <a:rPr/>
              <a:t>inactivity</a:t>
            </a:r>
          </a:p>
          <a:p>
            <a:pPr lvl="0"/>
            <a:r>
              <a:rPr/>
              <a:t>substance_use</a:t>
            </a:r>
          </a:p>
          <a:p>
            <a:pPr lvl="0"/>
            <a:r>
              <a:rPr/>
              <a:t>risk_reduction_strategies</a:t>
            </a:r>
          </a:p>
          <a:p>
            <a:pPr lvl="0"/>
            <a:r>
              <a:rPr/>
              <a:t>behavior_change</a:t>
            </a:r>
          </a:p>
          <a:p>
            <a:pPr lvl="0"/>
            <a:r>
              <a:rPr/>
              <a:t>self_monitoring</a:t>
            </a:r>
          </a:p>
          <a:p>
            <a:pPr lvl="0"/>
            <a:r>
              <a:rPr/>
              <a:t>support</a:t>
            </a:r>
          </a:p>
          <a:p>
            <a:pPr lvl="0"/>
            <a:r>
              <a:rPr/>
              <a:t>life_events</a:t>
            </a:r>
          </a:p>
          <a:p>
            <a:pPr lvl="0"/>
            <a:r>
              <a:rPr/>
              <a:t>daily_hassles</a:t>
            </a:r>
          </a:p>
          <a:p>
            <a:pPr lvl="0"/>
            <a:r>
              <a:rPr/>
              <a:t>stressor_types</a:t>
            </a:r>
          </a:p>
          <a:p>
            <a:pPr lvl="0"/>
            <a:r>
              <a:rPr/>
              <a:t>primary_appraisal</a:t>
            </a:r>
          </a:p>
          <a:p>
            <a:pPr lvl="0"/>
            <a:r>
              <a:rPr/>
              <a:t>secondary_appraisal</a:t>
            </a:r>
          </a:p>
          <a:p>
            <a:pPr lvl="0"/>
            <a:r>
              <a:rPr/>
              <a:t>appraisal_factors</a:t>
            </a:r>
          </a:p>
          <a:p>
            <a:pPr lvl="0"/>
            <a:r>
              <a:rPr/>
              <a:t>alarm</a:t>
            </a:r>
          </a:p>
          <a:p>
            <a:pPr lvl="0"/>
            <a:r>
              <a:rPr/>
              <a:t>resistance</a:t>
            </a:r>
          </a:p>
          <a:p>
            <a:pPr lvl="0"/>
            <a:r>
              <a:rPr/>
              <a:t>exhaustion</a:t>
            </a:r>
          </a:p>
          <a:p>
            <a:pPr lvl="0"/>
            <a:r>
              <a:rPr/>
              <a:t>prolonged_stress</a:t>
            </a:r>
          </a:p>
          <a:p>
            <a:pPr lvl="0"/>
            <a:r>
              <a:rPr/>
              <a:t>chronic_stress_effects</a:t>
            </a:r>
          </a:p>
          <a:p>
            <a:pPr lvl="0"/>
            <a:r>
              <a:rPr/>
              <a:t>burnout</a:t>
            </a:r>
          </a:p>
          <a:p>
            <a:pPr lvl="0"/>
            <a:r>
              <a:rPr/>
              <a:t>illness</a:t>
            </a:r>
          </a:p>
          <a:p>
            <a:pPr lvl="0"/>
            <a:r>
              <a:rPr/>
              <a:t>illness_recognition</a:t>
            </a:r>
          </a:p>
          <a:p>
            <a:pPr lvl="0"/>
            <a:r>
              <a:rPr/>
              <a:t>BPS_factors</a:t>
            </a:r>
          </a:p>
          <a:p>
            <a:pPr lvl="0"/>
            <a:r>
              <a:rPr/>
              <a:t>symptom_perception</a:t>
            </a:r>
          </a:p>
          <a:p>
            <a:pPr lvl="0"/>
            <a:r>
              <a:rPr/>
              <a:t>treatment_seeking</a:t>
            </a:r>
          </a:p>
          <a:p>
            <a:pPr lvl="0"/>
            <a:r>
              <a:rPr/>
              <a:t>perceived_need</a:t>
            </a:r>
          </a:p>
          <a:p>
            <a:pPr lvl="0"/>
            <a:r>
              <a:rPr/>
              <a:t>stigma</a:t>
            </a:r>
          </a:p>
          <a:p>
            <a:pPr lvl="0"/>
            <a:r>
              <a:rPr/>
              <a:t>access</a:t>
            </a:r>
          </a:p>
          <a:p>
            <a:pPr lvl="0"/>
            <a:r>
              <a:rPr/>
              <a:t>beliefs</a:t>
            </a:r>
          </a:p>
          <a:p>
            <a:pPr lvl="0"/>
            <a:r>
              <a:rPr/>
              <a:t>problem_focused_coping</a:t>
            </a:r>
          </a:p>
          <a:p>
            <a:pPr lvl="0"/>
            <a:r>
              <a:rPr/>
              <a:t>emotion_focused_coping</a:t>
            </a:r>
          </a:p>
          <a:p>
            <a:pPr lvl="0"/>
            <a:r>
              <a:rPr/>
              <a:t>relationship_focused_coping</a:t>
            </a:r>
          </a:p>
          <a:p>
            <a:pPr lvl="0"/>
            <a:r>
              <a:rPr/>
              <a:t>traumatic_stress</a:t>
            </a:r>
          </a:p>
          <a:p>
            <a:pPr lvl="0"/>
            <a:r>
              <a:rPr/>
              <a:t>PTSD_risk</a:t>
            </a:r>
          </a:p>
          <a:p>
            <a:pPr lvl="0"/>
            <a:r>
              <a:rPr/>
              <a:t>coping_strategies</a:t>
            </a:r>
          </a:p>
          <a:p>
            <a:pPr lvl="0"/>
            <a:r>
              <a:rPr/>
              <a:t>acculturation_coping</a:t>
            </a:r>
          </a:p>
          <a:p>
            <a:pPr lvl="0"/>
            <a:r>
              <a:rPr/>
              <a:t>integration</a:t>
            </a:r>
          </a:p>
          <a:p>
            <a:pPr lvl="0"/>
            <a:r>
              <a:rPr/>
              <a:t>assimilation</a:t>
            </a:r>
          </a:p>
          <a:p>
            <a:pPr lvl="0"/>
            <a:r>
              <a:rPr/>
              <a:t>separation</a:t>
            </a:r>
          </a:p>
          <a:p>
            <a:pPr lvl="0"/>
            <a:r>
              <a:rPr/>
              <a:t>marginalization</a:t>
            </a:r>
          </a:p>
          <a:p>
            <a:pPr lvl="0"/>
            <a:r>
              <a:rPr/>
              <a:t>college_blues</a:t>
            </a:r>
          </a:p>
          <a:p>
            <a:pPr lvl="0"/>
            <a:r>
              <a:rPr/>
              <a:t>mild_depression</a:t>
            </a:r>
          </a:p>
          <a:p>
            <a:pPr lvl="0"/>
            <a:r>
              <a:rPr/>
              <a:t>student_stress</a:t>
            </a:r>
          </a:p>
          <a:p>
            <a:pPr lvl="0"/>
            <a:r>
              <a:rPr/>
              <a:t>stress_effects</a:t>
            </a:r>
          </a:p>
          <a:p>
            <a:pPr lvl="0"/>
            <a:r>
              <a:rPr/>
              <a:t>physiological</a:t>
            </a:r>
          </a:p>
          <a:p>
            <a:pPr lvl="0"/>
            <a:r>
              <a:rPr/>
              <a:t>emotional</a:t>
            </a:r>
          </a:p>
          <a:p>
            <a:pPr lvl="0"/>
            <a:r>
              <a:rPr/>
              <a:t>behavioral</a:t>
            </a:r>
          </a:p>
          <a:p>
            <a:pPr lvl="0"/>
            <a:r>
              <a:rPr/>
              <a:t>stress_management_plan</a:t>
            </a:r>
          </a:p>
          <a:p>
            <a:pPr lvl="0"/>
            <a:r>
              <a:rPr/>
              <a:t>self_regulation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 biopsychosocial explanation for a health outcome that includes one biological, one psychological, and one social contributor</a:t>
            </a:r>
          </a:p>
          <a:p>
            <a:pPr lvl="0"/>
            <a:r>
              <a:rPr/>
              <a:t>One stress and coping example where support or strategy changes outcomes</a:t>
            </a:r>
          </a:p>
          <a:p>
            <a:pPr lvl="0"/>
            <a:r>
              <a:rPr/>
              <a:t>One example where environment constrains choices, such as sleep schedule, food access, or safe activity options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16: Health</dc:title>
  <dc:creator/>
  <cp:keywords/>
  <dcterms:created xsi:type="dcterms:W3CDTF">2026-03-24T05:07:48Z</dcterms:created>
  <dcterms:modified xsi:type="dcterms:W3CDTF">2026-03-24T05:07:48Z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slide-number">
    <vt:lpwstr>True</vt:lpwstr>
  </property>
  <property fmtid="{D5CDD505-2E9C-101B-9397-08002B2CF9AE}" pid="8" name="toc-title">
    <vt:lpwstr>Table of contents</vt:lpwstr>
  </property>
</Properties>
</file>